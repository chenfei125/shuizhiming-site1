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</p:sldIdLst>
  <p:notesMasterIdLst>
    <p:notesMasterId r:id="rId2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notesMaster" Target="notesMasters/notesMaster1.xml"/><Relationship Id="rId24" Type="http://schemas.openxmlformats.org/officeDocument/2006/relationships/presProps" Target="presProps.xml"/><Relationship Id="rId25" Type="http://schemas.openxmlformats.org/officeDocument/2006/relationships/viewProps" Target="viewProps.xml"/><Relationship Id="rId26" Type="http://schemas.openxmlformats.org/officeDocument/2006/relationships/theme" Target="theme/theme1.xml"/><Relationship Id="rId2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14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0" y="-457200"/>
            <a:ext cx="7315200" cy="6400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0" b="1" dirty="0">
                <a:solidFill>
                  <a:srgbClr val="1A5C72">
                    <a:alpha val="20000"/>
                  </a:srgbClr>
                </a:solidFill>
                <a:latin typeface="Songti SC" pitchFamily="34" charset="0"/>
                <a:ea typeface="Songti SC" pitchFamily="34" charset="-122"/>
                <a:cs typeface="Songti SC" pitchFamily="34" charset="-120"/>
              </a:rPr>
              <a:t>水之明</a:t>
            </a:r>
            <a:endParaRPr lang="en-US" sz="38000" dirty="0"/>
          </a:p>
        </p:txBody>
      </p:sp>
      <p:sp>
        <p:nvSpPr>
          <p:cNvPr id="3" name="Text 1"/>
          <p:cNvSpPr/>
          <p:nvPr/>
        </p:nvSpPr>
        <p:spPr>
          <a:xfrm>
            <a:off x="457200" y="36576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400" kern="0" dirty="0">
                <a:solidFill>
                  <a:srgbClr val="F6F2E9"/>
                </a:solidFill>
                <a:latin typeface="Songti SC" pitchFamily="34" charset="0"/>
                <a:ea typeface="Songti SC" pitchFamily="34" charset="-122"/>
                <a:cs typeface="Songti SC" pitchFamily="34" charset="-120"/>
              </a:rPr>
              <a:t>上 海 水 之 明 科 技 有 限 公 司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6400800" y="36576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spc="400" kern="0" dirty="0">
                <a:solidFill>
                  <a:srgbClr val="E8B86A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VOL. I  ·  2026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457200" y="777240"/>
            <a:ext cx="8229600" cy="0"/>
          </a:xfrm>
          <a:prstGeom prst="line">
            <a:avLst/>
          </a:prstGeom>
          <a:noFill/>
          <a:ln w="6350">
            <a:solidFill>
              <a:srgbClr val="44444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57200" y="128016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600" kern="0" dirty="0">
                <a:solidFill>
                  <a:srgbClr val="E8B86A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水落石出  ·  明察秋毫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457200" y="1737360"/>
            <a:ext cx="82296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400" b="1" dirty="0">
                <a:solidFill>
                  <a:srgbClr val="F6F2E9"/>
                </a:solidFill>
                <a:latin typeface="Songti SC" pitchFamily="34" charset="0"/>
                <a:ea typeface="Songti SC" pitchFamily="34" charset="-122"/>
                <a:cs typeface="Songti SC" pitchFamily="34" charset="-120"/>
              </a:rPr>
              <a:t>亚马逊申诉服务</a:t>
            </a:r>
            <a:endParaRPr lang="en-US" sz="6400" dirty="0"/>
          </a:p>
          <a:p>
            <a:pPr indent="0" marL="0">
              <a:buNone/>
            </a:pPr>
            <a:r>
              <a:rPr lang="en-US" sz="2200" dirty="0">
                <a:solidFill>
                  <a:srgbClr val="E8B86A"/>
                </a:solidFill>
                <a:latin typeface="Songti SC" pitchFamily="34" charset="0"/>
                <a:ea typeface="Songti SC" pitchFamily="34" charset="-122"/>
                <a:cs typeface="Songti SC" pitchFamily="34" charset="-120"/>
              </a:rPr>
              <a:t>境内合规  ·  透明定价  ·  原创 POA</a:t>
            </a:r>
            <a:endParaRPr lang="en-US" sz="6400" dirty="0"/>
          </a:p>
        </p:txBody>
      </p:sp>
      <p:sp>
        <p:nvSpPr>
          <p:cNvPr id="8" name="Shape 6"/>
          <p:cNvSpPr/>
          <p:nvPr/>
        </p:nvSpPr>
        <p:spPr>
          <a:xfrm>
            <a:off x="457200" y="3931920"/>
            <a:ext cx="8229600" cy="0"/>
          </a:xfrm>
          <a:prstGeom prst="line">
            <a:avLst/>
          </a:prstGeom>
          <a:noFill/>
          <a:ln w="6350">
            <a:solidFill>
              <a:srgbClr val="444444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" y="4114800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F6F2E9"/>
                </a:solidFill>
                <a:latin typeface="Songti SC" pitchFamily="34" charset="0"/>
                <a:ea typeface="Songti SC" pitchFamily="34" charset="-122"/>
                <a:cs typeface="Songti SC" pitchFamily="34" charset="-120"/>
              </a:rPr>
              <a:t>境 内 主 体 签 约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2468880" y="4160520"/>
            <a:ext cx="0" cy="274320"/>
          </a:xfrm>
          <a:prstGeom prst="line">
            <a:avLst/>
          </a:prstGeom>
          <a:noFill/>
          <a:ln w="6350">
            <a:solidFill>
              <a:srgbClr val="44444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2560320" y="4114800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F6F2E9"/>
                </a:solidFill>
                <a:latin typeface="Songti SC" pitchFamily="34" charset="0"/>
                <a:ea typeface="Songti SC" pitchFamily="34" charset="-122"/>
                <a:cs typeface="Songti SC" pitchFamily="34" charset="-120"/>
              </a:rPr>
              <a:t>对 公 账 户 收 款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572000" y="4160520"/>
            <a:ext cx="0" cy="274320"/>
          </a:xfrm>
          <a:prstGeom prst="line">
            <a:avLst/>
          </a:prstGeom>
          <a:noFill/>
          <a:ln w="6350">
            <a:solidFill>
              <a:srgbClr val="444444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663440" y="4114800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F6F2E9"/>
                </a:solidFill>
                <a:latin typeface="Songti SC" pitchFamily="34" charset="0"/>
                <a:ea typeface="Songti SC" pitchFamily="34" charset="-122"/>
                <a:cs typeface="Songti SC" pitchFamily="34" charset="-120"/>
              </a:rPr>
              <a:t>增 值 税  6%  发 票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6675120" y="4160520"/>
            <a:ext cx="0" cy="274320"/>
          </a:xfrm>
          <a:prstGeom prst="line">
            <a:avLst/>
          </a:prstGeom>
          <a:noFill/>
          <a:ln w="6350">
            <a:solidFill>
              <a:srgbClr val="444444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766560" y="4114800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F6F2E9"/>
                </a:solidFill>
                <a:latin typeface="Songti SC" pitchFamily="34" charset="0"/>
                <a:ea typeface="Songti SC" pitchFamily="34" charset="-122"/>
                <a:cs typeface="Songti SC" pitchFamily="34" charset="-120"/>
              </a:rPr>
              <a:t>上 海 法 院 管 辖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457200" y="470916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600" kern="0" dirty="0">
                <a:solidFill>
                  <a:srgbClr val="888888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销  售  介  绍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5486400" y="470916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spc="400" kern="0" dirty="0">
                <a:solidFill>
                  <a:srgbClr val="888888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2026.04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6F2E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286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141414"/>
                </a:solidFill>
                <a:latin typeface="Songti SC" pitchFamily="34" charset="0"/>
                <a:ea typeface="Songti SC" pitchFamily="34" charset="-122"/>
                <a:cs typeface="Songti SC" pitchFamily="34" charset="-120"/>
              </a:rPr>
              <a:t>水 之 明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949440" y="2286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141414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零  ·  PAIN POINTS  ·  行业现状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365760" y="548640"/>
            <a:ext cx="8412480" cy="0"/>
          </a:xfrm>
          <a:prstGeom prst="line">
            <a:avLst/>
          </a:prstGeom>
          <a:noFill/>
          <a:ln w="6350">
            <a:solidFill>
              <a:srgbClr val="D6CFBD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365760" y="822960"/>
            <a:ext cx="8412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41414"/>
                </a:solidFill>
                <a:latin typeface="Songti SC" pitchFamily="34" charset="0"/>
                <a:ea typeface="Songti SC" pitchFamily="34" charset="-122"/>
                <a:cs typeface="Songti SC" pitchFamily="34" charset="-120"/>
              </a:rPr>
              <a:t>你是不是也经历过这些</a:t>
            </a:r>
            <a:endParaRPr lang="en-US" sz="3600" dirty="0"/>
          </a:p>
        </p:txBody>
      </p:sp>
      <p:sp>
        <p:nvSpPr>
          <p:cNvPr id="6" name="Text 4"/>
          <p:cNvSpPr/>
          <p:nvPr/>
        </p:nvSpPr>
        <p:spPr>
          <a:xfrm>
            <a:off x="365760" y="150876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E6A5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申诉行业的不透明，不是难度造成的，是选择造成的。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365760" y="2103120"/>
            <a:ext cx="4023360" cy="1143000"/>
          </a:xfrm>
          <a:prstGeom prst="rect">
            <a:avLst/>
          </a:prstGeom>
          <a:solidFill>
            <a:srgbClr val="FBF8F0"/>
          </a:solidFill>
          <a:ln w="6350">
            <a:solidFill>
              <a:srgbClr val="D6CFBD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65760" y="2103120"/>
            <a:ext cx="54864" cy="1143000"/>
          </a:xfrm>
          <a:prstGeom prst="rect">
            <a:avLst/>
          </a:prstGeom>
          <a:solidFill>
            <a:srgbClr val="A52A2A"/>
          </a:solidFill>
          <a:ln/>
        </p:spPr>
      </p:sp>
      <p:sp>
        <p:nvSpPr>
          <p:cNvPr id="9" name="Text 7"/>
          <p:cNvSpPr/>
          <p:nvPr/>
        </p:nvSpPr>
        <p:spPr>
          <a:xfrm>
            <a:off x="594360" y="2212848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200" kern="0" dirty="0">
                <a:solidFill>
                  <a:srgbClr val="A52A2A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场景 01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594360" y="242316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41414"/>
                </a:solidFill>
                <a:latin typeface="Songti SC" pitchFamily="34" charset="0"/>
                <a:ea typeface="Songti SC" pitchFamily="34" charset="-122"/>
                <a:cs typeface="Songti SC" pitchFamily="34" charset="-120"/>
              </a:rPr>
              <a:t>「加个微信先聊聊」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594360" y="2761488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A2A2A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对方始终不报价，让你把所有信息发过去；等来一个「按难度面议」。机密资料交出去，结论却是模糊的。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4572000" y="2103120"/>
            <a:ext cx="4023360" cy="1143000"/>
          </a:xfrm>
          <a:prstGeom prst="rect">
            <a:avLst/>
          </a:prstGeom>
          <a:solidFill>
            <a:srgbClr val="FBF8F0"/>
          </a:solidFill>
          <a:ln w="6350">
            <a:solidFill>
              <a:srgbClr val="D6CFBD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572000" y="2103120"/>
            <a:ext cx="54864" cy="1143000"/>
          </a:xfrm>
          <a:prstGeom prst="rect">
            <a:avLst/>
          </a:prstGeom>
          <a:solidFill>
            <a:srgbClr val="A52A2A"/>
          </a:solidFill>
          <a:ln/>
        </p:spPr>
      </p:sp>
      <p:sp>
        <p:nvSpPr>
          <p:cNvPr id="14" name="Text 12"/>
          <p:cNvSpPr/>
          <p:nvPr/>
        </p:nvSpPr>
        <p:spPr>
          <a:xfrm>
            <a:off x="4800600" y="2212848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200" kern="0" dirty="0">
                <a:solidFill>
                  <a:srgbClr val="A52A2A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场景 02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4800600" y="242316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41414"/>
                </a:solidFill>
                <a:latin typeface="Songti SC" pitchFamily="34" charset="0"/>
                <a:ea typeface="Songti SC" pitchFamily="34" charset="-122"/>
                <a:cs typeface="Songti SC" pitchFamily="34" charset="-120"/>
              </a:rPr>
              <a:t>模板 POA 一发，被拒后失联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4800600" y="2761488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A2A2A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便宜的服务商交付快，但发出去的 POA 像复制粘贴的。第一次被拒后话术就模糊起来，你不知道接下来怎么办。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65760" y="3429000"/>
            <a:ext cx="4023360" cy="1143000"/>
          </a:xfrm>
          <a:prstGeom prst="rect">
            <a:avLst/>
          </a:prstGeom>
          <a:solidFill>
            <a:srgbClr val="FBF8F0"/>
          </a:solidFill>
          <a:ln w="6350">
            <a:solidFill>
              <a:srgbClr val="D6CFBD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65760" y="3429000"/>
            <a:ext cx="54864" cy="1143000"/>
          </a:xfrm>
          <a:prstGeom prst="rect">
            <a:avLst/>
          </a:prstGeom>
          <a:solidFill>
            <a:srgbClr val="A52A2A"/>
          </a:solidFill>
          <a:ln/>
        </p:spPr>
      </p:sp>
      <p:sp>
        <p:nvSpPr>
          <p:cNvPr id="19" name="Text 17"/>
          <p:cNvSpPr/>
          <p:nvPr/>
        </p:nvSpPr>
        <p:spPr>
          <a:xfrm>
            <a:off x="594360" y="3538728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200" kern="0" dirty="0">
                <a:solidFill>
                  <a:srgbClr val="A52A2A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场景 03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594360" y="374904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41414"/>
                </a:solidFill>
                <a:latin typeface="Songti SC" pitchFamily="34" charset="0"/>
                <a:ea typeface="Songti SC" pitchFamily="34" charset="-122"/>
                <a:cs typeface="Songti SC" pitchFamily="34" charset="-120"/>
              </a:rPr>
              <a:t>收款是个人账户  /  港资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594360" y="4087368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A2A2A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几万块转过去，发票开不出来，财务入不了账。服务不满意想维权，对方在另一个司法辖区，你只能认栽。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4572000" y="3429000"/>
            <a:ext cx="4023360" cy="1143000"/>
          </a:xfrm>
          <a:prstGeom prst="rect">
            <a:avLst/>
          </a:prstGeom>
          <a:solidFill>
            <a:srgbClr val="FBF8F0"/>
          </a:solidFill>
          <a:ln w="6350">
            <a:solidFill>
              <a:srgbClr val="D6CFBD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4572000" y="3429000"/>
            <a:ext cx="54864" cy="1143000"/>
          </a:xfrm>
          <a:prstGeom prst="rect">
            <a:avLst/>
          </a:prstGeom>
          <a:solidFill>
            <a:srgbClr val="A52A2A"/>
          </a:solidFill>
          <a:ln/>
        </p:spPr>
      </p:sp>
      <p:sp>
        <p:nvSpPr>
          <p:cNvPr id="24" name="Text 22"/>
          <p:cNvSpPr/>
          <p:nvPr/>
        </p:nvSpPr>
        <p:spPr>
          <a:xfrm>
            <a:off x="4800600" y="3538728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200" kern="0" dirty="0">
                <a:solidFill>
                  <a:srgbClr val="A52A2A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场景 04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4800600" y="374904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41414"/>
                </a:solidFill>
                <a:latin typeface="Songti SC" pitchFamily="34" charset="0"/>
                <a:ea typeface="Songti SC" pitchFamily="34" charset="-122"/>
                <a:cs typeface="Songti SC" pitchFamily="34" charset="-120"/>
              </a:rPr>
              <a:t>「不成功退款」是扯皮陷阱</a:t>
            </a:r>
            <a:endParaRPr lang="en-US" sz="1600" dirty="0"/>
          </a:p>
        </p:txBody>
      </p:sp>
      <p:sp>
        <p:nvSpPr>
          <p:cNvPr id="26" name="Text 24"/>
          <p:cNvSpPr/>
          <p:nvPr/>
        </p:nvSpPr>
        <p:spPr>
          <a:xfrm>
            <a:off x="4800600" y="4087368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A2A2A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签合同时说得漂亮，到时间对方开始纠缠「这算不算不成功」。退款条款没有明确触发条件，你扯不赢。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365760" y="475488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200" kern="0" dirty="0">
                <a:solidFill>
                  <a:srgbClr val="6E6A5F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02 / 21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6400800" y="475488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6E6A5F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水之明亚马逊申诉服务  ·  销售介绍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6F2E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286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141414"/>
                </a:solidFill>
                <a:latin typeface="Songti SC" pitchFamily="34" charset="0"/>
                <a:ea typeface="Songti SC" pitchFamily="34" charset="-122"/>
                <a:cs typeface="Songti SC" pitchFamily="34" charset="-120"/>
              </a:rPr>
              <a:t>水 之 明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949440" y="2286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141414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壹  ·  POSITIONING  ·  定位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365760" y="548640"/>
            <a:ext cx="8412480" cy="0"/>
          </a:xfrm>
          <a:prstGeom prst="line">
            <a:avLst/>
          </a:prstGeom>
          <a:noFill/>
          <a:ln w="6350">
            <a:solidFill>
              <a:srgbClr val="D6CFBD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365760" y="822960"/>
            <a:ext cx="8412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41414"/>
                </a:solidFill>
                <a:latin typeface="Songti SC" pitchFamily="34" charset="0"/>
                <a:ea typeface="Songti SC" pitchFamily="34" charset="-122"/>
                <a:cs typeface="Songti SC" pitchFamily="34" charset="-120"/>
              </a:rPr>
              <a:t>我们只做一件事</a:t>
            </a:r>
            <a:endParaRPr lang="en-US" sz="3600" dirty="0"/>
          </a:p>
        </p:txBody>
      </p:sp>
      <p:sp>
        <p:nvSpPr>
          <p:cNvPr id="6" name="Text 4"/>
          <p:cNvSpPr/>
          <p:nvPr/>
        </p:nvSpPr>
        <p:spPr>
          <a:xfrm>
            <a:off x="365760" y="1554480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B3D4F"/>
                </a:solidFill>
                <a:latin typeface="Songti SC" pitchFamily="34" charset="0"/>
                <a:ea typeface="Songti SC" pitchFamily="34" charset="-122"/>
                <a:cs typeface="Songti SC" pitchFamily="34" charset="-120"/>
              </a:rPr>
              <a:t>中国大陆卖家  ·  亚马逊海外站  ·  申诉服务</a:t>
            </a:r>
            <a:endParaRPr lang="en-US" sz="2200" dirty="0"/>
          </a:p>
        </p:txBody>
      </p:sp>
      <p:sp>
        <p:nvSpPr>
          <p:cNvPr id="7" name="Shape 5"/>
          <p:cNvSpPr/>
          <p:nvPr/>
        </p:nvSpPr>
        <p:spPr>
          <a:xfrm>
            <a:off x="365760" y="2194560"/>
            <a:ext cx="8412480" cy="914400"/>
          </a:xfrm>
          <a:prstGeom prst="rect">
            <a:avLst/>
          </a:prstGeom>
          <a:solidFill>
            <a:srgbClr val="FBF8F0"/>
          </a:solidFill>
          <a:ln w="25400">
            <a:solidFill>
              <a:srgbClr val="0B3D4F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65760" y="2194560"/>
            <a:ext cx="73152" cy="914400"/>
          </a:xfrm>
          <a:prstGeom prst="rect">
            <a:avLst/>
          </a:prstGeom>
          <a:solidFill>
            <a:srgbClr val="0B3D4F"/>
          </a:solidFill>
          <a:ln/>
        </p:spPr>
      </p:sp>
      <p:sp>
        <p:nvSpPr>
          <p:cNvPr id="9" name="Text 7"/>
          <p:cNvSpPr/>
          <p:nvPr/>
        </p:nvSpPr>
        <p:spPr>
          <a:xfrm>
            <a:off x="640080" y="2331720"/>
            <a:ext cx="7955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41414"/>
                </a:solidFill>
                <a:latin typeface="Songti SC" pitchFamily="34" charset="0"/>
                <a:ea typeface="Songti SC" pitchFamily="34" charset="-122"/>
                <a:cs typeface="Songti SC" pitchFamily="34" charset="-120"/>
              </a:rPr>
              <a:t>把客户画像收窄到一条单线，</a:t>
            </a:r>
            <a:endParaRPr lang="en-US" sz="1600" dirty="0"/>
          </a:p>
          <a:p>
            <a:pPr indent="0" marL="0">
              <a:buNone/>
            </a:pPr>
            <a:r>
              <a:rPr lang="en-US" sz="1400" dirty="0">
                <a:solidFill>
                  <a:srgbClr val="2A2A2A"/>
                </a:solidFill>
                <a:latin typeface="Songti SC" pitchFamily="34" charset="0"/>
                <a:ea typeface="Songti SC" pitchFamily="34" charset="-122"/>
                <a:cs typeface="Songti SC" pitchFamily="34" charset="-120"/>
              </a:rPr>
              <a:t>是我们「境内合规」能立住的根本——合同、收付款、发票、司法管辖全部在境内闭环。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365760" y="3383280"/>
            <a:ext cx="2011680" cy="1097280"/>
          </a:xfrm>
          <a:prstGeom prst="rect">
            <a:avLst/>
          </a:prstGeom>
          <a:solidFill>
            <a:srgbClr val="FBF8F0"/>
          </a:solidFill>
          <a:ln w="6350">
            <a:solidFill>
              <a:srgbClr val="D6CFB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30352" y="3493008"/>
            <a:ext cx="1737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200" kern="0" dirty="0">
                <a:solidFill>
                  <a:srgbClr val="0B3D4F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DIMENSION 01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530352" y="3703320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41414"/>
                </a:solidFill>
                <a:latin typeface="Songti SC" pitchFamily="34" charset="0"/>
                <a:ea typeface="Songti SC" pitchFamily="34" charset="-122"/>
                <a:cs typeface="Songti SC" pitchFamily="34" charset="-120"/>
              </a:rPr>
              <a:t>大陆主体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530352" y="4041648"/>
            <a:ext cx="1737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A2A2A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中国大陆营业执照公司，能签合同、收人民币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2496312" y="3383280"/>
            <a:ext cx="2011680" cy="1097280"/>
          </a:xfrm>
          <a:prstGeom prst="rect">
            <a:avLst/>
          </a:prstGeom>
          <a:solidFill>
            <a:srgbClr val="FBF8F0"/>
          </a:solidFill>
          <a:ln w="6350">
            <a:solidFill>
              <a:srgbClr val="D6CFBD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2660904" y="3493008"/>
            <a:ext cx="1737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200" kern="0" dirty="0">
                <a:solidFill>
                  <a:srgbClr val="0B3D4F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DIMENSION 02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2660904" y="3703320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41414"/>
                </a:solidFill>
                <a:latin typeface="Songti SC" pitchFamily="34" charset="0"/>
                <a:ea typeface="Songti SC" pitchFamily="34" charset="-122"/>
                <a:cs typeface="Songti SC" pitchFamily="34" charset="-120"/>
              </a:rPr>
              <a:t>海外站点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2660904" y="4041648"/>
            <a:ext cx="1737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A2A2A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美国 / 欧洲 / 日本 / 澳洲 / 中东 等海外站点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4626864" y="3383280"/>
            <a:ext cx="2011680" cy="1097280"/>
          </a:xfrm>
          <a:prstGeom prst="rect">
            <a:avLst/>
          </a:prstGeom>
          <a:solidFill>
            <a:srgbClr val="FBF8F0"/>
          </a:solidFill>
          <a:ln w="6350">
            <a:solidFill>
              <a:srgbClr val="D6CFBD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791456" y="3493008"/>
            <a:ext cx="1737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200" kern="0" dirty="0">
                <a:solidFill>
                  <a:srgbClr val="0B3D4F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DIMENSION 03</a:t>
            </a:r>
            <a:endParaRPr lang="en-US" sz="800" dirty="0"/>
          </a:p>
        </p:txBody>
      </p:sp>
      <p:sp>
        <p:nvSpPr>
          <p:cNvPr id="20" name="Text 18"/>
          <p:cNvSpPr/>
          <p:nvPr/>
        </p:nvSpPr>
        <p:spPr>
          <a:xfrm>
            <a:off x="4791456" y="3703320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41414"/>
                </a:solidFill>
                <a:latin typeface="Songti SC" pitchFamily="34" charset="0"/>
                <a:ea typeface="Songti SC" pitchFamily="34" charset="-122"/>
                <a:cs typeface="Songti SC" pitchFamily="34" charset="-120"/>
              </a:rPr>
              <a:t>大陆运营</a:t>
            </a:r>
            <a:endParaRPr lang="en-US" sz="1800" dirty="0"/>
          </a:p>
        </p:txBody>
      </p:sp>
      <p:sp>
        <p:nvSpPr>
          <p:cNvPr id="21" name="Text 19"/>
          <p:cNvSpPr/>
          <p:nvPr/>
        </p:nvSpPr>
        <p:spPr>
          <a:xfrm>
            <a:off x="4791456" y="4041648"/>
            <a:ext cx="1737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A2A2A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中文母语沟通，大陆工作时间，微信邮件响应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6757416" y="3383280"/>
            <a:ext cx="2011680" cy="1097280"/>
          </a:xfrm>
          <a:prstGeom prst="rect">
            <a:avLst/>
          </a:prstGeom>
          <a:solidFill>
            <a:srgbClr val="FBF8F0"/>
          </a:solidFill>
          <a:ln w="6350">
            <a:solidFill>
              <a:srgbClr val="D6CFBD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922008" y="3493008"/>
            <a:ext cx="1737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200" kern="0" dirty="0">
                <a:solidFill>
                  <a:srgbClr val="0B3D4F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DIMENSION 04</a:t>
            </a:r>
            <a:endParaRPr lang="en-US" sz="800" dirty="0"/>
          </a:p>
        </p:txBody>
      </p:sp>
      <p:sp>
        <p:nvSpPr>
          <p:cNvPr id="24" name="Text 22"/>
          <p:cNvSpPr/>
          <p:nvPr/>
        </p:nvSpPr>
        <p:spPr>
          <a:xfrm>
            <a:off x="6922008" y="3703320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41414"/>
                </a:solidFill>
                <a:latin typeface="Songti SC" pitchFamily="34" charset="0"/>
                <a:ea typeface="Songti SC" pitchFamily="34" charset="-122"/>
                <a:cs typeface="Songti SC" pitchFamily="34" charset="-120"/>
              </a:rPr>
              <a:t>亚马逊专精</a:t>
            </a:r>
            <a:endParaRPr lang="en-US" sz="1800" dirty="0"/>
          </a:p>
        </p:txBody>
      </p:sp>
      <p:sp>
        <p:nvSpPr>
          <p:cNvPr id="25" name="Text 23"/>
          <p:cNvSpPr/>
          <p:nvPr/>
        </p:nvSpPr>
        <p:spPr>
          <a:xfrm>
            <a:off x="6922008" y="4041648"/>
            <a:ext cx="1737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A2A2A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只做亚马逊海外站，不做淘宝京东 Shopee TikTok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365760" y="475488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200" kern="0" dirty="0">
                <a:solidFill>
                  <a:srgbClr val="6E6A5F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03 / 21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6400800" y="475488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6E6A5F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水之明亚马逊申诉服务  ·  销售介绍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6F2E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286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141414"/>
                </a:solidFill>
                <a:latin typeface="Songti SC" pitchFamily="34" charset="0"/>
                <a:ea typeface="Songti SC" pitchFamily="34" charset="-122"/>
                <a:cs typeface="Songti SC" pitchFamily="34" charset="-120"/>
              </a:rPr>
              <a:t>水 之 明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949440" y="2286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141414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贰  ·  FOUR PROMISES  ·  四项承诺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365760" y="548640"/>
            <a:ext cx="8412480" cy="0"/>
          </a:xfrm>
          <a:prstGeom prst="line">
            <a:avLst/>
          </a:prstGeom>
          <a:noFill/>
          <a:ln w="6350">
            <a:solidFill>
              <a:srgbClr val="D6CFBD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365760" y="822960"/>
            <a:ext cx="8412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41414"/>
                </a:solidFill>
                <a:latin typeface="Songti SC" pitchFamily="34" charset="0"/>
                <a:ea typeface="Songti SC" pitchFamily="34" charset="-122"/>
                <a:cs typeface="Songti SC" pitchFamily="34" charset="-120"/>
              </a:rPr>
              <a:t>水之明的四项承诺</a:t>
            </a:r>
            <a:endParaRPr lang="en-US" sz="3600" dirty="0"/>
          </a:p>
        </p:txBody>
      </p:sp>
      <p:sp>
        <p:nvSpPr>
          <p:cNvPr id="6" name="Text 4"/>
          <p:cNvSpPr/>
          <p:nvPr/>
        </p:nvSpPr>
        <p:spPr>
          <a:xfrm>
            <a:off x="365760" y="150876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E6A5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我们想做的是行业里第一家把所有东西都摊在桌上的那家。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365760" y="2194560"/>
            <a:ext cx="2011680" cy="2194560"/>
          </a:xfrm>
          <a:prstGeom prst="rect">
            <a:avLst/>
          </a:prstGeom>
          <a:solidFill>
            <a:srgbClr val="FBF8F0"/>
          </a:solidFill>
          <a:ln w="6350">
            <a:solidFill>
              <a:srgbClr val="D6CFBD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65760" y="2194560"/>
            <a:ext cx="2011680" cy="73152"/>
          </a:xfrm>
          <a:prstGeom prst="rect">
            <a:avLst/>
          </a:prstGeom>
          <a:solidFill>
            <a:srgbClr val="0B3D4F"/>
          </a:solidFill>
          <a:ln/>
        </p:spPr>
      </p:sp>
      <p:sp>
        <p:nvSpPr>
          <p:cNvPr id="9" name="Text 7"/>
          <p:cNvSpPr/>
          <p:nvPr/>
        </p:nvSpPr>
        <p:spPr>
          <a:xfrm>
            <a:off x="548640" y="2423160"/>
            <a:ext cx="914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600" b="1" dirty="0">
                <a:solidFill>
                  <a:srgbClr val="BDB39A"/>
                </a:solidFill>
                <a:latin typeface="Songti SC" pitchFamily="34" charset="0"/>
                <a:ea typeface="Songti SC" pitchFamily="34" charset="-122"/>
                <a:cs typeface="Songti SC" pitchFamily="34" charset="-120"/>
              </a:rPr>
              <a:t>壹</a:t>
            </a:r>
            <a:endParaRPr lang="en-US" sz="5600" dirty="0"/>
          </a:p>
        </p:txBody>
      </p:sp>
      <p:sp>
        <p:nvSpPr>
          <p:cNvPr id="10" name="Text 8"/>
          <p:cNvSpPr/>
          <p:nvPr/>
        </p:nvSpPr>
        <p:spPr>
          <a:xfrm>
            <a:off x="548640" y="3154680"/>
            <a:ext cx="1645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41414"/>
                </a:solidFill>
                <a:latin typeface="Songti SC" pitchFamily="34" charset="0"/>
                <a:ea typeface="Songti SC" pitchFamily="34" charset="-122"/>
                <a:cs typeface="Songti SC" pitchFamily="34" charset="-120"/>
              </a:rPr>
              <a:t>价格上墙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548640" y="3520440"/>
            <a:ext cx="1645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2A2A2A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三档价格区间公示在官网。免费诊断后给书面报价单，签约前 7 天有效，期间不涨价。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2496312" y="2194560"/>
            <a:ext cx="2011680" cy="2194560"/>
          </a:xfrm>
          <a:prstGeom prst="rect">
            <a:avLst/>
          </a:prstGeom>
          <a:solidFill>
            <a:srgbClr val="FBF8F0"/>
          </a:solidFill>
          <a:ln w="6350">
            <a:solidFill>
              <a:srgbClr val="D6CFBD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2496312" y="2194560"/>
            <a:ext cx="2011680" cy="73152"/>
          </a:xfrm>
          <a:prstGeom prst="rect">
            <a:avLst/>
          </a:prstGeom>
          <a:solidFill>
            <a:srgbClr val="0B3D4F"/>
          </a:solidFill>
          <a:ln/>
        </p:spPr>
      </p:sp>
      <p:sp>
        <p:nvSpPr>
          <p:cNvPr id="14" name="Text 12"/>
          <p:cNvSpPr/>
          <p:nvPr/>
        </p:nvSpPr>
        <p:spPr>
          <a:xfrm>
            <a:off x="2679192" y="2423160"/>
            <a:ext cx="914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600" b="1" dirty="0">
                <a:solidFill>
                  <a:srgbClr val="BDB39A"/>
                </a:solidFill>
                <a:latin typeface="Songti SC" pitchFamily="34" charset="0"/>
                <a:ea typeface="Songti SC" pitchFamily="34" charset="-122"/>
                <a:cs typeface="Songti SC" pitchFamily="34" charset="-120"/>
              </a:rPr>
              <a:t>贰</a:t>
            </a:r>
            <a:endParaRPr lang="en-US" sz="5600" dirty="0"/>
          </a:p>
        </p:txBody>
      </p:sp>
      <p:sp>
        <p:nvSpPr>
          <p:cNvPr id="15" name="Text 13"/>
          <p:cNvSpPr/>
          <p:nvPr/>
        </p:nvSpPr>
        <p:spPr>
          <a:xfrm>
            <a:off x="2679192" y="3154680"/>
            <a:ext cx="1645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41414"/>
                </a:solidFill>
                <a:latin typeface="Songti SC" pitchFamily="34" charset="0"/>
                <a:ea typeface="Songti SC" pitchFamily="34" charset="-122"/>
                <a:cs typeface="Songti SC" pitchFamily="34" charset="-120"/>
              </a:rPr>
              <a:t>POA 原创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2679192" y="3520440"/>
            <a:ext cx="1645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2A2A2A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每一份 POA 基于你店铺真实情况撰写，英文原稿与你确认后才提交。不用模板、不洗稿。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4626864" y="2194560"/>
            <a:ext cx="2011680" cy="2194560"/>
          </a:xfrm>
          <a:prstGeom prst="rect">
            <a:avLst/>
          </a:prstGeom>
          <a:solidFill>
            <a:srgbClr val="FBF8F0"/>
          </a:solidFill>
          <a:ln w="6350">
            <a:solidFill>
              <a:srgbClr val="D6CFBD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626864" y="2194560"/>
            <a:ext cx="2011680" cy="73152"/>
          </a:xfrm>
          <a:prstGeom prst="rect">
            <a:avLst/>
          </a:prstGeom>
          <a:solidFill>
            <a:srgbClr val="0B3D4F"/>
          </a:solidFill>
          <a:ln/>
        </p:spPr>
      </p:sp>
      <p:sp>
        <p:nvSpPr>
          <p:cNvPr id="19" name="Text 17"/>
          <p:cNvSpPr/>
          <p:nvPr/>
        </p:nvSpPr>
        <p:spPr>
          <a:xfrm>
            <a:off x="4809744" y="2423160"/>
            <a:ext cx="914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600" b="1" dirty="0">
                <a:solidFill>
                  <a:srgbClr val="BDB39A"/>
                </a:solidFill>
                <a:latin typeface="Songti SC" pitchFamily="34" charset="0"/>
                <a:ea typeface="Songti SC" pitchFamily="34" charset="-122"/>
                <a:cs typeface="Songti SC" pitchFamily="34" charset="-120"/>
              </a:rPr>
              <a:t>叁</a:t>
            </a:r>
            <a:endParaRPr lang="en-US" sz="5600" dirty="0"/>
          </a:p>
        </p:txBody>
      </p:sp>
      <p:sp>
        <p:nvSpPr>
          <p:cNvPr id="20" name="Text 18"/>
          <p:cNvSpPr/>
          <p:nvPr/>
        </p:nvSpPr>
        <p:spPr>
          <a:xfrm>
            <a:off x="4809744" y="3154680"/>
            <a:ext cx="1645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41414"/>
                </a:solidFill>
                <a:latin typeface="Songti SC" pitchFamily="34" charset="0"/>
                <a:ea typeface="Songti SC" pitchFamily="34" charset="-122"/>
                <a:cs typeface="Songti SC" pitchFamily="34" charset="-120"/>
              </a:rPr>
              <a:t>看板留痕</a:t>
            </a:r>
            <a:endParaRPr lang="en-US" sz="1800" dirty="0"/>
          </a:p>
        </p:txBody>
      </p:sp>
      <p:sp>
        <p:nvSpPr>
          <p:cNvPr id="21" name="Text 19"/>
          <p:cNvSpPr/>
          <p:nvPr/>
        </p:nvSpPr>
        <p:spPr>
          <a:xfrm>
            <a:off x="4809744" y="3520440"/>
            <a:ext cx="1645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2A2A2A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每个案件独立看板：POA 版本、Amazon 回复原文、下一步时间，全部留痕。</a:t>
            </a:r>
            <a:endParaRPr lang="en-US" sz="950" dirty="0"/>
          </a:p>
        </p:txBody>
      </p:sp>
      <p:sp>
        <p:nvSpPr>
          <p:cNvPr id="22" name="Shape 20"/>
          <p:cNvSpPr/>
          <p:nvPr/>
        </p:nvSpPr>
        <p:spPr>
          <a:xfrm>
            <a:off x="6757416" y="2194560"/>
            <a:ext cx="2011680" cy="2194560"/>
          </a:xfrm>
          <a:prstGeom prst="rect">
            <a:avLst/>
          </a:prstGeom>
          <a:solidFill>
            <a:srgbClr val="FBF8F0"/>
          </a:solidFill>
          <a:ln w="6350">
            <a:solidFill>
              <a:srgbClr val="D6CFBD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6757416" y="2194560"/>
            <a:ext cx="2011680" cy="73152"/>
          </a:xfrm>
          <a:prstGeom prst="rect">
            <a:avLst/>
          </a:prstGeom>
          <a:solidFill>
            <a:srgbClr val="0B3D4F"/>
          </a:solidFill>
          <a:ln/>
        </p:spPr>
      </p:sp>
      <p:sp>
        <p:nvSpPr>
          <p:cNvPr id="24" name="Text 22"/>
          <p:cNvSpPr/>
          <p:nvPr/>
        </p:nvSpPr>
        <p:spPr>
          <a:xfrm>
            <a:off x="6940296" y="2423160"/>
            <a:ext cx="914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600" b="1" dirty="0">
                <a:solidFill>
                  <a:srgbClr val="BDB39A"/>
                </a:solidFill>
                <a:latin typeface="Songti SC" pitchFamily="34" charset="0"/>
                <a:ea typeface="Songti SC" pitchFamily="34" charset="-122"/>
                <a:cs typeface="Songti SC" pitchFamily="34" charset="-120"/>
              </a:rPr>
              <a:t>肆</a:t>
            </a:r>
            <a:endParaRPr lang="en-US" sz="5600" dirty="0"/>
          </a:p>
        </p:txBody>
      </p:sp>
      <p:sp>
        <p:nvSpPr>
          <p:cNvPr id="25" name="Text 23"/>
          <p:cNvSpPr/>
          <p:nvPr/>
        </p:nvSpPr>
        <p:spPr>
          <a:xfrm>
            <a:off x="6940296" y="3154680"/>
            <a:ext cx="1645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41414"/>
                </a:solidFill>
                <a:latin typeface="Songti SC" pitchFamily="34" charset="0"/>
                <a:ea typeface="Songti SC" pitchFamily="34" charset="-122"/>
                <a:cs typeface="Songti SC" pitchFamily="34" charset="-120"/>
              </a:rPr>
              <a:t>退款明写</a:t>
            </a:r>
            <a:endParaRPr lang="en-US" sz="1800" dirty="0"/>
          </a:p>
        </p:txBody>
      </p:sp>
      <p:sp>
        <p:nvSpPr>
          <p:cNvPr id="26" name="Text 24"/>
          <p:cNvSpPr/>
          <p:nvPr/>
        </p:nvSpPr>
        <p:spPr>
          <a:xfrm>
            <a:off x="6940296" y="3520440"/>
            <a:ext cx="1645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2A2A2A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「不成功」的触发条件、退款比例、到账时间全部写进合同。到期自动触发，5 个工作日对公退回。</a:t>
            </a:r>
            <a:endParaRPr lang="en-US" sz="950" dirty="0"/>
          </a:p>
        </p:txBody>
      </p:sp>
      <p:sp>
        <p:nvSpPr>
          <p:cNvPr id="27" name="Text 25"/>
          <p:cNvSpPr/>
          <p:nvPr/>
        </p:nvSpPr>
        <p:spPr>
          <a:xfrm>
            <a:off x="365760" y="475488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200" kern="0" dirty="0">
                <a:solidFill>
                  <a:srgbClr val="6E6A5F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04 / 21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6400800" y="475488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6E6A5F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水之明亚马逊申诉服务  ·  销售介绍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6F2E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286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141414"/>
                </a:solidFill>
                <a:latin typeface="Songti SC" pitchFamily="34" charset="0"/>
                <a:ea typeface="Songti SC" pitchFamily="34" charset="-122"/>
                <a:cs typeface="Songti SC" pitchFamily="34" charset="-120"/>
              </a:rPr>
              <a:t>水 之 明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949440" y="2286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141414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叁  ·  CORE SERVICES  ·  四大服务方向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365760" y="548640"/>
            <a:ext cx="8412480" cy="0"/>
          </a:xfrm>
          <a:prstGeom prst="line">
            <a:avLst/>
          </a:prstGeom>
          <a:noFill/>
          <a:ln w="6350">
            <a:solidFill>
              <a:srgbClr val="D6CFBD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365760" y="822960"/>
            <a:ext cx="8412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41414"/>
                </a:solidFill>
                <a:latin typeface="Songti SC" pitchFamily="34" charset="0"/>
                <a:ea typeface="Songti SC" pitchFamily="34" charset="-122"/>
                <a:cs typeface="Songti SC" pitchFamily="34" charset="-120"/>
              </a:rPr>
              <a:t>四大业务方向</a:t>
            </a:r>
            <a:endParaRPr lang="en-US" sz="3600" dirty="0"/>
          </a:p>
        </p:txBody>
      </p:sp>
      <p:sp>
        <p:nvSpPr>
          <p:cNvPr id="6" name="Text 4"/>
          <p:cNvSpPr/>
          <p:nvPr/>
        </p:nvSpPr>
        <p:spPr>
          <a:xfrm>
            <a:off x="365760" y="150876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E6A5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覆盖亚马逊海外站 30+ 个常见申诉场景。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365760" y="2103120"/>
            <a:ext cx="2011680" cy="2468880"/>
          </a:xfrm>
          <a:prstGeom prst="rect">
            <a:avLst/>
          </a:prstGeom>
          <a:solidFill>
            <a:srgbClr val="FBF8F0"/>
          </a:solidFill>
          <a:ln w="6350">
            <a:solidFill>
              <a:srgbClr val="D6CFBD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48640" y="2240280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300" kern="0" dirty="0">
                <a:solidFill>
                  <a:srgbClr val="A52A2A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01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548640" y="2468880"/>
            <a:ext cx="1645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414"/>
                </a:solidFill>
                <a:latin typeface="Songti SC" pitchFamily="34" charset="0"/>
                <a:ea typeface="Songti SC" pitchFamily="34" charset="-122"/>
                <a:cs typeface="Songti SC" pitchFamily="34" charset="-120"/>
              </a:rPr>
              <a:t>账号申诉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548640" y="2880360"/>
            <a:ext cx="1645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200" kern="0" dirty="0">
                <a:solidFill>
                  <a:srgbClr val="6E6A5F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ACCOUNT RECOVERY</a:t>
            </a:r>
            <a:endParaRPr lang="en-US" sz="800" dirty="0"/>
          </a:p>
        </p:txBody>
      </p:sp>
      <p:sp>
        <p:nvSpPr>
          <p:cNvPr id="11" name="Shape 9"/>
          <p:cNvSpPr/>
          <p:nvPr/>
        </p:nvSpPr>
        <p:spPr>
          <a:xfrm>
            <a:off x="548640" y="3154680"/>
            <a:ext cx="1645920" cy="0"/>
          </a:xfrm>
          <a:prstGeom prst="line">
            <a:avLst/>
          </a:prstGeom>
          <a:noFill/>
          <a:ln w="6350">
            <a:solidFill>
              <a:srgbClr val="D6CFB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48640" y="3246120"/>
            <a:ext cx="16459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rgbClr val="2A2A2A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· 销量激增 · ODR</a:t>
            </a:r>
            <a:endParaRPr lang="en-US" sz="10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rgbClr val="2A2A2A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· 操纵评论 / 刷单</a:t>
            </a:r>
            <a:endParaRPr lang="en-US" sz="10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rgbClr val="2A2A2A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· 关联封店</a:t>
            </a:r>
            <a:endParaRPr lang="en-US" sz="10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rgbClr val="2A2A2A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· 72 小时审核</a:t>
            </a:r>
            <a:endParaRPr lang="en-US" sz="10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rgbClr val="2A2A2A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· 二审 · KYC · 视频</a:t>
            </a:r>
            <a:endParaRPr lang="en-US" sz="10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rgbClr val="2A2A2A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· 永久停用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2496312" y="2103120"/>
            <a:ext cx="2011680" cy="2468880"/>
          </a:xfrm>
          <a:prstGeom prst="rect">
            <a:avLst/>
          </a:prstGeom>
          <a:solidFill>
            <a:srgbClr val="FBF8F0"/>
          </a:solidFill>
          <a:ln w="6350">
            <a:solidFill>
              <a:srgbClr val="D6CFBD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679192" y="2240280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300" kern="0" dirty="0">
                <a:solidFill>
                  <a:srgbClr val="A52A2A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02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2679192" y="2468880"/>
            <a:ext cx="1645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414"/>
                </a:solidFill>
                <a:latin typeface="Songti SC" pitchFamily="34" charset="0"/>
                <a:ea typeface="Songti SC" pitchFamily="34" charset="-122"/>
                <a:cs typeface="Songti SC" pitchFamily="34" charset="-120"/>
              </a:rPr>
              <a:t>侵权申诉</a:t>
            </a:r>
            <a:endParaRPr lang="en-US" sz="2200" dirty="0"/>
          </a:p>
        </p:txBody>
      </p:sp>
      <p:sp>
        <p:nvSpPr>
          <p:cNvPr id="16" name="Text 14"/>
          <p:cNvSpPr/>
          <p:nvPr/>
        </p:nvSpPr>
        <p:spPr>
          <a:xfrm>
            <a:off x="2679192" y="2880360"/>
            <a:ext cx="1645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200" kern="0" dirty="0">
                <a:solidFill>
                  <a:srgbClr val="6E6A5F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IP INFRINGEMENT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2679192" y="3154680"/>
            <a:ext cx="1645920" cy="0"/>
          </a:xfrm>
          <a:prstGeom prst="line">
            <a:avLst/>
          </a:prstGeom>
          <a:noFill/>
          <a:ln w="6350">
            <a:solidFill>
              <a:srgbClr val="D6CFBD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679192" y="3246120"/>
            <a:ext cx="16459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rgbClr val="2A2A2A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· 商标侵权</a:t>
            </a:r>
            <a:endParaRPr lang="en-US" sz="10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rgbClr val="2A2A2A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· 版权 / DMCA</a:t>
            </a:r>
            <a:endParaRPr lang="en-US" sz="10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rgbClr val="2A2A2A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· 专利侵权</a:t>
            </a:r>
            <a:endParaRPr lang="en-US" sz="10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rgbClr val="2A2A2A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· 恶意投诉反制</a:t>
            </a:r>
            <a:endParaRPr lang="en-US" sz="10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rgbClr val="2A2A2A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· 大牌侵权和解</a:t>
            </a:r>
            <a:endParaRPr lang="en-US" sz="10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rgbClr val="2A2A2A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· 品牌备案前置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4626864" y="2103120"/>
            <a:ext cx="2011680" cy="2468880"/>
          </a:xfrm>
          <a:prstGeom prst="rect">
            <a:avLst/>
          </a:prstGeom>
          <a:solidFill>
            <a:srgbClr val="FBF8F0"/>
          </a:solidFill>
          <a:ln w="6350">
            <a:solidFill>
              <a:srgbClr val="D6CFBD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809744" y="2240280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300" kern="0" dirty="0">
                <a:solidFill>
                  <a:srgbClr val="A52A2A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03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4809744" y="2468880"/>
            <a:ext cx="1645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414"/>
                </a:solidFill>
                <a:latin typeface="Songti SC" pitchFamily="34" charset="0"/>
                <a:ea typeface="Songti SC" pitchFamily="34" charset="-122"/>
                <a:cs typeface="Songti SC" pitchFamily="34" charset="-120"/>
              </a:rPr>
              <a:t>资金申诉</a:t>
            </a:r>
            <a:endParaRPr lang="en-US" sz="2200" dirty="0"/>
          </a:p>
        </p:txBody>
      </p:sp>
      <p:sp>
        <p:nvSpPr>
          <p:cNvPr id="22" name="Text 20"/>
          <p:cNvSpPr/>
          <p:nvPr/>
        </p:nvSpPr>
        <p:spPr>
          <a:xfrm>
            <a:off x="4809744" y="2880360"/>
            <a:ext cx="1645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200" kern="0" dirty="0">
                <a:solidFill>
                  <a:srgbClr val="6E6A5F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FUND RECOVERY</a:t>
            </a:r>
            <a:endParaRPr lang="en-US" sz="800" dirty="0"/>
          </a:p>
        </p:txBody>
      </p:sp>
      <p:sp>
        <p:nvSpPr>
          <p:cNvPr id="23" name="Shape 21"/>
          <p:cNvSpPr/>
          <p:nvPr/>
        </p:nvSpPr>
        <p:spPr>
          <a:xfrm>
            <a:off x="4809744" y="3154680"/>
            <a:ext cx="1645920" cy="0"/>
          </a:xfrm>
          <a:prstGeom prst="line">
            <a:avLst/>
          </a:prstGeom>
          <a:noFill/>
          <a:ln w="6350">
            <a:solidFill>
              <a:srgbClr val="D6CFBD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4809744" y="3246120"/>
            <a:ext cx="16459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rgbClr val="2A2A2A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· 冻结资金取款</a:t>
            </a:r>
            <a:endParaRPr lang="en-US" sz="10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rgbClr val="2A2A2A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· 纯资金申诉</a:t>
            </a:r>
            <a:endParaRPr lang="en-US" sz="10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rgbClr val="2A2A2A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· 绩效扣费争议</a:t>
            </a:r>
            <a:endParaRPr lang="en-US" sz="10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rgbClr val="2A2A2A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· FBA 库存补偿</a:t>
            </a:r>
            <a:endParaRPr lang="en-US" sz="10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rgbClr val="2A2A2A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· 闭店清退</a:t>
            </a:r>
            <a:endParaRPr lang="en-US" sz="10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rgbClr val="2A2A2A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· 和解分账谈判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6757416" y="2103120"/>
            <a:ext cx="2011680" cy="2468880"/>
          </a:xfrm>
          <a:prstGeom prst="rect">
            <a:avLst/>
          </a:prstGeom>
          <a:solidFill>
            <a:srgbClr val="FBF8F0"/>
          </a:solidFill>
          <a:ln w="6350">
            <a:solidFill>
              <a:srgbClr val="D6CFBD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6940296" y="2240280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300" kern="0" dirty="0">
                <a:solidFill>
                  <a:srgbClr val="A52A2A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04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6940296" y="2468880"/>
            <a:ext cx="1645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414"/>
                </a:solidFill>
                <a:latin typeface="Songti SC" pitchFamily="34" charset="0"/>
                <a:ea typeface="Songti SC" pitchFamily="34" charset="-122"/>
                <a:cs typeface="Songti SC" pitchFamily="34" charset="-120"/>
              </a:rPr>
              <a:t>合规服务</a:t>
            </a:r>
            <a:endParaRPr lang="en-US" sz="2200" dirty="0"/>
          </a:p>
        </p:txBody>
      </p:sp>
      <p:sp>
        <p:nvSpPr>
          <p:cNvPr id="28" name="Text 26"/>
          <p:cNvSpPr/>
          <p:nvPr/>
        </p:nvSpPr>
        <p:spPr>
          <a:xfrm>
            <a:off x="6940296" y="2880360"/>
            <a:ext cx="1645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200" kern="0" dirty="0">
                <a:solidFill>
                  <a:srgbClr val="6E6A5F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COMPLIANCE</a:t>
            </a:r>
            <a:endParaRPr lang="en-US" sz="800" dirty="0"/>
          </a:p>
        </p:txBody>
      </p:sp>
      <p:sp>
        <p:nvSpPr>
          <p:cNvPr id="29" name="Shape 27"/>
          <p:cNvSpPr/>
          <p:nvPr/>
        </p:nvSpPr>
        <p:spPr>
          <a:xfrm>
            <a:off x="6940296" y="3154680"/>
            <a:ext cx="1645920" cy="0"/>
          </a:xfrm>
          <a:prstGeom prst="line">
            <a:avLst/>
          </a:prstGeom>
          <a:noFill/>
          <a:ln w="6350">
            <a:solidFill>
              <a:srgbClr val="D6CFBD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940296" y="3246120"/>
            <a:ext cx="16459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rgbClr val="2A2A2A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· 账号体检</a:t>
            </a:r>
            <a:endParaRPr lang="en-US" sz="10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rgbClr val="2A2A2A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· 多账号架构</a:t>
            </a:r>
            <a:endParaRPr lang="en-US" sz="10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rgbClr val="2A2A2A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· 站点政策解读</a:t>
            </a:r>
            <a:endParaRPr lang="en-US" sz="10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rgbClr val="2A2A2A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· POA 培训</a:t>
            </a:r>
            <a:endParaRPr lang="en-US" sz="10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rgbClr val="2A2A2A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· 客服流程审查</a:t>
            </a:r>
            <a:endParaRPr lang="en-US" sz="10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rgbClr val="2A2A2A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· 封号应急预案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365760" y="475488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200" kern="0" dirty="0">
                <a:solidFill>
                  <a:srgbClr val="6E6A5F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05 / 21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6400800" y="475488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6E6A5F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水之明亚马逊申诉服务  ·  销售介绍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6F2E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286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141414"/>
                </a:solidFill>
                <a:latin typeface="Songti SC" pitchFamily="34" charset="0"/>
                <a:ea typeface="Songti SC" pitchFamily="34" charset="-122"/>
                <a:cs typeface="Songti SC" pitchFamily="34" charset="-120"/>
              </a:rPr>
              <a:t>水 之 明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949440" y="2286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141414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肆  ·  PRICING  ·  TIER 一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365760" y="548640"/>
            <a:ext cx="8412480" cy="0"/>
          </a:xfrm>
          <a:prstGeom prst="line">
            <a:avLst/>
          </a:prstGeom>
          <a:noFill/>
          <a:ln w="6350">
            <a:solidFill>
              <a:srgbClr val="D6CFBD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365760" y="822960"/>
            <a:ext cx="8412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41414"/>
                </a:solidFill>
                <a:latin typeface="Songti SC" pitchFamily="34" charset="0"/>
                <a:ea typeface="Songti SC" pitchFamily="34" charset="-122"/>
                <a:cs typeface="Songti SC" pitchFamily="34" charset="-120"/>
              </a:rPr>
              <a:t>一级 · 简单申诉</a:t>
            </a:r>
            <a:endParaRPr lang="en-US" sz="3600" dirty="0"/>
          </a:p>
        </p:txBody>
      </p:sp>
      <p:sp>
        <p:nvSpPr>
          <p:cNvPr id="6" name="Text 4"/>
          <p:cNvSpPr/>
          <p:nvPr/>
        </p:nvSpPr>
        <p:spPr>
          <a:xfrm>
            <a:off x="365760" y="150876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E6A5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1–3 天交付。绩效类、销量激增、ODR 等高频低难度场景。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365760" y="2103120"/>
            <a:ext cx="8412480" cy="502920"/>
          </a:xfrm>
          <a:prstGeom prst="rect">
            <a:avLst/>
          </a:prstGeom>
          <a:solidFill>
            <a:srgbClr val="141414"/>
          </a:solidFill>
          <a:ln/>
        </p:spPr>
      </p:sp>
      <p:sp>
        <p:nvSpPr>
          <p:cNvPr id="8" name="Shape 6"/>
          <p:cNvSpPr/>
          <p:nvPr/>
        </p:nvSpPr>
        <p:spPr>
          <a:xfrm>
            <a:off x="457200" y="2157984"/>
            <a:ext cx="384048" cy="384048"/>
          </a:xfrm>
          <a:prstGeom prst="rect">
            <a:avLst/>
          </a:prstGeom>
          <a:solidFill>
            <a:srgbClr val="F6F2E9"/>
          </a:solidFill>
          <a:ln/>
        </p:spPr>
      </p:sp>
      <p:sp>
        <p:nvSpPr>
          <p:cNvPr id="9" name="Text 7"/>
          <p:cNvSpPr/>
          <p:nvPr/>
        </p:nvSpPr>
        <p:spPr>
          <a:xfrm>
            <a:off x="457200" y="215798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41414"/>
                </a:solidFill>
                <a:latin typeface="Songti SC" pitchFamily="34" charset="0"/>
                <a:ea typeface="Songti SC" pitchFamily="34" charset="-122"/>
                <a:cs typeface="Songti SC" pitchFamily="34" charset="-120"/>
              </a:rPr>
              <a:t>壹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1005840" y="2121408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6F2E9"/>
                </a:solidFill>
                <a:latin typeface="Songti SC" pitchFamily="34" charset="0"/>
                <a:ea typeface="Songti SC" pitchFamily="34" charset="-122"/>
                <a:cs typeface="Songti SC" pitchFamily="34" charset="-120"/>
              </a:rPr>
              <a:t>一 级 · 简单申诉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5486400" y="2121408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spc="200" kern="0" dirty="0">
                <a:solidFill>
                  <a:srgbClr val="C7C2B4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TIER 0一  ·  1–3 DAYS</a:t>
            </a:r>
            <a:endParaRPr lang="en-US" sz="10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2697480"/>
          <a:ext cx="8412480" cy="1874520"/>
        </p:xfrm>
        <a:graphic>
          <a:graphicData uri="http://schemas.openxmlformats.org/drawingml/2006/table">
            <a:tbl>
              <a:tblPr/>
              <a:tblGrid>
                <a:gridCol w="4206240"/>
                <a:gridCol w="2103120"/>
                <a:gridCol w="2103120"/>
              </a:tblGrid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41414"/>
                          </a:solidFill>
                          <a:latin typeface="Songti SC" pitchFamily="34" charset="0"/>
                          <a:ea typeface="Songti SC" pitchFamily="34" charset="-122"/>
                          <a:cs typeface="Songti SC" pitchFamily="34" charset="-120"/>
                        </a:rPr>
                        <a:t>申诉类型</a:t>
                      </a:r>
                      <a:endParaRPr lang="en-US" sz="1100" dirty="0">
                        <a:latin typeface="Songti SC" charset="0"/>
                        <a:ea typeface="Songti SC" charset="0"/>
                        <a:cs typeface="Songti SC" charset="0"/>
                      </a:endParaRPr>
                    </a:p>
                  </a:txBody>
                  <a:tcPr marL="91440" marR="91440" marT="45720" marB="45720" anchor="ctr">
                    <a:lnL w="3810" cap="flat" cmpd="sng" algn="ctr">
                      <a:solidFill>
                        <a:srgbClr val="BDB3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BDB3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BDB3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BDB3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E7D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141414"/>
                          </a:solidFill>
                          <a:latin typeface="Menlo" pitchFamily="34" charset="0"/>
                          <a:ea typeface="Menlo" pitchFamily="34" charset="-122"/>
                          <a:cs typeface="Menlo" pitchFamily="34" charset="-120"/>
                        </a:rPr>
                        <a:t>行业价格区间</a:t>
                      </a:r>
                      <a:endParaRPr lang="en-US" sz="1100" dirty="0">
                        <a:latin typeface="Menlo" charset="0"/>
                        <a:ea typeface="Menlo" charset="0"/>
                        <a:cs typeface="Menlo" charset="0"/>
                      </a:endParaRPr>
                    </a:p>
                  </a:txBody>
                  <a:tcPr marL="91440" marR="91440" marT="45720" marB="45720" anchor="ctr">
                    <a:lnL w="3810" cap="flat" cmpd="sng" algn="ctr">
                      <a:solidFill>
                        <a:srgbClr val="BDB3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BDB3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BDB3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BDB3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E7D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141414"/>
                          </a:solidFill>
                          <a:latin typeface="Menlo" pitchFamily="34" charset="0"/>
                          <a:ea typeface="Menlo" pitchFamily="34" charset="-122"/>
                          <a:cs typeface="Menlo" pitchFamily="34" charset="-120"/>
                        </a:rPr>
                        <a:t>水之明报价</a:t>
                      </a:r>
                      <a:endParaRPr lang="en-US" sz="1100" dirty="0">
                        <a:latin typeface="Menlo" charset="0"/>
                        <a:ea typeface="Menlo" charset="0"/>
                        <a:cs typeface="Menlo" charset="0"/>
                      </a:endParaRPr>
                    </a:p>
                  </a:txBody>
                  <a:tcPr marL="91440" marR="91440" marT="45720" marB="45720" anchor="ctr">
                    <a:lnL w="3810" cap="flat" cmpd="sng" algn="ctr">
                      <a:solidFill>
                        <a:srgbClr val="BDB3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BDB3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BDB3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BDB3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E7D7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41414"/>
                          </a:solidFill>
                          <a:latin typeface="Songti SC" pitchFamily="34" charset="0"/>
                          <a:ea typeface="Songti SC" pitchFamily="34" charset="-122"/>
                          <a:cs typeface="Songti SC" pitchFamily="34" charset="-120"/>
                        </a:rPr>
                        <a:t>ODR 申诉  ·  订单缺陷率超标</a:t>
                      </a:r>
                      <a:endParaRPr lang="en-US" sz="1100" dirty="0">
                        <a:latin typeface="Songti SC" charset="0"/>
                        <a:ea typeface="Songti SC" charset="0"/>
                        <a:cs typeface="Songti SC" charset="0"/>
                      </a:endParaRPr>
                    </a:p>
                  </a:txBody>
                  <a:tcPr marL="91440" marR="91440" marT="45720" marB="45720" anchor="ctr">
                    <a:lnL w="3810" cap="flat" cmpd="sng" algn="ctr">
                      <a:solidFill>
                        <a:srgbClr val="BDB3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BDB3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BDB3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BDB3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8F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6E6A5F"/>
                          </a:solidFill>
                          <a:latin typeface="Menlo" pitchFamily="34" charset="0"/>
                          <a:ea typeface="Menlo" pitchFamily="34" charset="-122"/>
                          <a:cs typeface="Menlo" pitchFamily="34" charset="-120"/>
                        </a:rPr>
                        <a:t>¥500 — 3,000</a:t>
                      </a:r>
                      <a:endParaRPr lang="en-US" sz="1100" dirty="0">
                        <a:latin typeface="Menlo" charset="0"/>
                        <a:ea typeface="Menlo" charset="0"/>
                        <a:cs typeface="Menlo" charset="0"/>
                      </a:endParaRPr>
                    </a:p>
                  </a:txBody>
                  <a:tcPr marL="91440" marR="91440" marT="45720" marB="45720" anchor="ctr">
                    <a:lnL w="3810" cap="flat" cmpd="sng" algn="ctr">
                      <a:solidFill>
                        <a:srgbClr val="BDB3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BDB3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BDB3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BDB3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8F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0B3D4F"/>
                          </a:solidFill>
                          <a:latin typeface="Menlo" pitchFamily="34" charset="0"/>
                          <a:ea typeface="Menlo" pitchFamily="34" charset="-122"/>
                          <a:cs typeface="Menlo" pitchFamily="34" charset="-120"/>
                        </a:rPr>
                        <a:t>¥1,500 — 2,500</a:t>
                      </a:r>
                      <a:endParaRPr lang="en-US" sz="1200" dirty="0">
                        <a:latin typeface="Menlo" charset="0"/>
                        <a:ea typeface="Menlo" charset="0"/>
                        <a:cs typeface="Menlo" charset="0"/>
                      </a:endParaRPr>
                    </a:p>
                  </a:txBody>
                  <a:tcPr marL="91440" marR="91440" marT="45720" marB="45720" anchor="ctr">
                    <a:lnL w="3810" cap="flat" cmpd="sng" algn="ctr">
                      <a:solidFill>
                        <a:srgbClr val="BDB3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BDB3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BDB3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BDB3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8F0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41414"/>
                          </a:solidFill>
                          <a:latin typeface="Songti SC" pitchFamily="34" charset="0"/>
                          <a:ea typeface="Songti SC" pitchFamily="34" charset="-122"/>
                          <a:cs typeface="Songti SC" pitchFamily="34" charset="-120"/>
                        </a:rPr>
                        <a:t>销量激增申诉（首次）</a:t>
                      </a:r>
                      <a:endParaRPr lang="en-US" sz="1100" dirty="0">
                        <a:latin typeface="Songti SC" charset="0"/>
                        <a:ea typeface="Songti SC" charset="0"/>
                        <a:cs typeface="Songti SC" charset="0"/>
                      </a:endParaRPr>
                    </a:p>
                  </a:txBody>
                  <a:tcPr marL="91440" marR="91440" marT="45720" marB="45720" anchor="ctr">
                    <a:lnL w="3810" cap="flat" cmpd="sng" algn="ctr">
                      <a:solidFill>
                        <a:srgbClr val="BDB3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BDB3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BDB3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BDB3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8F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6E6A5F"/>
                          </a:solidFill>
                          <a:latin typeface="Menlo" pitchFamily="34" charset="0"/>
                          <a:ea typeface="Menlo" pitchFamily="34" charset="-122"/>
                          <a:cs typeface="Menlo" pitchFamily="34" charset="-120"/>
                        </a:rPr>
                        <a:t>¥500 — 3,000</a:t>
                      </a:r>
                      <a:endParaRPr lang="en-US" sz="1100" dirty="0">
                        <a:latin typeface="Menlo" charset="0"/>
                        <a:ea typeface="Menlo" charset="0"/>
                        <a:cs typeface="Menlo" charset="0"/>
                      </a:endParaRPr>
                    </a:p>
                  </a:txBody>
                  <a:tcPr marL="91440" marR="91440" marT="45720" marB="45720" anchor="ctr">
                    <a:lnL w="3810" cap="flat" cmpd="sng" algn="ctr">
                      <a:solidFill>
                        <a:srgbClr val="BDB3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BDB3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BDB3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BDB3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8F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0B3D4F"/>
                          </a:solidFill>
                          <a:latin typeface="Menlo" pitchFamily="34" charset="0"/>
                          <a:ea typeface="Menlo" pitchFamily="34" charset="-122"/>
                          <a:cs typeface="Menlo" pitchFamily="34" charset="-120"/>
                        </a:rPr>
                        <a:t>¥1,500 — 2,500</a:t>
                      </a:r>
                      <a:endParaRPr lang="en-US" sz="1200" dirty="0">
                        <a:latin typeface="Menlo" charset="0"/>
                        <a:ea typeface="Menlo" charset="0"/>
                        <a:cs typeface="Menlo" charset="0"/>
                      </a:endParaRPr>
                    </a:p>
                  </a:txBody>
                  <a:tcPr marL="91440" marR="91440" marT="45720" marB="45720" anchor="ctr">
                    <a:lnL w="3810" cap="flat" cmpd="sng" algn="ctr">
                      <a:solidFill>
                        <a:srgbClr val="BDB3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BDB3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BDB3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BDB3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8F0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41414"/>
                          </a:solidFill>
                          <a:latin typeface="Songti SC" pitchFamily="34" charset="0"/>
                          <a:ea typeface="Songti SC" pitchFamily="34" charset="-122"/>
                          <a:cs typeface="Songti SC" pitchFamily="34" charset="-120"/>
                        </a:rPr>
                        <a:t>操纵评论申诉（首次）</a:t>
                      </a:r>
                      <a:endParaRPr lang="en-US" sz="1100" dirty="0">
                        <a:latin typeface="Songti SC" charset="0"/>
                        <a:ea typeface="Songti SC" charset="0"/>
                        <a:cs typeface="Songti SC" charset="0"/>
                      </a:endParaRPr>
                    </a:p>
                  </a:txBody>
                  <a:tcPr marL="91440" marR="91440" marT="45720" marB="45720" anchor="ctr">
                    <a:lnL w="3810" cap="flat" cmpd="sng" algn="ctr">
                      <a:solidFill>
                        <a:srgbClr val="BDB3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BDB3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BDB3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BDB3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8F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6E6A5F"/>
                          </a:solidFill>
                          <a:latin typeface="Menlo" pitchFamily="34" charset="0"/>
                          <a:ea typeface="Menlo" pitchFamily="34" charset="-122"/>
                          <a:cs typeface="Menlo" pitchFamily="34" charset="-120"/>
                        </a:rPr>
                        <a:t>¥800 — 3,000</a:t>
                      </a:r>
                      <a:endParaRPr lang="en-US" sz="1100" dirty="0">
                        <a:latin typeface="Menlo" charset="0"/>
                        <a:ea typeface="Menlo" charset="0"/>
                        <a:cs typeface="Menlo" charset="0"/>
                      </a:endParaRPr>
                    </a:p>
                  </a:txBody>
                  <a:tcPr marL="91440" marR="91440" marT="45720" marB="45720" anchor="ctr">
                    <a:lnL w="3810" cap="flat" cmpd="sng" algn="ctr">
                      <a:solidFill>
                        <a:srgbClr val="BDB3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BDB3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BDB3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BDB3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8F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0B3D4F"/>
                          </a:solidFill>
                          <a:latin typeface="Menlo" pitchFamily="34" charset="0"/>
                          <a:ea typeface="Menlo" pitchFamily="34" charset="-122"/>
                          <a:cs typeface="Menlo" pitchFamily="34" charset="-120"/>
                        </a:rPr>
                        <a:t>¥2,000 — 3,500</a:t>
                      </a:r>
                      <a:endParaRPr lang="en-US" sz="1200" dirty="0">
                        <a:latin typeface="Menlo" charset="0"/>
                        <a:ea typeface="Menlo" charset="0"/>
                        <a:cs typeface="Menlo" charset="0"/>
                      </a:endParaRPr>
                    </a:p>
                  </a:txBody>
                  <a:tcPr marL="91440" marR="91440" marT="45720" marB="45720" anchor="ctr">
                    <a:lnL w="3810" cap="flat" cmpd="sng" algn="ctr">
                      <a:solidFill>
                        <a:srgbClr val="BDB3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BDB3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BDB3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BDB3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8F0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41414"/>
                          </a:solidFill>
                          <a:latin typeface="Songti SC" pitchFamily="34" charset="0"/>
                          <a:ea typeface="Songti SC" pitchFamily="34" charset="-122"/>
                          <a:cs typeface="Songti SC" pitchFamily="34" charset="-120"/>
                        </a:rPr>
                        <a:t>绩效类  /  有效追踪率</a:t>
                      </a:r>
                      <a:endParaRPr lang="en-US" sz="1100" dirty="0">
                        <a:latin typeface="Songti SC" charset="0"/>
                        <a:ea typeface="Songti SC" charset="0"/>
                        <a:cs typeface="Songti SC" charset="0"/>
                      </a:endParaRPr>
                    </a:p>
                  </a:txBody>
                  <a:tcPr marL="91440" marR="91440" marT="45720" marB="45720" anchor="ctr">
                    <a:lnL w="3810" cap="flat" cmpd="sng" algn="ctr">
                      <a:solidFill>
                        <a:srgbClr val="BDB3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BDB3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BDB3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BDB3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8F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6E6A5F"/>
                          </a:solidFill>
                          <a:latin typeface="Menlo" pitchFamily="34" charset="0"/>
                          <a:ea typeface="Menlo" pitchFamily="34" charset="-122"/>
                          <a:cs typeface="Menlo" pitchFamily="34" charset="-120"/>
                        </a:rPr>
                        <a:t>¥1,000 — 3,000</a:t>
                      </a:r>
                      <a:endParaRPr lang="en-US" sz="1100" dirty="0">
                        <a:latin typeface="Menlo" charset="0"/>
                        <a:ea typeface="Menlo" charset="0"/>
                        <a:cs typeface="Menlo" charset="0"/>
                      </a:endParaRPr>
                    </a:p>
                  </a:txBody>
                  <a:tcPr marL="91440" marR="91440" marT="45720" marB="45720" anchor="ctr">
                    <a:lnL w="3810" cap="flat" cmpd="sng" algn="ctr">
                      <a:solidFill>
                        <a:srgbClr val="BDB3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BDB3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BDB3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BDB3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8F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0B3D4F"/>
                          </a:solidFill>
                          <a:latin typeface="Menlo" pitchFamily="34" charset="0"/>
                          <a:ea typeface="Menlo" pitchFamily="34" charset="-122"/>
                          <a:cs typeface="Menlo" pitchFamily="34" charset="-120"/>
                        </a:rPr>
                        <a:t>¥1,500 — 2,500</a:t>
                      </a:r>
                      <a:endParaRPr lang="en-US" sz="1200" dirty="0">
                        <a:latin typeface="Menlo" charset="0"/>
                        <a:ea typeface="Menlo" charset="0"/>
                        <a:cs typeface="Menlo" charset="0"/>
                      </a:endParaRPr>
                    </a:p>
                  </a:txBody>
                  <a:tcPr marL="91440" marR="91440" marT="45720" marB="45720" anchor="ctr">
                    <a:lnL w="3810" cap="flat" cmpd="sng" algn="ctr">
                      <a:solidFill>
                        <a:srgbClr val="BDB3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BDB3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BDB3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BDB3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8F0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41414"/>
                          </a:solidFill>
                          <a:latin typeface="Songti SC" pitchFamily="34" charset="0"/>
                          <a:ea typeface="Songti SC" pitchFamily="34" charset="-122"/>
                          <a:cs typeface="Songti SC" pitchFamily="34" charset="-120"/>
                        </a:rPr>
                        <a:t>滥用变体  /  包装法违规</a:t>
                      </a:r>
                      <a:endParaRPr lang="en-US" sz="1100" dirty="0">
                        <a:latin typeface="Songti SC" charset="0"/>
                        <a:ea typeface="Songti SC" charset="0"/>
                        <a:cs typeface="Songti SC" charset="0"/>
                      </a:endParaRPr>
                    </a:p>
                  </a:txBody>
                  <a:tcPr marL="91440" marR="91440" marT="45720" marB="45720" anchor="ctr">
                    <a:lnL w="3810" cap="flat" cmpd="sng" algn="ctr">
                      <a:solidFill>
                        <a:srgbClr val="BDB3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BDB3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BDB3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BDB3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8F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6E6A5F"/>
                          </a:solidFill>
                          <a:latin typeface="Menlo" pitchFamily="34" charset="0"/>
                          <a:ea typeface="Menlo" pitchFamily="34" charset="-122"/>
                          <a:cs typeface="Menlo" pitchFamily="34" charset="-120"/>
                        </a:rPr>
                        <a:t>¥1,500 — 4,000</a:t>
                      </a:r>
                      <a:endParaRPr lang="en-US" sz="1100" dirty="0">
                        <a:latin typeface="Menlo" charset="0"/>
                        <a:ea typeface="Menlo" charset="0"/>
                        <a:cs typeface="Menlo" charset="0"/>
                      </a:endParaRPr>
                    </a:p>
                  </a:txBody>
                  <a:tcPr marL="91440" marR="91440" marT="45720" marB="45720" anchor="ctr">
                    <a:lnL w="3810" cap="flat" cmpd="sng" algn="ctr">
                      <a:solidFill>
                        <a:srgbClr val="BDB3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BDB3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BDB3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BDB3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8F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0B3D4F"/>
                          </a:solidFill>
                          <a:latin typeface="Menlo" pitchFamily="34" charset="0"/>
                          <a:ea typeface="Menlo" pitchFamily="34" charset="-122"/>
                          <a:cs typeface="Menlo" pitchFamily="34" charset="-120"/>
                        </a:rPr>
                        <a:t>¥2,500 — 4,000</a:t>
                      </a:r>
                      <a:endParaRPr lang="en-US" sz="1200" dirty="0">
                        <a:latin typeface="Menlo" charset="0"/>
                        <a:ea typeface="Menlo" charset="0"/>
                        <a:cs typeface="Menlo" charset="0"/>
                      </a:endParaRPr>
                    </a:p>
                  </a:txBody>
                  <a:tcPr marL="91440" marR="91440" marT="45720" marB="45720" anchor="ctr">
                    <a:lnL w="3810" cap="flat" cmpd="sng" algn="ctr">
                      <a:solidFill>
                        <a:srgbClr val="BDB3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BDB3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BDB3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BDB3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8F0"/>
                    </a:solidFill>
                  </a:tcPr>
                </a:tc>
              </a:tr>
            </a:tbl>
          </a:graphicData>
        </a:graphic>
      </p:graphicFrame>
      <p:sp>
        <p:nvSpPr>
          <p:cNvPr id="13" name="Text 10"/>
          <p:cNvSpPr/>
          <p:nvPr/>
        </p:nvSpPr>
        <p:spPr>
          <a:xfrm>
            <a:off x="365760" y="475488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200" kern="0" dirty="0">
                <a:solidFill>
                  <a:srgbClr val="6E6A5F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06 / 21</a:t>
            </a:r>
            <a:endParaRPr lang="en-US" sz="900" dirty="0"/>
          </a:p>
        </p:txBody>
      </p:sp>
      <p:sp>
        <p:nvSpPr>
          <p:cNvPr id="14" name="Text 11"/>
          <p:cNvSpPr/>
          <p:nvPr/>
        </p:nvSpPr>
        <p:spPr>
          <a:xfrm>
            <a:off x="6400800" y="475488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6E6A5F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水之明亚马逊申诉服务  ·  销售介绍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6F2E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286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141414"/>
                </a:solidFill>
                <a:latin typeface="Songti SC" pitchFamily="34" charset="0"/>
                <a:ea typeface="Songti SC" pitchFamily="34" charset="-122"/>
                <a:cs typeface="Songti SC" pitchFamily="34" charset="-120"/>
              </a:rPr>
              <a:t>水 之 明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949440" y="2286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141414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肆  ·  PRICING  ·  TIER 二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365760" y="548640"/>
            <a:ext cx="8412480" cy="0"/>
          </a:xfrm>
          <a:prstGeom prst="line">
            <a:avLst/>
          </a:prstGeom>
          <a:noFill/>
          <a:ln w="6350">
            <a:solidFill>
              <a:srgbClr val="D6CFBD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365760" y="822960"/>
            <a:ext cx="8412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41414"/>
                </a:solidFill>
                <a:latin typeface="Songti SC" pitchFamily="34" charset="0"/>
                <a:ea typeface="Songti SC" pitchFamily="34" charset="-122"/>
                <a:cs typeface="Songti SC" pitchFamily="34" charset="-120"/>
              </a:rPr>
              <a:t>二级 · 中等难度</a:t>
            </a:r>
            <a:endParaRPr lang="en-US" sz="3600" dirty="0"/>
          </a:p>
        </p:txBody>
      </p:sp>
      <p:sp>
        <p:nvSpPr>
          <p:cNvPr id="6" name="Text 4"/>
          <p:cNvSpPr/>
          <p:nvPr/>
        </p:nvSpPr>
        <p:spPr>
          <a:xfrm>
            <a:off x="365760" y="150876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E6A5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3–7 天交付。侵权类、关联类、72 小时审核等中等复杂场景。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365760" y="2103120"/>
            <a:ext cx="8412480" cy="502920"/>
          </a:xfrm>
          <a:prstGeom prst="rect">
            <a:avLst/>
          </a:prstGeom>
          <a:solidFill>
            <a:srgbClr val="141414"/>
          </a:solidFill>
          <a:ln/>
        </p:spPr>
      </p:sp>
      <p:sp>
        <p:nvSpPr>
          <p:cNvPr id="8" name="Shape 6"/>
          <p:cNvSpPr/>
          <p:nvPr/>
        </p:nvSpPr>
        <p:spPr>
          <a:xfrm>
            <a:off x="457200" y="2157984"/>
            <a:ext cx="384048" cy="384048"/>
          </a:xfrm>
          <a:prstGeom prst="rect">
            <a:avLst/>
          </a:prstGeom>
          <a:solidFill>
            <a:srgbClr val="F6F2E9"/>
          </a:solidFill>
          <a:ln/>
        </p:spPr>
      </p:sp>
      <p:sp>
        <p:nvSpPr>
          <p:cNvPr id="9" name="Text 7"/>
          <p:cNvSpPr/>
          <p:nvPr/>
        </p:nvSpPr>
        <p:spPr>
          <a:xfrm>
            <a:off x="457200" y="215798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41414"/>
                </a:solidFill>
                <a:latin typeface="Songti SC" pitchFamily="34" charset="0"/>
                <a:ea typeface="Songti SC" pitchFamily="34" charset="-122"/>
                <a:cs typeface="Songti SC" pitchFamily="34" charset="-120"/>
              </a:rPr>
              <a:t>贰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1005840" y="2121408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6F2E9"/>
                </a:solidFill>
                <a:latin typeface="Songti SC" pitchFamily="34" charset="0"/>
                <a:ea typeface="Songti SC" pitchFamily="34" charset="-122"/>
                <a:cs typeface="Songti SC" pitchFamily="34" charset="-120"/>
              </a:rPr>
              <a:t>二 级 · 中等难度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5486400" y="2121408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spc="200" kern="0" dirty="0">
                <a:solidFill>
                  <a:srgbClr val="C7C2B4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TIER 0二  ·  3–7 DAYS</a:t>
            </a:r>
            <a:endParaRPr lang="en-US" sz="10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2697480"/>
          <a:ext cx="8412480" cy="1874520"/>
        </p:xfrm>
        <a:graphic>
          <a:graphicData uri="http://schemas.openxmlformats.org/drawingml/2006/table">
            <a:tbl>
              <a:tblPr/>
              <a:tblGrid>
                <a:gridCol w="4206240"/>
                <a:gridCol w="2103120"/>
                <a:gridCol w="2103120"/>
              </a:tblGrid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41414"/>
                          </a:solidFill>
                          <a:latin typeface="Songti SC" pitchFamily="34" charset="0"/>
                          <a:ea typeface="Songti SC" pitchFamily="34" charset="-122"/>
                          <a:cs typeface="Songti SC" pitchFamily="34" charset="-120"/>
                        </a:rPr>
                        <a:t>申诉类型</a:t>
                      </a:r>
                      <a:endParaRPr lang="en-US" sz="1100" dirty="0">
                        <a:latin typeface="Songti SC" charset="0"/>
                        <a:ea typeface="Songti SC" charset="0"/>
                        <a:cs typeface="Songti SC" charset="0"/>
                      </a:endParaRPr>
                    </a:p>
                  </a:txBody>
                  <a:tcPr marL="91440" marR="91440" marT="45720" marB="45720" anchor="ctr">
                    <a:lnL w="3810" cap="flat" cmpd="sng" algn="ctr">
                      <a:solidFill>
                        <a:srgbClr val="BDB3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BDB3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BDB3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BDB3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E7D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141414"/>
                          </a:solidFill>
                          <a:latin typeface="Menlo" pitchFamily="34" charset="0"/>
                          <a:ea typeface="Menlo" pitchFamily="34" charset="-122"/>
                          <a:cs typeface="Menlo" pitchFamily="34" charset="-120"/>
                        </a:rPr>
                        <a:t>行业价格区间</a:t>
                      </a:r>
                      <a:endParaRPr lang="en-US" sz="1100" dirty="0">
                        <a:latin typeface="Menlo" charset="0"/>
                        <a:ea typeface="Menlo" charset="0"/>
                        <a:cs typeface="Menlo" charset="0"/>
                      </a:endParaRPr>
                    </a:p>
                  </a:txBody>
                  <a:tcPr marL="91440" marR="91440" marT="45720" marB="45720" anchor="ctr">
                    <a:lnL w="3810" cap="flat" cmpd="sng" algn="ctr">
                      <a:solidFill>
                        <a:srgbClr val="BDB3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BDB3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BDB3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BDB3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E7D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141414"/>
                          </a:solidFill>
                          <a:latin typeface="Menlo" pitchFamily="34" charset="0"/>
                          <a:ea typeface="Menlo" pitchFamily="34" charset="-122"/>
                          <a:cs typeface="Menlo" pitchFamily="34" charset="-120"/>
                        </a:rPr>
                        <a:t>水之明报价</a:t>
                      </a:r>
                      <a:endParaRPr lang="en-US" sz="1100" dirty="0">
                        <a:latin typeface="Menlo" charset="0"/>
                        <a:ea typeface="Menlo" charset="0"/>
                        <a:cs typeface="Menlo" charset="0"/>
                      </a:endParaRPr>
                    </a:p>
                  </a:txBody>
                  <a:tcPr marL="91440" marR="91440" marT="45720" marB="45720" anchor="ctr">
                    <a:lnL w="3810" cap="flat" cmpd="sng" algn="ctr">
                      <a:solidFill>
                        <a:srgbClr val="BDB3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BDB3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BDB3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BDB3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E7D7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41414"/>
                          </a:solidFill>
                          <a:latin typeface="Songti SC" pitchFamily="34" charset="0"/>
                          <a:ea typeface="Songti SC" pitchFamily="34" charset="-122"/>
                          <a:cs typeface="Songti SC" pitchFamily="34" charset="-120"/>
                        </a:rPr>
                        <a:t>商标侵权申诉</a:t>
                      </a:r>
                      <a:endParaRPr lang="en-US" sz="1100" dirty="0">
                        <a:latin typeface="Songti SC" charset="0"/>
                        <a:ea typeface="Songti SC" charset="0"/>
                        <a:cs typeface="Songti SC" charset="0"/>
                      </a:endParaRPr>
                    </a:p>
                  </a:txBody>
                  <a:tcPr marL="91440" marR="91440" marT="45720" marB="45720" anchor="ctr">
                    <a:lnL w="3810" cap="flat" cmpd="sng" algn="ctr">
                      <a:solidFill>
                        <a:srgbClr val="BDB3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BDB3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BDB3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BDB3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8F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6E6A5F"/>
                          </a:solidFill>
                          <a:latin typeface="Menlo" pitchFamily="34" charset="0"/>
                          <a:ea typeface="Menlo" pitchFamily="34" charset="-122"/>
                          <a:cs typeface="Menlo" pitchFamily="34" charset="-120"/>
                        </a:rPr>
                        <a:t>¥2,000 — 6,000</a:t>
                      </a:r>
                      <a:endParaRPr lang="en-US" sz="1100" dirty="0">
                        <a:latin typeface="Menlo" charset="0"/>
                        <a:ea typeface="Menlo" charset="0"/>
                        <a:cs typeface="Menlo" charset="0"/>
                      </a:endParaRPr>
                    </a:p>
                  </a:txBody>
                  <a:tcPr marL="91440" marR="91440" marT="45720" marB="45720" anchor="ctr">
                    <a:lnL w="3810" cap="flat" cmpd="sng" algn="ctr">
                      <a:solidFill>
                        <a:srgbClr val="BDB3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BDB3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BDB3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BDB3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8F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0B3D4F"/>
                          </a:solidFill>
                          <a:latin typeface="Menlo" pitchFamily="34" charset="0"/>
                          <a:ea typeface="Menlo" pitchFamily="34" charset="-122"/>
                          <a:cs typeface="Menlo" pitchFamily="34" charset="-120"/>
                        </a:rPr>
                        <a:t>¥3,500 — 6,000</a:t>
                      </a:r>
                      <a:endParaRPr lang="en-US" sz="1200" dirty="0">
                        <a:latin typeface="Menlo" charset="0"/>
                        <a:ea typeface="Menlo" charset="0"/>
                        <a:cs typeface="Menlo" charset="0"/>
                      </a:endParaRPr>
                    </a:p>
                  </a:txBody>
                  <a:tcPr marL="91440" marR="91440" marT="45720" marB="45720" anchor="ctr">
                    <a:lnL w="3810" cap="flat" cmpd="sng" algn="ctr">
                      <a:solidFill>
                        <a:srgbClr val="BDB3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BDB3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BDB3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BDB3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8F0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41414"/>
                          </a:solidFill>
                          <a:latin typeface="Songti SC" pitchFamily="34" charset="0"/>
                          <a:ea typeface="Songti SC" pitchFamily="34" charset="-122"/>
                          <a:cs typeface="Songti SC" pitchFamily="34" charset="-120"/>
                        </a:rPr>
                        <a:t>版权  /  专利侵权申诉</a:t>
                      </a:r>
                      <a:endParaRPr lang="en-US" sz="1100" dirty="0">
                        <a:latin typeface="Songti SC" charset="0"/>
                        <a:ea typeface="Songti SC" charset="0"/>
                        <a:cs typeface="Songti SC" charset="0"/>
                      </a:endParaRPr>
                    </a:p>
                  </a:txBody>
                  <a:tcPr marL="91440" marR="91440" marT="45720" marB="45720" anchor="ctr">
                    <a:lnL w="3810" cap="flat" cmpd="sng" algn="ctr">
                      <a:solidFill>
                        <a:srgbClr val="BDB3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BDB3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BDB3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BDB3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8F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6E6A5F"/>
                          </a:solidFill>
                          <a:latin typeface="Menlo" pitchFamily="34" charset="0"/>
                          <a:ea typeface="Menlo" pitchFamily="34" charset="-122"/>
                          <a:cs typeface="Menlo" pitchFamily="34" charset="-120"/>
                        </a:rPr>
                        <a:t>¥2,000 — 6,000</a:t>
                      </a:r>
                      <a:endParaRPr lang="en-US" sz="1100" dirty="0">
                        <a:latin typeface="Menlo" charset="0"/>
                        <a:ea typeface="Menlo" charset="0"/>
                        <a:cs typeface="Menlo" charset="0"/>
                      </a:endParaRPr>
                    </a:p>
                  </a:txBody>
                  <a:tcPr marL="91440" marR="91440" marT="45720" marB="45720" anchor="ctr">
                    <a:lnL w="3810" cap="flat" cmpd="sng" algn="ctr">
                      <a:solidFill>
                        <a:srgbClr val="BDB3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BDB3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BDB3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BDB3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8F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0B3D4F"/>
                          </a:solidFill>
                          <a:latin typeface="Menlo" pitchFamily="34" charset="0"/>
                          <a:ea typeface="Menlo" pitchFamily="34" charset="-122"/>
                          <a:cs typeface="Menlo" pitchFamily="34" charset="-120"/>
                        </a:rPr>
                        <a:t>¥3,500 — 6,000</a:t>
                      </a:r>
                      <a:endParaRPr lang="en-US" sz="1200" dirty="0">
                        <a:latin typeface="Menlo" charset="0"/>
                        <a:ea typeface="Menlo" charset="0"/>
                        <a:cs typeface="Menlo" charset="0"/>
                      </a:endParaRPr>
                    </a:p>
                  </a:txBody>
                  <a:tcPr marL="91440" marR="91440" marT="45720" marB="45720" anchor="ctr">
                    <a:lnL w="3810" cap="flat" cmpd="sng" algn="ctr">
                      <a:solidFill>
                        <a:srgbClr val="BDB3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BDB3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BDB3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BDB3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8F0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41414"/>
                          </a:solidFill>
                          <a:latin typeface="Songti SC" pitchFamily="34" charset="0"/>
                          <a:ea typeface="Songti SC" pitchFamily="34" charset="-122"/>
                          <a:cs typeface="Songti SC" pitchFamily="34" charset="-120"/>
                        </a:rPr>
                        <a:t>72 小时店铺审核（含加急）</a:t>
                      </a:r>
                      <a:endParaRPr lang="en-US" sz="1100" dirty="0">
                        <a:latin typeface="Songti SC" charset="0"/>
                        <a:ea typeface="Songti SC" charset="0"/>
                        <a:cs typeface="Songti SC" charset="0"/>
                      </a:endParaRPr>
                    </a:p>
                  </a:txBody>
                  <a:tcPr marL="91440" marR="91440" marT="45720" marB="45720" anchor="ctr">
                    <a:lnL w="3810" cap="flat" cmpd="sng" algn="ctr">
                      <a:solidFill>
                        <a:srgbClr val="BDB3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BDB3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BDB3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BDB3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8F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6E6A5F"/>
                          </a:solidFill>
                          <a:latin typeface="Menlo" pitchFamily="34" charset="0"/>
                          <a:ea typeface="Menlo" pitchFamily="34" charset="-122"/>
                          <a:cs typeface="Menlo" pitchFamily="34" charset="-120"/>
                        </a:rPr>
                        <a:t>¥3,000 — 8,000</a:t>
                      </a:r>
                      <a:endParaRPr lang="en-US" sz="1100" dirty="0">
                        <a:latin typeface="Menlo" charset="0"/>
                        <a:ea typeface="Menlo" charset="0"/>
                        <a:cs typeface="Menlo" charset="0"/>
                      </a:endParaRPr>
                    </a:p>
                  </a:txBody>
                  <a:tcPr marL="91440" marR="91440" marT="45720" marB="45720" anchor="ctr">
                    <a:lnL w="3810" cap="flat" cmpd="sng" algn="ctr">
                      <a:solidFill>
                        <a:srgbClr val="BDB3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BDB3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BDB3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BDB3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8F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0B3D4F"/>
                          </a:solidFill>
                          <a:latin typeface="Menlo" pitchFamily="34" charset="0"/>
                          <a:ea typeface="Menlo" pitchFamily="34" charset="-122"/>
                          <a:cs typeface="Menlo" pitchFamily="34" charset="-120"/>
                        </a:rPr>
                        <a:t>¥4,500 — 7,000</a:t>
                      </a:r>
                      <a:endParaRPr lang="en-US" sz="1200" dirty="0">
                        <a:latin typeface="Menlo" charset="0"/>
                        <a:ea typeface="Menlo" charset="0"/>
                        <a:cs typeface="Menlo" charset="0"/>
                      </a:endParaRPr>
                    </a:p>
                  </a:txBody>
                  <a:tcPr marL="91440" marR="91440" marT="45720" marB="45720" anchor="ctr">
                    <a:lnL w="3810" cap="flat" cmpd="sng" algn="ctr">
                      <a:solidFill>
                        <a:srgbClr val="BDB3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BDB3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BDB3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BDB3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8F0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41414"/>
                          </a:solidFill>
                          <a:latin typeface="Songti SC" pitchFamily="34" charset="0"/>
                          <a:ea typeface="Songti SC" pitchFamily="34" charset="-122"/>
                          <a:cs typeface="Songti SC" pitchFamily="34" charset="-120"/>
                        </a:rPr>
                        <a:t>关联申诉（初次）</a:t>
                      </a:r>
                      <a:endParaRPr lang="en-US" sz="1100" dirty="0">
                        <a:latin typeface="Songti SC" charset="0"/>
                        <a:ea typeface="Songti SC" charset="0"/>
                        <a:cs typeface="Songti SC" charset="0"/>
                      </a:endParaRPr>
                    </a:p>
                  </a:txBody>
                  <a:tcPr marL="91440" marR="91440" marT="45720" marB="45720" anchor="ctr">
                    <a:lnL w="3810" cap="flat" cmpd="sng" algn="ctr">
                      <a:solidFill>
                        <a:srgbClr val="BDB3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BDB3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BDB3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BDB3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8F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6E6A5F"/>
                          </a:solidFill>
                          <a:latin typeface="Menlo" pitchFamily="34" charset="0"/>
                          <a:ea typeface="Menlo" pitchFamily="34" charset="-122"/>
                          <a:cs typeface="Menlo" pitchFamily="34" charset="-120"/>
                        </a:rPr>
                        <a:t>¥3,000 — 10,000</a:t>
                      </a:r>
                      <a:endParaRPr lang="en-US" sz="1100" dirty="0">
                        <a:latin typeface="Menlo" charset="0"/>
                        <a:ea typeface="Menlo" charset="0"/>
                        <a:cs typeface="Menlo" charset="0"/>
                      </a:endParaRPr>
                    </a:p>
                  </a:txBody>
                  <a:tcPr marL="91440" marR="91440" marT="45720" marB="45720" anchor="ctr">
                    <a:lnL w="3810" cap="flat" cmpd="sng" algn="ctr">
                      <a:solidFill>
                        <a:srgbClr val="BDB3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BDB3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BDB3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BDB3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8F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0B3D4F"/>
                          </a:solidFill>
                          <a:latin typeface="Menlo" pitchFamily="34" charset="0"/>
                          <a:ea typeface="Menlo" pitchFamily="34" charset="-122"/>
                          <a:cs typeface="Menlo" pitchFamily="34" charset="-120"/>
                        </a:rPr>
                        <a:t>¥5,000 — 8,000</a:t>
                      </a:r>
                      <a:endParaRPr lang="en-US" sz="1200" dirty="0">
                        <a:latin typeface="Menlo" charset="0"/>
                        <a:ea typeface="Menlo" charset="0"/>
                        <a:cs typeface="Menlo" charset="0"/>
                      </a:endParaRPr>
                    </a:p>
                  </a:txBody>
                  <a:tcPr marL="91440" marR="91440" marT="45720" marB="45720" anchor="ctr">
                    <a:lnL w="3810" cap="flat" cmpd="sng" algn="ctr">
                      <a:solidFill>
                        <a:srgbClr val="BDB3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BDB3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BDB3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BDB3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8F0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41414"/>
                          </a:solidFill>
                          <a:latin typeface="Songti SC" pitchFamily="34" charset="0"/>
                          <a:ea typeface="Songti SC" pitchFamily="34" charset="-122"/>
                          <a:cs typeface="Songti SC" pitchFamily="34" charset="-120"/>
                        </a:rPr>
                        <a:t>禁限售  /  受限商品申诉</a:t>
                      </a:r>
                      <a:endParaRPr lang="en-US" sz="1100" dirty="0">
                        <a:latin typeface="Songti SC" charset="0"/>
                        <a:ea typeface="Songti SC" charset="0"/>
                        <a:cs typeface="Songti SC" charset="0"/>
                      </a:endParaRPr>
                    </a:p>
                  </a:txBody>
                  <a:tcPr marL="91440" marR="91440" marT="45720" marB="45720" anchor="ctr">
                    <a:lnL w="3810" cap="flat" cmpd="sng" algn="ctr">
                      <a:solidFill>
                        <a:srgbClr val="BDB3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BDB3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BDB3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BDB3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8F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6E6A5F"/>
                          </a:solidFill>
                          <a:latin typeface="Menlo" pitchFamily="34" charset="0"/>
                          <a:ea typeface="Menlo" pitchFamily="34" charset="-122"/>
                          <a:cs typeface="Menlo" pitchFamily="34" charset="-120"/>
                        </a:rPr>
                        <a:t>¥2,000 — 5,000</a:t>
                      </a:r>
                      <a:endParaRPr lang="en-US" sz="1100" dirty="0">
                        <a:latin typeface="Menlo" charset="0"/>
                        <a:ea typeface="Menlo" charset="0"/>
                        <a:cs typeface="Menlo" charset="0"/>
                      </a:endParaRPr>
                    </a:p>
                  </a:txBody>
                  <a:tcPr marL="91440" marR="91440" marT="45720" marB="45720" anchor="ctr">
                    <a:lnL w="3810" cap="flat" cmpd="sng" algn="ctr">
                      <a:solidFill>
                        <a:srgbClr val="BDB3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BDB3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BDB3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BDB3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8F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0B3D4F"/>
                          </a:solidFill>
                          <a:latin typeface="Menlo" pitchFamily="34" charset="0"/>
                          <a:ea typeface="Menlo" pitchFamily="34" charset="-122"/>
                          <a:cs typeface="Menlo" pitchFamily="34" charset="-120"/>
                        </a:rPr>
                        <a:t>¥3,500 — 5,500</a:t>
                      </a:r>
                      <a:endParaRPr lang="en-US" sz="1200" dirty="0">
                        <a:latin typeface="Menlo" charset="0"/>
                        <a:ea typeface="Menlo" charset="0"/>
                        <a:cs typeface="Menlo" charset="0"/>
                      </a:endParaRPr>
                    </a:p>
                  </a:txBody>
                  <a:tcPr marL="91440" marR="91440" marT="45720" marB="45720" anchor="ctr">
                    <a:lnL w="3810" cap="flat" cmpd="sng" algn="ctr">
                      <a:solidFill>
                        <a:srgbClr val="BDB3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BDB3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BDB3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BDB3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8F0"/>
                    </a:solidFill>
                  </a:tcPr>
                </a:tc>
              </a:tr>
            </a:tbl>
          </a:graphicData>
        </a:graphic>
      </p:graphicFrame>
      <p:sp>
        <p:nvSpPr>
          <p:cNvPr id="13" name="Text 10"/>
          <p:cNvSpPr/>
          <p:nvPr/>
        </p:nvSpPr>
        <p:spPr>
          <a:xfrm>
            <a:off x="365760" y="475488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200" kern="0" dirty="0">
                <a:solidFill>
                  <a:srgbClr val="6E6A5F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07 / 21</a:t>
            </a:r>
            <a:endParaRPr lang="en-US" sz="900" dirty="0"/>
          </a:p>
        </p:txBody>
      </p:sp>
      <p:sp>
        <p:nvSpPr>
          <p:cNvPr id="14" name="Text 11"/>
          <p:cNvSpPr/>
          <p:nvPr/>
        </p:nvSpPr>
        <p:spPr>
          <a:xfrm>
            <a:off x="6400800" y="475488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6E6A5F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水之明亚马逊申诉服务  ·  销售介绍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6F2E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286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141414"/>
                </a:solidFill>
                <a:latin typeface="Songti SC" pitchFamily="34" charset="0"/>
                <a:ea typeface="Songti SC" pitchFamily="34" charset="-122"/>
                <a:cs typeface="Songti SC" pitchFamily="34" charset="-120"/>
              </a:rPr>
              <a:t>水 之 明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949440" y="2286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141414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肆  ·  PRICING  ·  TIER 三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365760" y="548640"/>
            <a:ext cx="8412480" cy="0"/>
          </a:xfrm>
          <a:prstGeom prst="line">
            <a:avLst/>
          </a:prstGeom>
          <a:noFill/>
          <a:ln w="6350">
            <a:solidFill>
              <a:srgbClr val="D6CFBD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365760" y="822960"/>
            <a:ext cx="8412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41414"/>
                </a:solidFill>
                <a:latin typeface="Songti SC" pitchFamily="34" charset="0"/>
                <a:ea typeface="Songti SC" pitchFamily="34" charset="-122"/>
                <a:cs typeface="Songti SC" pitchFamily="34" charset="-120"/>
              </a:rPr>
              <a:t>三级 · 疑难申诉</a:t>
            </a:r>
            <a:endParaRPr lang="en-US" sz="3600" dirty="0"/>
          </a:p>
        </p:txBody>
      </p:sp>
      <p:sp>
        <p:nvSpPr>
          <p:cNvPr id="6" name="Text 4"/>
          <p:cNvSpPr/>
          <p:nvPr/>
        </p:nvSpPr>
        <p:spPr>
          <a:xfrm>
            <a:off x="365760" y="150876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E6A5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7–30 天交付。二审、KYC、视频验证等高难度长周期场景。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365760" y="2103120"/>
            <a:ext cx="8412480" cy="502920"/>
          </a:xfrm>
          <a:prstGeom prst="rect">
            <a:avLst/>
          </a:prstGeom>
          <a:solidFill>
            <a:srgbClr val="141414"/>
          </a:solidFill>
          <a:ln/>
        </p:spPr>
      </p:sp>
      <p:sp>
        <p:nvSpPr>
          <p:cNvPr id="8" name="Shape 6"/>
          <p:cNvSpPr/>
          <p:nvPr/>
        </p:nvSpPr>
        <p:spPr>
          <a:xfrm>
            <a:off x="457200" y="2157984"/>
            <a:ext cx="384048" cy="384048"/>
          </a:xfrm>
          <a:prstGeom prst="rect">
            <a:avLst/>
          </a:prstGeom>
          <a:solidFill>
            <a:srgbClr val="F6F2E9"/>
          </a:solidFill>
          <a:ln/>
        </p:spPr>
      </p:sp>
      <p:sp>
        <p:nvSpPr>
          <p:cNvPr id="9" name="Text 7"/>
          <p:cNvSpPr/>
          <p:nvPr/>
        </p:nvSpPr>
        <p:spPr>
          <a:xfrm>
            <a:off x="457200" y="215798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41414"/>
                </a:solidFill>
                <a:latin typeface="Songti SC" pitchFamily="34" charset="0"/>
                <a:ea typeface="Songti SC" pitchFamily="34" charset="-122"/>
                <a:cs typeface="Songti SC" pitchFamily="34" charset="-120"/>
              </a:rPr>
              <a:t>叁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1005840" y="2121408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6F2E9"/>
                </a:solidFill>
                <a:latin typeface="Songti SC" pitchFamily="34" charset="0"/>
                <a:ea typeface="Songti SC" pitchFamily="34" charset="-122"/>
                <a:cs typeface="Songti SC" pitchFamily="34" charset="-120"/>
              </a:rPr>
              <a:t>三 级 · 疑难申诉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5486400" y="2121408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spc="200" kern="0" dirty="0">
                <a:solidFill>
                  <a:srgbClr val="C7C2B4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TIER 0三  ·  7–30 DAYS</a:t>
            </a:r>
            <a:endParaRPr lang="en-US" sz="10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2697480"/>
          <a:ext cx="8412480" cy="1874520"/>
        </p:xfrm>
        <a:graphic>
          <a:graphicData uri="http://schemas.openxmlformats.org/drawingml/2006/table">
            <a:tbl>
              <a:tblPr/>
              <a:tblGrid>
                <a:gridCol w="4206240"/>
                <a:gridCol w="2103120"/>
                <a:gridCol w="2103120"/>
              </a:tblGrid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41414"/>
                          </a:solidFill>
                          <a:latin typeface="Songti SC" pitchFamily="34" charset="0"/>
                          <a:ea typeface="Songti SC" pitchFamily="34" charset="-122"/>
                          <a:cs typeface="Songti SC" pitchFamily="34" charset="-120"/>
                        </a:rPr>
                        <a:t>申诉类型</a:t>
                      </a:r>
                      <a:endParaRPr lang="en-US" sz="1100" dirty="0">
                        <a:latin typeface="Songti SC" charset="0"/>
                        <a:ea typeface="Songti SC" charset="0"/>
                        <a:cs typeface="Songti SC" charset="0"/>
                      </a:endParaRPr>
                    </a:p>
                  </a:txBody>
                  <a:tcPr marL="91440" marR="91440" marT="45720" marB="45720" anchor="ctr">
                    <a:lnL w="3810" cap="flat" cmpd="sng" algn="ctr">
                      <a:solidFill>
                        <a:srgbClr val="BDB3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BDB3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BDB3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BDB3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E7D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141414"/>
                          </a:solidFill>
                          <a:latin typeface="Menlo" pitchFamily="34" charset="0"/>
                          <a:ea typeface="Menlo" pitchFamily="34" charset="-122"/>
                          <a:cs typeface="Menlo" pitchFamily="34" charset="-120"/>
                        </a:rPr>
                        <a:t>行业价格区间</a:t>
                      </a:r>
                      <a:endParaRPr lang="en-US" sz="1100" dirty="0">
                        <a:latin typeface="Menlo" charset="0"/>
                        <a:ea typeface="Menlo" charset="0"/>
                        <a:cs typeface="Menlo" charset="0"/>
                      </a:endParaRPr>
                    </a:p>
                  </a:txBody>
                  <a:tcPr marL="91440" marR="91440" marT="45720" marB="45720" anchor="ctr">
                    <a:lnL w="3810" cap="flat" cmpd="sng" algn="ctr">
                      <a:solidFill>
                        <a:srgbClr val="BDB3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BDB3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BDB3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BDB3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E7D7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141414"/>
                          </a:solidFill>
                          <a:latin typeface="Menlo" pitchFamily="34" charset="0"/>
                          <a:ea typeface="Menlo" pitchFamily="34" charset="-122"/>
                          <a:cs typeface="Menlo" pitchFamily="34" charset="-120"/>
                        </a:rPr>
                        <a:t>水之明报价</a:t>
                      </a:r>
                      <a:endParaRPr lang="en-US" sz="1100" dirty="0">
                        <a:latin typeface="Menlo" charset="0"/>
                        <a:ea typeface="Menlo" charset="0"/>
                        <a:cs typeface="Menlo" charset="0"/>
                      </a:endParaRPr>
                    </a:p>
                  </a:txBody>
                  <a:tcPr marL="91440" marR="91440" marT="45720" marB="45720" anchor="ctr">
                    <a:lnL w="3810" cap="flat" cmpd="sng" algn="ctr">
                      <a:solidFill>
                        <a:srgbClr val="BDB3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BDB3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BDB3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BDB3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E7D7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41414"/>
                          </a:solidFill>
                          <a:latin typeface="Songti SC" pitchFamily="34" charset="0"/>
                          <a:ea typeface="Songti SC" pitchFamily="34" charset="-122"/>
                          <a:cs typeface="Songti SC" pitchFamily="34" charset="-120"/>
                        </a:rPr>
                        <a:t>二审（法人配合）</a:t>
                      </a:r>
                      <a:endParaRPr lang="en-US" sz="1100" dirty="0">
                        <a:latin typeface="Songti SC" charset="0"/>
                        <a:ea typeface="Songti SC" charset="0"/>
                        <a:cs typeface="Songti SC" charset="0"/>
                      </a:endParaRPr>
                    </a:p>
                  </a:txBody>
                  <a:tcPr marL="91440" marR="91440" marT="45720" marB="45720" anchor="ctr">
                    <a:lnL w="3810" cap="flat" cmpd="sng" algn="ctr">
                      <a:solidFill>
                        <a:srgbClr val="BDB3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BDB3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BDB3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BDB3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8F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6E6A5F"/>
                          </a:solidFill>
                          <a:latin typeface="Menlo" pitchFamily="34" charset="0"/>
                          <a:ea typeface="Menlo" pitchFamily="34" charset="-122"/>
                          <a:cs typeface="Menlo" pitchFamily="34" charset="-120"/>
                        </a:rPr>
                        <a:t>¥5,000 — 15,000</a:t>
                      </a:r>
                      <a:endParaRPr lang="en-US" sz="1100" dirty="0">
                        <a:latin typeface="Menlo" charset="0"/>
                        <a:ea typeface="Menlo" charset="0"/>
                        <a:cs typeface="Menlo" charset="0"/>
                      </a:endParaRPr>
                    </a:p>
                  </a:txBody>
                  <a:tcPr marL="91440" marR="91440" marT="45720" marB="45720" anchor="ctr">
                    <a:lnL w="3810" cap="flat" cmpd="sng" algn="ctr">
                      <a:solidFill>
                        <a:srgbClr val="BDB3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BDB3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BDB3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BDB3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8F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0B3D4F"/>
                          </a:solidFill>
                          <a:latin typeface="Menlo" pitchFamily="34" charset="0"/>
                          <a:ea typeface="Menlo" pitchFamily="34" charset="-122"/>
                          <a:cs typeface="Menlo" pitchFamily="34" charset="-120"/>
                        </a:rPr>
                        <a:t>¥8,000 — 12,000</a:t>
                      </a:r>
                      <a:endParaRPr lang="en-US" sz="1200" dirty="0">
                        <a:latin typeface="Menlo" charset="0"/>
                        <a:ea typeface="Menlo" charset="0"/>
                        <a:cs typeface="Menlo" charset="0"/>
                      </a:endParaRPr>
                    </a:p>
                  </a:txBody>
                  <a:tcPr marL="91440" marR="91440" marT="45720" marB="45720" anchor="ctr">
                    <a:lnL w="3810" cap="flat" cmpd="sng" algn="ctr">
                      <a:solidFill>
                        <a:srgbClr val="BDB3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BDB3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BDB3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BDB3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8F0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41414"/>
                          </a:solidFill>
                          <a:latin typeface="Songti SC" pitchFamily="34" charset="0"/>
                          <a:ea typeface="Songti SC" pitchFamily="34" charset="-122"/>
                          <a:cs typeface="Songti SC" pitchFamily="34" charset="-120"/>
                        </a:rPr>
                        <a:t>KYC 审核（法人配合）</a:t>
                      </a:r>
                      <a:endParaRPr lang="en-US" sz="1100" dirty="0">
                        <a:latin typeface="Songti SC" charset="0"/>
                        <a:ea typeface="Songti SC" charset="0"/>
                        <a:cs typeface="Songti SC" charset="0"/>
                      </a:endParaRPr>
                    </a:p>
                  </a:txBody>
                  <a:tcPr marL="91440" marR="91440" marT="45720" marB="45720" anchor="ctr">
                    <a:lnL w="3810" cap="flat" cmpd="sng" algn="ctr">
                      <a:solidFill>
                        <a:srgbClr val="BDB3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BDB3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BDB3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BDB3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8F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6E6A5F"/>
                          </a:solidFill>
                          <a:latin typeface="Menlo" pitchFamily="34" charset="0"/>
                          <a:ea typeface="Menlo" pitchFamily="34" charset="-122"/>
                          <a:cs typeface="Menlo" pitchFamily="34" charset="-120"/>
                        </a:rPr>
                        <a:t>¥5,000 — 12,000</a:t>
                      </a:r>
                      <a:endParaRPr lang="en-US" sz="1100" dirty="0">
                        <a:latin typeface="Menlo" charset="0"/>
                        <a:ea typeface="Menlo" charset="0"/>
                        <a:cs typeface="Menlo" charset="0"/>
                      </a:endParaRPr>
                    </a:p>
                  </a:txBody>
                  <a:tcPr marL="91440" marR="91440" marT="45720" marB="45720" anchor="ctr">
                    <a:lnL w="3810" cap="flat" cmpd="sng" algn="ctr">
                      <a:solidFill>
                        <a:srgbClr val="BDB3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BDB3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BDB3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BDB3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8F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0B3D4F"/>
                          </a:solidFill>
                          <a:latin typeface="Menlo" pitchFamily="34" charset="0"/>
                          <a:ea typeface="Menlo" pitchFamily="34" charset="-122"/>
                          <a:cs typeface="Menlo" pitchFamily="34" charset="-120"/>
                        </a:rPr>
                        <a:t>¥7,000 — 10,000</a:t>
                      </a:r>
                      <a:endParaRPr lang="en-US" sz="1200" dirty="0">
                        <a:latin typeface="Menlo" charset="0"/>
                        <a:ea typeface="Menlo" charset="0"/>
                        <a:cs typeface="Menlo" charset="0"/>
                      </a:endParaRPr>
                    </a:p>
                  </a:txBody>
                  <a:tcPr marL="91440" marR="91440" marT="45720" marB="45720" anchor="ctr">
                    <a:lnL w="3810" cap="flat" cmpd="sng" algn="ctr">
                      <a:solidFill>
                        <a:srgbClr val="BDB3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BDB3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BDB3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BDB3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8F0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41414"/>
                          </a:solidFill>
                          <a:latin typeface="Songti SC" pitchFamily="34" charset="0"/>
                          <a:ea typeface="Songti SC" pitchFamily="34" charset="-122"/>
                          <a:cs typeface="Songti SC" pitchFamily="34" charset="-120"/>
                        </a:rPr>
                        <a:t>视频验证（法人配合）</a:t>
                      </a:r>
                      <a:endParaRPr lang="en-US" sz="1100" dirty="0">
                        <a:latin typeface="Songti SC" charset="0"/>
                        <a:ea typeface="Songti SC" charset="0"/>
                        <a:cs typeface="Songti SC" charset="0"/>
                      </a:endParaRPr>
                    </a:p>
                  </a:txBody>
                  <a:tcPr marL="91440" marR="91440" marT="45720" marB="45720" anchor="ctr">
                    <a:lnL w="3810" cap="flat" cmpd="sng" algn="ctr">
                      <a:solidFill>
                        <a:srgbClr val="BDB3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BDB3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BDB3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BDB3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8F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6E6A5F"/>
                          </a:solidFill>
                          <a:latin typeface="Menlo" pitchFamily="34" charset="0"/>
                          <a:ea typeface="Menlo" pitchFamily="34" charset="-122"/>
                          <a:cs typeface="Menlo" pitchFamily="34" charset="-120"/>
                        </a:rPr>
                        <a:t>¥8,000 — 15,000</a:t>
                      </a:r>
                      <a:endParaRPr lang="en-US" sz="1100" dirty="0">
                        <a:latin typeface="Menlo" charset="0"/>
                        <a:ea typeface="Menlo" charset="0"/>
                        <a:cs typeface="Menlo" charset="0"/>
                      </a:endParaRPr>
                    </a:p>
                  </a:txBody>
                  <a:tcPr marL="91440" marR="91440" marT="45720" marB="45720" anchor="ctr">
                    <a:lnL w="3810" cap="flat" cmpd="sng" algn="ctr">
                      <a:solidFill>
                        <a:srgbClr val="BDB3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BDB3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BDB3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BDB3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8F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0B3D4F"/>
                          </a:solidFill>
                          <a:latin typeface="Menlo" pitchFamily="34" charset="0"/>
                          <a:ea typeface="Menlo" pitchFamily="34" charset="-122"/>
                          <a:cs typeface="Menlo" pitchFamily="34" charset="-120"/>
                        </a:rPr>
                        <a:t>¥10,000 — 15,000</a:t>
                      </a:r>
                      <a:endParaRPr lang="en-US" sz="1200" dirty="0">
                        <a:latin typeface="Menlo" charset="0"/>
                        <a:ea typeface="Menlo" charset="0"/>
                        <a:cs typeface="Menlo" charset="0"/>
                      </a:endParaRPr>
                    </a:p>
                  </a:txBody>
                  <a:tcPr marL="91440" marR="91440" marT="45720" marB="45720" anchor="ctr">
                    <a:lnL w="3810" cap="flat" cmpd="sng" algn="ctr">
                      <a:solidFill>
                        <a:srgbClr val="BDB3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BDB3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BDB3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BDB3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8F0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41414"/>
                          </a:solidFill>
                          <a:latin typeface="Songti SC" pitchFamily="34" charset="0"/>
                          <a:ea typeface="Songti SC" pitchFamily="34" charset="-122"/>
                          <a:cs typeface="Songti SC" pitchFamily="34" charset="-120"/>
                        </a:rPr>
                        <a:t>视频验证（法人无法配合）</a:t>
                      </a:r>
                      <a:endParaRPr lang="en-US" sz="1100" dirty="0">
                        <a:latin typeface="Songti SC" charset="0"/>
                        <a:ea typeface="Songti SC" charset="0"/>
                        <a:cs typeface="Songti SC" charset="0"/>
                      </a:endParaRPr>
                    </a:p>
                  </a:txBody>
                  <a:tcPr marL="91440" marR="91440" marT="45720" marB="45720" anchor="ctr">
                    <a:lnL w="3810" cap="flat" cmpd="sng" algn="ctr">
                      <a:solidFill>
                        <a:srgbClr val="BDB3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BDB3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BDB3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BDB3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8F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6E6A5F"/>
                          </a:solidFill>
                          <a:latin typeface="Menlo" pitchFamily="34" charset="0"/>
                          <a:ea typeface="Menlo" pitchFamily="34" charset="-122"/>
                          <a:cs typeface="Menlo" pitchFamily="34" charset="-120"/>
                        </a:rPr>
                        <a:t>¥20,000 +</a:t>
                      </a:r>
                      <a:endParaRPr lang="en-US" sz="1100" dirty="0">
                        <a:latin typeface="Menlo" charset="0"/>
                        <a:ea typeface="Menlo" charset="0"/>
                        <a:cs typeface="Menlo" charset="0"/>
                      </a:endParaRPr>
                    </a:p>
                  </a:txBody>
                  <a:tcPr marL="91440" marR="91440" marT="45720" marB="45720" anchor="ctr">
                    <a:lnL w="3810" cap="flat" cmpd="sng" algn="ctr">
                      <a:solidFill>
                        <a:srgbClr val="BDB3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BDB3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BDB3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BDB3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8F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A52A2A"/>
                          </a:solidFill>
                          <a:latin typeface="Menlo" pitchFamily="34" charset="0"/>
                          <a:ea typeface="Menlo" pitchFamily="34" charset="-122"/>
                          <a:cs typeface="Menlo" pitchFamily="34" charset="-120"/>
                        </a:rPr>
                        <a:t>不接</a:t>
                      </a:r>
                      <a:endParaRPr lang="en-US" sz="1200" dirty="0">
                        <a:latin typeface="Menlo" charset="0"/>
                        <a:ea typeface="Menlo" charset="0"/>
                        <a:cs typeface="Menlo" charset="0"/>
                      </a:endParaRPr>
                    </a:p>
                  </a:txBody>
                  <a:tcPr marL="91440" marR="91440" marT="45720" marB="45720" anchor="ctr">
                    <a:lnL w="3810" cap="flat" cmpd="sng" algn="ctr">
                      <a:solidFill>
                        <a:srgbClr val="BDB3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BDB3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BDB3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BDB3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8F0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41414"/>
                          </a:solidFill>
                          <a:latin typeface="Songti SC" pitchFamily="34" charset="0"/>
                          <a:ea typeface="Songti SC" pitchFamily="34" charset="-122"/>
                          <a:cs typeface="Songti SC" pitchFamily="34" charset="-120"/>
                        </a:rPr>
                        <a:t>关联申诉（二次  /  复杂）</a:t>
                      </a:r>
                      <a:endParaRPr lang="en-US" sz="1100" dirty="0">
                        <a:latin typeface="Songti SC" charset="0"/>
                        <a:ea typeface="Songti SC" charset="0"/>
                        <a:cs typeface="Songti SC" charset="0"/>
                      </a:endParaRPr>
                    </a:p>
                  </a:txBody>
                  <a:tcPr marL="91440" marR="91440" marT="45720" marB="45720" anchor="ctr">
                    <a:lnL w="3810" cap="flat" cmpd="sng" algn="ctr">
                      <a:solidFill>
                        <a:srgbClr val="BDB3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BDB3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BDB3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BDB3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8F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6E6A5F"/>
                          </a:solidFill>
                          <a:latin typeface="Menlo" pitchFamily="34" charset="0"/>
                          <a:ea typeface="Menlo" pitchFamily="34" charset="-122"/>
                          <a:cs typeface="Menlo" pitchFamily="34" charset="-120"/>
                        </a:rPr>
                        <a:t>¥8,000 — 20,000</a:t>
                      </a:r>
                      <a:endParaRPr lang="en-US" sz="1100" dirty="0">
                        <a:latin typeface="Menlo" charset="0"/>
                        <a:ea typeface="Menlo" charset="0"/>
                        <a:cs typeface="Menlo" charset="0"/>
                      </a:endParaRPr>
                    </a:p>
                  </a:txBody>
                  <a:tcPr marL="91440" marR="91440" marT="45720" marB="45720" anchor="ctr">
                    <a:lnL w="3810" cap="flat" cmpd="sng" algn="ctr">
                      <a:solidFill>
                        <a:srgbClr val="BDB3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BDB3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BDB3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BDB3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8F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0B3D4F"/>
                          </a:solidFill>
                          <a:latin typeface="Menlo" pitchFamily="34" charset="0"/>
                          <a:ea typeface="Menlo" pitchFamily="34" charset="-122"/>
                          <a:cs typeface="Menlo" pitchFamily="34" charset="-120"/>
                        </a:rPr>
                        <a:t>¥10,000 — 18,000</a:t>
                      </a:r>
                      <a:endParaRPr lang="en-US" sz="1200" dirty="0">
                        <a:latin typeface="Menlo" charset="0"/>
                        <a:ea typeface="Menlo" charset="0"/>
                        <a:cs typeface="Menlo" charset="0"/>
                      </a:endParaRPr>
                    </a:p>
                  </a:txBody>
                  <a:tcPr marL="91440" marR="91440" marT="45720" marB="45720" anchor="ctr">
                    <a:lnL w="3810" cap="flat" cmpd="sng" algn="ctr">
                      <a:solidFill>
                        <a:srgbClr val="BDB3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BDB3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BDB3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BDB3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8F0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41414"/>
                          </a:solidFill>
                          <a:latin typeface="Songti SC" pitchFamily="34" charset="0"/>
                          <a:ea typeface="Songti SC" pitchFamily="34" charset="-122"/>
                          <a:cs typeface="Songti SC" pitchFamily="34" charset="-120"/>
                        </a:rPr>
                        <a:t>永久停用申诉  ·  需评估</a:t>
                      </a:r>
                      <a:endParaRPr lang="en-US" sz="1100" dirty="0">
                        <a:latin typeface="Songti SC" charset="0"/>
                        <a:ea typeface="Songti SC" charset="0"/>
                        <a:cs typeface="Songti SC" charset="0"/>
                      </a:endParaRPr>
                    </a:p>
                  </a:txBody>
                  <a:tcPr marL="91440" marR="91440" marT="45720" marB="45720" anchor="ctr">
                    <a:lnL w="3810" cap="flat" cmpd="sng" algn="ctr">
                      <a:solidFill>
                        <a:srgbClr val="BDB3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BDB3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BDB3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BDB3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8F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6E6A5F"/>
                          </a:solidFill>
                          <a:latin typeface="Menlo" pitchFamily="34" charset="0"/>
                          <a:ea typeface="Menlo" pitchFamily="34" charset="-122"/>
                          <a:cs typeface="Menlo" pitchFamily="34" charset="-120"/>
                        </a:rPr>
                        <a:t>¥10,000 — 30,000</a:t>
                      </a:r>
                      <a:endParaRPr lang="en-US" sz="1100" dirty="0">
                        <a:latin typeface="Menlo" charset="0"/>
                        <a:ea typeface="Menlo" charset="0"/>
                        <a:cs typeface="Menlo" charset="0"/>
                      </a:endParaRPr>
                    </a:p>
                  </a:txBody>
                  <a:tcPr marL="91440" marR="91440" marT="45720" marB="45720" anchor="ctr">
                    <a:lnL w="3810" cap="flat" cmpd="sng" algn="ctr">
                      <a:solidFill>
                        <a:srgbClr val="BDB3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BDB3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BDB3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BDB3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8F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0B3D4F"/>
                          </a:solidFill>
                          <a:latin typeface="Menlo" pitchFamily="34" charset="0"/>
                          <a:ea typeface="Menlo" pitchFamily="34" charset="-122"/>
                          <a:cs typeface="Menlo" pitchFamily="34" charset="-120"/>
                        </a:rPr>
                        <a:t>面谈</a:t>
                      </a:r>
                      <a:endParaRPr lang="en-US" sz="1200" dirty="0">
                        <a:latin typeface="Menlo" charset="0"/>
                        <a:ea typeface="Menlo" charset="0"/>
                        <a:cs typeface="Menlo" charset="0"/>
                      </a:endParaRPr>
                    </a:p>
                  </a:txBody>
                  <a:tcPr marL="91440" marR="91440" marT="45720" marB="45720" anchor="ctr">
                    <a:lnL w="3810" cap="flat" cmpd="sng" algn="ctr">
                      <a:solidFill>
                        <a:srgbClr val="BDB3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BDB3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BDB3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BDB3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8F0"/>
                    </a:solidFill>
                  </a:tcPr>
                </a:tc>
              </a:tr>
            </a:tbl>
          </a:graphicData>
        </a:graphic>
      </p:graphicFrame>
      <p:sp>
        <p:nvSpPr>
          <p:cNvPr id="13" name="Text 10"/>
          <p:cNvSpPr/>
          <p:nvPr/>
        </p:nvSpPr>
        <p:spPr>
          <a:xfrm>
            <a:off x="365760" y="475488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200" kern="0" dirty="0">
                <a:solidFill>
                  <a:srgbClr val="6E6A5F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08 / 21</a:t>
            </a:r>
            <a:endParaRPr lang="en-US" sz="900" dirty="0"/>
          </a:p>
        </p:txBody>
      </p:sp>
      <p:sp>
        <p:nvSpPr>
          <p:cNvPr id="14" name="Text 11"/>
          <p:cNvSpPr/>
          <p:nvPr/>
        </p:nvSpPr>
        <p:spPr>
          <a:xfrm>
            <a:off x="6400800" y="475488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6E6A5F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水之明亚马逊申诉服务  ·  销售介绍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414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286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F6F2E9"/>
                </a:solidFill>
                <a:latin typeface="Songti SC" pitchFamily="34" charset="0"/>
                <a:ea typeface="Songti SC" pitchFamily="34" charset="-122"/>
                <a:cs typeface="Songti SC" pitchFamily="34" charset="-120"/>
              </a:rPr>
              <a:t>水 之 明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0" y="22860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88888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肆  ·  PRICING  ·  FUND TIER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365760" y="548640"/>
            <a:ext cx="8412480" cy="0"/>
          </a:xfrm>
          <a:prstGeom prst="line">
            <a:avLst/>
          </a:prstGeom>
          <a:noFill/>
          <a:ln w="6350">
            <a:solidFill>
              <a:srgbClr val="44444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822960"/>
            <a:ext cx="1828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0" b="1" dirty="0">
                <a:solidFill>
                  <a:srgbClr val="A52A2A">
                    <a:alpha val="30000"/>
                  </a:srgbClr>
                </a:solidFill>
                <a:latin typeface="Songti SC" pitchFamily="34" charset="0"/>
                <a:ea typeface="Songti SC" pitchFamily="34" charset="-122"/>
                <a:cs typeface="Songti SC" pitchFamily="34" charset="-120"/>
              </a:rPr>
              <a:t>资</a:t>
            </a:r>
            <a:endParaRPr lang="en-US" sz="8000" dirty="0"/>
          </a:p>
        </p:txBody>
      </p:sp>
      <p:sp>
        <p:nvSpPr>
          <p:cNvPr id="6" name="Text 4"/>
          <p:cNvSpPr/>
          <p:nvPr/>
        </p:nvSpPr>
        <p:spPr>
          <a:xfrm>
            <a:off x="365760" y="868680"/>
            <a:ext cx="8412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6F2E9"/>
                </a:solidFill>
                <a:latin typeface="Songti SC" pitchFamily="34" charset="0"/>
                <a:ea typeface="Songti SC" pitchFamily="34" charset="-122"/>
                <a:cs typeface="Songti SC" pitchFamily="34" charset="-120"/>
              </a:rPr>
              <a:t>资金取款类  ·  阶梯分成</a:t>
            </a:r>
            <a:endParaRPr lang="en-US" sz="3600" dirty="0"/>
          </a:p>
        </p:txBody>
      </p:sp>
      <p:sp>
        <p:nvSpPr>
          <p:cNvPr id="7" name="Text 5"/>
          <p:cNvSpPr/>
          <p:nvPr/>
        </p:nvSpPr>
        <p:spPr>
          <a:xfrm>
            <a:off x="365760" y="169164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7C2B4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按  挽回金额百分比 + 基础费  计费。基础费覆盖前期工时，挽回部分按比例分成。账号未恢复则基础费退还 70%。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365760" y="2468880"/>
            <a:ext cx="2743200" cy="1920240"/>
          </a:xfrm>
          <a:prstGeom prst="rect">
            <a:avLst/>
          </a:prstGeom>
          <a:solidFill>
            <a:srgbClr val="1F1F1F"/>
          </a:solidFill>
          <a:ln w="6350">
            <a:solidFill>
              <a:srgbClr val="3A3A3A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65760" y="2468880"/>
            <a:ext cx="2743200" cy="54864"/>
          </a:xfrm>
          <a:prstGeom prst="rect">
            <a:avLst/>
          </a:prstGeom>
          <a:solidFill>
            <a:srgbClr val="E8B86A"/>
          </a:solidFill>
          <a:ln/>
        </p:spPr>
      </p:sp>
      <p:sp>
        <p:nvSpPr>
          <p:cNvPr id="10" name="Text 8"/>
          <p:cNvSpPr/>
          <p:nvPr/>
        </p:nvSpPr>
        <p:spPr>
          <a:xfrm>
            <a:off x="594360" y="2651760"/>
            <a:ext cx="2377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200" kern="0" dirty="0">
                <a:solidFill>
                  <a:srgbClr val="A09A88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场景 01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594360" y="2926080"/>
            <a:ext cx="23774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6F2E9"/>
                </a:solidFill>
                <a:latin typeface="Songti SC" pitchFamily="34" charset="0"/>
                <a:ea typeface="Songti SC" pitchFamily="34" charset="-122"/>
                <a:cs typeface="Songti SC" pitchFamily="34" charset="-120"/>
              </a:rPr>
              <a:t>账号可恢复  +  资金取款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594360" y="3520440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E8B86A"/>
                </a:solidFill>
                <a:latin typeface="Songti SC" pitchFamily="34" charset="0"/>
                <a:ea typeface="Songti SC" pitchFamily="34" charset="-122"/>
                <a:cs typeface="Songti SC" pitchFamily="34" charset="-120"/>
              </a:rPr>
              <a:t>10%</a:t>
            </a:r>
            <a:endParaRPr lang="en-US" sz="3600" dirty="0"/>
          </a:p>
        </p:txBody>
      </p:sp>
      <p:sp>
        <p:nvSpPr>
          <p:cNvPr id="13" name="Text 11"/>
          <p:cNvSpPr/>
          <p:nvPr/>
        </p:nvSpPr>
        <p:spPr>
          <a:xfrm>
            <a:off x="594360" y="402336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7C2B4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基础费 ¥3,000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3200400" y="2468880"/>
            <a:ext cx="2743200" cy="1920240"/>
          </a:xfrm>
          <a:prstGeom prst="rect">
            <a:avLst/>
          </a:prstGeom>
          <a:solidFill>
            <a:srgbClr val="1F1F1F"/>
          </a:solidFill>
          <a:ln w="6350">
            <a:solidFill>
              <a:srgbClr val="3A3A3A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200400" y="2468880"/>
            <a:ext cx="2743200" cy="54864"/>
          </a:xfrm>
          <a:prstGeom prst="rect">
            <a:avLst/>
          </a:prstGeom>
          <a:solidFill>
            <a:srgbClr val="E8B86A"/>
          </a:solidFill>
          <a:ln/>
        </p:spPr>
      </p:sp>
      <p:sp>
        <p:nvSpPr>
          <p:cNvPr id="16" name="Text 14"/>
          <p:cNvSpPr/>
          <p:nvPr/>
        </p:nvSpPr>
        <p:spPr>
          <a:xfrm>
            <a:off x="3429000" y="2651760"/>
            <a:ext cx="2377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200" kern="0" dirty="0">
                <a:solidFill>
                  <a:srgbClr val="A09A88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场景 02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3429000" y="2926080"/>
            <a:ext cx="23774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6F2E9"/>
                </a:solidFill>
                <a:latin typeface="Songti SC" pitchFamily="34" charset="0"/>
                <a:ea typeface="Songti SC" pitchFamily="34" charset="-122"/>
                <a:cs typeface="Songti SC" pitchFamily="34" charset="-120"/>
              </a:rPr>
              <a:t>账号不可恢复  ·  纯资金申诉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3429000" y="3520440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E8B86A"/>
                </a:solidFill>
                <a:latin typeface="Songti SC" pitchFamily="34" charset="0"/>
                <a:ea typeface="Songti SC" pitchFamily="34" charset="-122"/>
                <a:cs typeface="Songti SC" pitchFamily="34" charset="-120"/>
              </a:rPr>
              <a:t>15%</a:t>
            </a:r>
            <a:endParaRPr lang="en-US" sz="3600" dirty="0"/>
          </a:p>
        </p:txBody>
      </p:sp>
      <p:sp>
        <p:nvSpPr>
          <p:cNvPr id="19" name="Text 17"/>
          <p:cNvSpPr/>
          <p:nvPr/>
        </p:nvSpPr>
        <p:spPr>
          <a:xfrm>
            <a:off x="3429000" y="402336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7C2B4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基础费 ¥5,000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6035040" y="2468880"/>
            <a:ext cx="2743200" cy="1920240"/>
          </a:xfrm>
          <a:prstGeom prst="rect">
            <a:avLst/>
          </a:prstGeom>
          <a:solidFill>
            <a:srgbClr val="1F1F1F"/>
          </a:solidFill>
          <a:ln w="6350">
            <a:solidFill>
              <a:srgbClr val="3A3A3A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6035040" y="2468880"/>
            <a:ext cx="2743200" cy="54864"/>
          </a:xfrm>
          <a:prstGeom prst="rect">
            <a:avLst/>
          </a:prstGeom>
          <a:solidFill>
            <a:srgbClr val="E8B86A"/>
          </a:solidFill>
          <a:ln/>
        </p:spPr>
      </p:sp>
      <p:sp>
        <p:nvSpPr>
          <p:cNvPr id="22" name="Text 20"/>
          <p:cNvSpPr/>
          <p:nvPr/>
        </p:nvSpPr>
        <p:spPr>
          <a:xfrm>
            <a:off x="6263640" y="2651760"/>
            <a:ext cx="2377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200" kern="0" dirty="0">
                <a:solidFill>
                  <a:srgbClr val="A09A88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场景 03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6263640" y="2926080"/>
            <a:ext cx="23774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6F2E9"/>
                </a:solidFill>
                <a:latin typeface="Songti SC" pitchFamily="34" charset="0"/>
                <a:ea typeface="Songti SC" pitchFamily="34" charset="-122"/>
                <a:cs typeface="Songti SC" pitchFamily="34" charset="-120"/>
              </a:rPr>
              <a:t>大牌侵权和解  +  资金解冻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6263640" y="3520440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E8B86A"/>
                </a:solidFill>
                <a:latin typeface="Songti SC" pitchFamily="34" charset="0"/>
                <a:ea typeface="Songti SC" pitchFamily="34" charset="-122"/>
                <a:cs typeface="Songti SC" pitchFamily="34" charset="-120"/>
              </a:rPr>
              <a:t>20%</a:t>
            </a:r>
            <a:endParaRPr lang="en-US" sz="3600" dirty="0"/>
          </a:p>
        </p:txBody>
      </p:sp>
      <p:sp>
        <p:nvSpPr>
          <p:cNvPr id="25" name="Text 23"/>
          <p:cNvSpPr/>
          <p:nvPr/>
        </p:nvSpPr>
        <p:spPr>
          <a:xfrm>
            <a:off x="6263640" y="402336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7C2B4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律师费另计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365760" y="461772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300" kern="0" dirty="0">
                <a:solidFill>
                  <a:srgbClr val="E8B86A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退款条款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1554480" y="4617720"/>
            <a:ext cx="7223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AAAAA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·  零资金挽回  →  零分成  ·  账号未恢复  →  基础费退 70%  ·  到账 5 个工作日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365760" y="475488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200" kern="0" dirty="0">
                <a:solidFill>
                  <a:srgbClr val="777777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09 / 21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6400800" y="475488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777777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水之明亚马逊申诉服务  ·  销售介绍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6F2E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286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141414"/>
                </a:solidFill>
                <a:latin typeface="Songti SC" pitchFamily="34" charset="0"/>
                <a:ea typeface="Songti SC" pitchFamily="34" charset="-122"/>
                <a:cs typeface="Songti SC" pitchFamily="34" charset="-120"/>
              </a:rPr>
              <a:t>水 之 明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949440" y="2286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141414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伍  ·  PRICE FACTORS  ·  报价因素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365760" y="548640"/>
            <a:ext cx="8412480" cy="0"/>
          </a:xfrm>
          <a:prstGeom prst="line">
            <a:avLst/>
          </a:prstGeom>
          <a:noFill/>
          <a:ln w="6350">
            <a:solidFill>
              <a:srgbClr val="D6CFBD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365760" y="822960"/>
            <a:ext cx="8412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41414"/>
                </a:solidFill>
                <a:latin typeface="Songti SC" pitchFamily="34" charset="0"/>
                <a:ea typeface="Songti SC" pitchFamily="34" charset="-122"/>
                <a:cs typeface="Songti SC" pitchFamily="34" charset="-120"/>
              </a:rPr>
              <a:t>影响报价的 6 个因素</a:t>
            </a:r>
            <a:endParaRPr lang="en-US" sz="3600" dirty="0"/>
          </a:p>
        </p:txBody>
      </p:sp>
      <p:sp>
        <p:nvSpPr>
          <p:cNvPr id="6" name="Text 4"/>
          <p:cNvSpPr/>
          <p:nvPr/>
        </p:nvSpPr>
        <p:spPr>
          <a:xfrm>
            <a:off x="365760" y="150876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E6A5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免费诊断阶段会逐项评估，报价单写清楚你的案子落在区间的哪个位置。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365760" y="2057400"/>
            <a:ext cx="2697480" cy="1234440"/>
          </a:xfrm>
          <a:prstGeom prst="rect">
            <a:avLst/>
          </a:prstGeom>
          <a:solidFill>
            <a:srgbClr val="FBF8F0"/>
          </a:solidFill>
          <a:ln w="6350">
            <a:solidFill>
              <a:srgbClr val="D6CFBD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514600" y="2148840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dirty="0">
                <a:solidFill>
                  <a:srgbClr val="BDB39A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01</a:t>
            </a:r>
            <a:endParaRPr lang="en-US" sz="2400" dirty="0"/>
          </a:p>
        </p:txBody>
      </p:sp>
      <p:sp>
        <p:nvSpPr>
          <p:cNvPr id="9" name="Text 7"/>
          <p:cNvSpPr/>
          <p:nvPr/>
        </p:nvSpPr>
        <p:spPr>
          <a:xfrm>
            <a:off x="548640" y="2194560"/>
            <a:ext cx="1965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41414"/>
                </a:solidFill>
                <a:latin typeface="Songti SC" pitchFamily="34" charset="0"/>
                <a:ea typeface="Songti SC" pitchFamily="34" charset="-122"/>
                <a:cs typeface="Songti SC" pitchFamily="34" charset="-120"/>
              </a:rPr>
              <a:t>是否首次申诉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548640" y="2560320"/>
            <a:ext cx="2331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2A2A2A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二次、三次提交过 POA 的案子，难度指数级上升。需先分析之前的申诉邮件再设计策略。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3182112" y="2057400"/>
            <a:ext cx="2697480" cy="1234440"/>
          </a:xfrm>
          <a:prstGeom prst="rect">
            <a:avLst/>
          </a:prstGeom>
          <a:solidFill>
            <a:srgbClr val="FBF8F0"/>
          </a:solidFill>
          <a:ln w="6350">
            <a:solidFill>
              <a:srgbClr val="D6CFB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330952" y="2148840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dirty="0">
                <a:solidFill>
                  <a:srgbClr val="BDB39A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02</a:t>
            </a:r>
            <a:endParaRPr lang="en-US" sz="2400" dirty="0"/>
          </a:p>
        </p:txBody>
      </p:sp>
      <p:sp>
        <p:nvSpPr>
          <p:cNvPr id="13" name="Text 11"/>
          <p:cNvSpPr/>
          <p:nvPr/>
        </p:nvSpPr>
        <p:spPr>
          <a:xfrm>
            <a:off x="3364992" y="2194560"/>
            <a:ext cx="1965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41414"/>
                </a:solidFill>
                <a:latin typeface="Songti SC" pitchFamily="34" charset="0"/>
                <a:ea typeface="Songti SC" pitchFamily="34" charset="-122"/>
                <a:cs typeface="Songti SC" pitchFamily="34" charset="-120"/>
              </a:rPr>
              <a:t>证据完备度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3364992" y="2560320"/>
            <a:ext cx="2331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2A2A2A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采购发票、物流凭证、品牌授权、独立运营证据越齐全，整理与撰写工时越短。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5998464" y="2057400"/>
            <a:ext cx="2697480" cy="1234440"/>
          </a:xfrm>
          <a:prstGeom prst="rect">
            <a:avLst/>
          </a:prstGeom>
          <a:solidFill>
            <a:srgbClr val="FBF8F0"/>
          </a:solidFill>
          <a:ln w="6350">
            <a:solidFill>
              <a:srgbClr val="D6CFB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147304" y="2148840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dirty="0">
                <a:solidFill>
                  <a:srgbClr val="BDB39A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03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6181344" y="2194560"/>
            <a:ext cx="1965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41414"/>
                </a:solidFill>
                <a:latin typeface="Songti SC" pitchFamily="34" charset="0"/>
                <a:ea typeface="Songti SC" pitchFamily="34" charset="-122"/>
                <a:cs typeface="Songti SC" pitchFamily="34" charset="-120"/>
              </a:rPr>
              <a:t>站点差异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6181344" y="2560320"/>
            <a:ext cx="2331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2A2A2A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美国 / 欧洲 / 日本各有政策特点。欧洲 KYC、日本 JCT、美国 ODR 难度不同。</a:t>
            </a:r>
            <a:endParaRPr lang="en-US" sz="950" dirty="0"/>
          </a:p>
        </p:txBody>
      </p:sp>
      <p:sp>
        <p:nvSpPr>
          <p:cNvPr id="19" name="Shape 17"/>
          <p:cNvSpPr/>
          <p:nvPr/>
        </p:nvSpPr>
        <p:spPr>
          <a:xfrm>
            <a:off x="365760" y="3410712"/>
            <a:ext cx="2697480" cy="1234440"/>
          </a:xfrm>
          <a:prstGeom prst="rect">
            <a:avLst/>
          </a:prstGeom>
          <a:solidFill>
            <a:srgbClr val="FBF8F0"/>
          </a:solidFill>
          <a:ln w="6350">
            <a:solidFill>
              <a:srgbClr val="D6CFBD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514600" y="3502152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dirty="0">
                <a:solidFill>
                  <a:srgbClr val="BDB39A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04</a:t>
            </a:r>
            <a:endParaRPr lang="en-US" sz="2400" dirty="0"/>
          </a:p>
        </p:txBody>
      </p:sp>
      <p:sp>
        <p:nvSpPr>
          <p:cNvPr id="21" name="Text 19"/>
          <p:cNvSpPr/>
          <p:nvPr/>
        </p:nvSpPr>
        <p:spPr>
          <a:xfrm>
            <a:off x="548640" y="3547872"/>
            <a:ext cx="1965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41414"/>
                </a:solidFill>
                <a:latin typeface="Songti SC" pitchFamily="34" charset="0"/>
                <a:ea typeface="Songti SC" pitchFamily="34" charset="-122"/>
                <a:cs typeface="Songti SC" pitchFamily="34" charset="-120"/>
              </a:rPr>
              <a:t>紧急程度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548640" y="3913632"/>
            <a:ext cx="2331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2A2A2A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72 小时回复窗口的紧急案件有加急成本；非紧急案件排正常队列，报价更优。</a:t>
            </a:r>
            <a:endParaRPr lang="en-US" sz="950" dirty="0"/>
          </a:p>
        </p:txBody>
      </p:sp>
      <p:sp>
        <p:nvSpPr>
          <p:cNvPr id="23" name="Shape 21"/>
          <p:cNvSpPr/>
          <p:nvPr/>
        </p:nvSpPr>
        <p:spPr>
          <a:xfrm>
            <a:off x="3182112" y="3410712"/>
            <a:ext cx="2697480" cy="1234440"/>
          </a:xfrm>
          <a:prstGeom prst="rect">
            <a:avLst/>
          </a:prstGeom>
          <a:solidFill>
            <a:srgbClr val="FBF8F0"/>
          </a:solidFill>
          <a:ln w="6350">
            <a:solidFill>
              <a:srgbClr val="D6CFBD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330952" y="3502152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dirty="0">
                <a:solidFill>
                  <a:srgbClr val="BDB39A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05</a:t>
            </a:r>
            <a:endParaRPr lang="en-US" sz="2400" dirty="0"/>
          </a:p>
        </p:txBody>
      </p:sp>
      <p:sp>
        <p:nvSpPr>
          <p:cNvPr id="25" name="Text 23"/>
          <p:cNvSpPr/>
          <p:nvPr/>
        </p:nvSpPr>
        <p:spPr>
          <a:xfrm>
            <a:off x="3364992" y="3547872"/>
            <a:ext cx="1965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41414"/>
                </a:solidFill>
                <a:latin typeface="Songti SC" pitchFamily="34" charset="0"/>
                <a:ea typeface="Songti SC" pitchFamily="34" charset="-122"/>
                <a:cs typeface="Songti SC" pitchFamily="34" charset="-120"/>
              </a:rPr>
              <a:t>是否涉及资金冻结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3364992" y="3913632"/>
            <a:ext cx="2331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2A2A2A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封号 vs 封号 + 资金冻结，后者需持续跟进 60–90 天，两阶段流程，计费方式不同。</a:t>
            </a:r>
            <a:endParaRPr lang="en-US" sz="950" dirty="0"/>
          </a:p>
        </p:txBody>
      </p:sp>
      <p:sp>
        <p:nvSpPr>
          <p:cNvPr id="27" name="Shape 25"/>
          <p:cNvSpPr/>
          <p:nvPr/>
        </p:nvSpPr>
        <p:spPr>
          <a:xfrm>
            <a:off x="5998464" y="3410712"/>
            <a:ext cx="2697480" cy="1234440"/>
          </a:xfrm>
          <a:prstGeom prst="rect">
            <a:avLst/>
          </a:prstGeom>
          <a:solidFill>
            <a:srgbClr val="FBF8F0"/>
          </a:solidFill>
          <a:ln w="6350">
            <a:solidFill>
              <a:srgbClr val="D6CFBD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8147304" y="3502152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dirty="0">
                <a:solidFill>
                  <a:srgbClr val="BDB39A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06</a:t>
            </a:r>
            <a:endParaRPr lang="en-US" sz="2400" dirty="0"/>
          </a:p>
        </p:txBody>
      </p:sp>
      <p:sp>
        <p:nvSpPr>
          <p:cNvPr id="29" name="Text 27"/>
          <p:cNvSpPr/>
          <p:nvPr/>
        </p:nvSpPr>
        <p:spPr>
          <a:xfrm>
            <a:off x="6181344" y="3547872"/>
            <a:ext cx="1965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41414"/>
                </a:solidFill>
                <a:latin typeface="Songti SC" pitchFamily="34" charset="0"/>
                <a:ea typeface="Songti SC" pitchFamily="34" charset="-122"/>
                <a:cs typeface="Songti SC" pitchFamily="34" charset="-120"/>
              </a:rPr>
              <a:t>是否需要真人配合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181344" y="3913632"/>
            <a:ext cx="2331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2A2A2A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视频验证、电话核实、线下面谈需法人参与；提供完整辅导与模拟，工时显著上升。</a:t>
            </a:r>
            <a:endParaRPr lang="en-US" sz="950" dirty="0"/>
          </a:p>
        </p:txBody>
      </p:sp>
      <p:sp>
        <p:nvSpPr>
          <p:cNvPr id="31" name="Text 29"/>
          <p:cNvSpPr/>
          <p:nvPr/>
        </p:nvSpPr>
        <p:spPr>
          <a:xfrm>
            <a:off x="365760" y="475488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200" kern="0" dirty="0">
                <a:solidFill>
                  <a:srgbClr val="6E6A5F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10 / 21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6400800" y="475488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6E6A5F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水之明亚马逊申诉服务  ·  销售介绍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6F2E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286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141414"/>
                </a:solidFill>
                <a:latin typeface="Songti SC" pitchFamily="34" charset="0"/>
                <a:ea typeface="Songti SC" pitchFamily="34" charset="-122"/>
                <a:cs typeface="Songti SC" pitchFamily="34" charset="-120"/>
              </a:rPr>
              <a:t>水 之 明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949440" y="2286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141414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陆  ·  REFUND POLICY  ·  退款规则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365760" y="548640"/>
            <a:ext cx="8412480" cy="0"/>
          </a:xfrm>
          <a:prstGeom prst="line">
            <a:avLst/>
          </a:prstGeom>
          <a:noFill/>
          <a:ln w="6350">
            <a:solidFill>
              <a:srgbClr val="D6CFBD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365760" y="822960"/>
            <a:ext cx="8412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41414"/>
                </a:solidFill>
                <a:latin typeface="Songti SC" pitchFamily="34" charset="0"/>
                <a:ea typeface="Songti SC" pitchFamily="34" charset="-122"/>
                <a:cs typeface="Songti SC" pitchFamily="34" charset="-120"/>
              </a:rPr>
              <a:t>「不成功」的明确定义</a:t>
            </a:r>
            <a:endParaRPr lang="en-US" sz="3600" dirty="0"/>
          </a:p>
        </p:txBody>
      </p:sp>
      <p:sp>
        <p:nvSpPr>
          <p:cNvPr id="6" name="Text 4"/>
          <p:cNvSpPr/>
          <p:nvPr/>
        </p:nvSpPr>
        <p:spPr>
          <a:xfrm>
            <a:off x="365760" y="150876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E6A5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条款写进合同。到期自动触发，5 个工作日内对公原路退回。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365760" y="2103120"/>
            <a:ext cx="8412480" cy="502920"/>
          </a:xfrm>
          <a:prstGeom prst="rect">
            <a:avLst/>
          </a:prstGeom>
          <a:solidFill>
            <a:srgbClr val="ECE7D7"/>
          </a:solidFill>
          <a:ln/>
        </p:spPr>
      </p:sp>
      <p:sp>
        <p:nvSpPr>
          <p:cNvPr id="8" name="Text 6"/>
          <p:cNvSpPr/>
          <p:nvPr/>
        </p:nvSpPr>
        <p:spPr>
          <a:xfrm>
            <a:off x="548640" y="2148840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41414"/>
                </a:solidFill>
                <a:latin typeface="Songti SC" pitchFamily="34" charset="0"/>
                <a:ea typeface="Songti SC" pitchFamily="34" charset="-122"/>
                <a:cs typeface="Songti SC" pitchFamily="34" charset="-120"/>
              </a:rPr>
              <a:t>触发条件:  </a:t>
            </a:r>
            <a:pPr indent="0" marL="0">
              <a:buNone/>
            </a:pPr>
            <a:r>
              <a:rPr lang="en-US" sz="1200" dirty="0">
                <a:solidFill>
                  <a:srgbClr val="2A2A2A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自 POA 首次提交之日起 30 个自然日内，账号 / 产品 / 资金状态未恢复，且非因客户方原因导致。</a:t>
            </a:r>
            <a:endParaRPr lang="en-US" sz="12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2743200"/>
          <a:ext cx="8412480" cy="1920240"/>
        </p:xfrm>
        <a:graphic>
          <a:graphicData uri="http://schemas.openxmlformats.org/drawingml/2006/table">
            <a:tbl>
              <a:tblPr/>
              <a:tblGrid>
                <a:gridCol w="1828800"/>
                <a:gridCol w="1280160"/>
                <a:gridCol w="1280160"/>
                <a:gridCol w="4023360"/>
              </a:tblGrid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6F2E9"/>
                          </a:solidFill>
                          <a:latin typeface="Songti SC" pitchFamily="34" charset="0"/>
                          <a:ea typeface="Songti SC" pitchFamily="34" charset="-122"/>
                          <a:cs typeface="Songti SC" pitchFamily="34" charset="-120"/>
                        </a:rPr>
                        <a:t>申诉档次</a:t>
                      </a:r>
                      <a:endParaRPr lang="en-US" sz="1100" dirty="0">
                        <a:latin typeface="Songti SC" charset="0"/>
                        <a:ea typeface="Songti SC" charset="0"/>
                        <a:cs typeface="Songti SC" charset="0"/>
                      </a:endParaRPr>
                    </a:p>
                  </a:txBody>
                  <a:tcPr marL="91440" marR="91440" marT="45720" marB="45720" anchor="ctr">
                    <a:lnL w="3810" cap="flat" cmpd="sng" algn="ctr">
                      <a:solidFill>
                        <a:srgbClr val="BDB3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BDB3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BDB3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BDB3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41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6F2E9"/>
                          </a:solidFill>
                          <a:latin typeface="Menlo" pitchFamily="34" charset="0"/>
                          <a:ea typeface="Menlo" pitchFamily="34" charset="-122"/>
                          <a:cs typeface="Menlo" pitchFamily="34" charset="-120"/>
                        </a:rPr>
                        <a:t>触发时长</a:t>
                      </a:r>
                      <a:endParaRPr lang="en-US" sz="1100" dirty="0">
                        <a:latin typeface="Menlo" charset="0"/>
                        <a:ea typeface="Menlo" charset="0"/>
                        <a:cs typeface="Menlo" charset="0"/>
                      </a:endParaRPr>
                    </a:p>
                  </a:txBody>
                  <a:tcPr marL="91440" marR="91440" marT="45720" marB="45720" anchor="ctr">
                    <a:lnL w="3810" cap="flat" cmpd="sng" algn="ctr">
                      <a:solidFill>
                        <a:srgbClr val="BDB3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BDB3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BDB3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BDB3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41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6F2E9"/>
                          </a:solidFill>
                          <a:latin typeface="Menlo" pitchFamily="34" charset="0"/>
                          <a:ea typeface="Menlo" pitchFamily="34" charset="-122"/>
                          <a:cs typeface="Menlo" pitchFamily="34" charset="-120"/>
                        </a:rPr>
                        <a:t>退款比例</a:t>
                      </a:r>
                      <a:endParaRPr lang="en-US" sz="1100" dirty="0">
                        <a:latin typeface="Menlo" charset="0"/>
                        <a:ea typeface="Menlo" charset="0"/>
                        <a:cs typeface="Menlo" charset="0"/>
                      </a:endParaRPr>
                    </a:p>
                  </a:txBody>
                  <a:tcPr marL="91440" marR="91440" marT="45720" marB="45720" anchor="ctr">
                    <a:lnL w="3810" cap="flat" cmpd="sng" algn="ctr">
                      <a:solidFill>
                        <a:srgbClr val="BDB3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BDB3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BDB3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BDB3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41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6F2E9"/>
                          </a:solidFill>
                          <a:latin typeface="Songti SC" pitchFamily="34" charset="0"/>
                          <a:ea typeface="Songti SC" pitchFamily="34" charset="-122"/>
                          <a:cs typeface="Songti SC" pitchFamily="34" charset="-120"/>
                        </a:rPr>
                        <a:t>说明</a:t>
                      </a:r>
                      <a:endParaRPr lang="en-US" sz="1100" dirty="0">
                        <a:latin typeface="Songti SC" charset="0"/>
                        <a:ea typeface="Songti SC" charset="0"/>
                        <a:cs typeface="Songti SC" charset="0"/>
                      </a:endParaRPr>
                    </a:p>
                  </a:txBody>
                  <a:tcPr marL="91440" marR="91440" marT="45720" marB="45720" anchor="ctr">
                    <a:lnL w="3810" cap="flat" cmpd="sng" algn="ctr">
                      <a:solidFill>
                        <a:srgbClr val="BDB3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BDB3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BDB3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BDB3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414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41414"/>
                          </a:solidFill>
                          <a:latin typeface="Songti SC" pitchFamily="34" charset="0"/>
                          <a:ea typeface="Songti SC" pitchFamily="34" charset="-122"/>
                          <a:cs typeface="Songti SC" pitchFamily="34" charset="-120"/>
                        </a:rPr>
                        <a:t>一级申诉</a:t>
                      </a:r>
                      <a:endParaRPr lang="en-US" sz="1200" dirty="0">
                        <a:latin typeface="Songti SC" charset="0"/>
                        <a:ea typeface="Songti SC" charset="0"/>
                        <a:cs typeface="Songti SC" charset="0"/>
                      </a:endParaRPr>
                    </a:p>
                  </a:txBody>
                  <a:tcPr marL="91440" marR="91440" marT="45720" marB="45720" anchor="ctr">
                    <a:lnL w="3810" cap="flat" cmpd="sng" algn="ctr">
                      <a:solidFill>
                        <a:srgbClr val="BDB3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BDB3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BDB3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BDB3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8F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A2A2A"/>
                          </a:solidFill>
                          <a:latin typeface="Menlo" pitchFamily="34" charset="0"/>
                          <a:ea typeface="Menlo" pitchFamily="34" charset="-122"/>
                          <a:cs typeface="Menlo" pitchFamily="34" charset="-120"/>
                        </a:rPr>
                        <a:t>30 天</a:t>
                      </a:r>
                      <a:endParaRPr lang="en-US" sz="1100" dirty="0">
                        <a:latin typeface="Menlo" charset="0"/>
                        <a:ea typeface="Menlo" charset="0"/>
                        <a:cs typeface="Menlo" charset="0"/>
                      </a:endParaRPr>
                    </a:p>
                  </a:txBody>
                  <a:tcPr marL="91440" marR="91440" marT="45720" marB="45720" anchor="ctr">
                    <a:lnL w="3810" cap="flat" cmpd="sng" algn="ctr">
                      <a:solidFill>
                        <a:srgbClr val="BDB3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BDB3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BDB3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BDB3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8F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0B3D4F"/>
                          </a:solidFill>
                          <a:latin typeface="Menlo" pitchFamily="34" charset="0"/>
                          <a:ea typeface="Menlo" pitchFamily="34" charset="-122"/>
                          <a:cs typeface="Menlo" pitchFamily="34" charset="-120"/>
                        </a:rPr>
                        <a:t>100%</a:t>
                      </a:r>
                      <a:endParaRPr lang="en-US" sz="1400" dirty="0">
                        <a:latin typeface="Menlo" charset="0"/>
                        <a:ea typeface="Menlo" charset="0"/>
                        <a:cs typeface="Menlo" charset="0"/>
                      </a:endParaRPr>
                    </a:p>
                  </a:txBody>
                  <a:tcPr marL="91440" marR="91440" marT="45720" marB="45720" anchor="ctr">
                    <a:lnL w="3810" cap="flat" cmpd="sng" algn="ctr">
                      <a:solidFill>
                        <a:srgbClr val="BDB3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BDB3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BDB3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BDB3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8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A2A2A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全额退款</a:t>
                      </a:r>
                      <a:endParaRPr lang="en-US" sz="105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3810" cap="flat" cmpd="sng" algn="ctr">
                      <a:solidFill>
                        <a:srgbClr val="BDB3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BDB3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BDB3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BDB3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8F0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41414"/>
                          </a:solidFill>
                          <a:latin typeface="Songti SC" pitchFamily="34" charset="0"/>
                          <a:ea typeface="Songti SC" pitchFamily="34" charset="-122"/>
                          <a:cs typeface="Songti SC" pitchFamily="34" charset="-120"/>
                        </a:rPr>
                        <a:t>二级申诉</a:t>
                      </a:r>
                      <a:endParaRPr lang="en-US" sz="1200" dirty="0">
                        <a:latin typeface="Songti SC" charset="0"/>
                        <a:ea typeface="Songti SC" charset="0"/>
                        <a:cs typeface="Songti SC" charset="0"/>
                      </a:endParaRPr>
                    </a:p>
                  </a:txBody>
                  <a:tcPr marL="91440" marR="91440" marT="45720" marB="45720" anchor="ctr">
                    <a:lnL w="3810" cap="flat" cmpd="sng" algn="ctr">
                      <a:solidFill>
                        <a:srgbClr val="BDB3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BDB3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BDB3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BDB3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8F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A2A2A"/>
                          </a:solidFill>
                          <a:latin typeface="Menlo" pitchFamily="34" charset="0"/>
                          <a:ea typeface="Menlo" pitchFamily="34" charset="-122"/>
                          <a:cs typeface="Menlo" pitchFamily="34" charset="-120"/>
                        </a:rPr>
                        <a:t>30 天</a:t>
                      </a:r>
                      <a:endParaRPr lang="en-US" sz="1100" dirty="0">
                        <a:latin typeface="Menlo" charset="0"/>
                        <a:ea typeface="Menlo" charset="0"/>
                        <a:cs typeface="Menlo" charset="0"/>
                      </a:endParaRPr>
                    </a:p>
                  </a:txBody>
                  <a:tcPr marL="91440" marR="91440" marT="45720" marB="45720" anchor="ctr">
                    <a:lnL w="3810" cap="flat" cmpd="sng" algn="ctr">
                      <a:solidFill>
                        <a:srgbClr val="BDB3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BDB3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BDB3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BDB3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8F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0B3D4F"/>
                          </a:solidFill>
                          <a:latin typeface="Menlo" pitchFamily="34" charset="0"/>
                          <a:ea typeface="Menlo" pitchFamily="34" charset="-122"/>
                          <a:cs typeface="Menlo" pitchFamily="34" charset="-120"/>
                        </a:rPr>
                        <a:t>70%</a:t>
                      </a:r>
                      <a:endParaRPr lang="en-US" sz="1400" dirty="0">
                        <a:latin typeface="Menlo" charset="0"/>
                        <a:ea typeface="Menlo" charset="0"/>
                        <a:cs typeface="Menlo" charset="0"/>
                      </a:endParaRPr>
                    </a:p>
                  </a:txBody>
                  <a:tcPr marL="91440" marR="91440" marT="45720" marB="45720" anchor="ctr">
                    <a:lnL w="3810" cap="flat" cmpd="sng" algn="ctr">
                      <a:solidFill>
                        <a:srgbClr val="BDB3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BDB3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BDB3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BDB3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8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A2A2A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扣除证据处理成本</a:t>
                      </a:r>
                      <a:endParaRPr lang="en-US" sz="105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3810" cap="flat" cmpd="sng" algn="ctr">
                      <a:solidFill>
                        <a:srgbClr val="BDB3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BDB3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BDB3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BDB3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8F0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41414"/>
                          </a:solidFill>
                          <a:latin typeface="Songti SC" pitchFamily="34" charset="0"/>
                          <a:ea typeface="Songti SC" pitchFamily="34" charset="-122"/>
                          <a:cs typeface="Songti SC" pitchFamily="34" charset="-120"/>
                        </a:rPr>
                        <a:t>三级 / 疑难</a:t>
                      </a:r>
                      <a:endParaRPr lang="en-US" sz="1200" dirty="0">
                        <a:latin typeface="Songti SC" charset="0"/>
                        <a:ea typeface="Songti SC" charset="0"/>
                        <a:cs typeface="Songti SC" charset="0"/>
                      </a:endParaRPr>
                    </a:p>
                  </a:txBody>
                  <a:tcPr marL="91440" marR="91440" marT="45720" marB="45720" anchor="ctr">
                    <a:lnL w="3810" cap="flat" cmpd="sng" algn="ctr">
                      <a:solidFill>
                        <a:srgbClr val="BDB3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BDB3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BDB3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BDB3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8F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A2A2A"/>
                          </a:solidFill>
                          <a:latin typeface="Menlo" pitchFamily="34" charset="0"/>
                          <a:ea typeface="Menlo" pitchFamily="34" charset="-122"/>
                          <a:cs typeface="Menlo" pitchFamily="34" charset="-120"/>
                        </a:rPr>
                        <a:t>45 天</a:t>
                      </a:r>
                      <a:endParaRPr lang="en-US" sz="1100" dirty="0">
                        <a:latin typeface="Menlo" charset="0"/>
                        <a:ea typeface="Menlo" charset="0"/>
                        <a:cs typeface="Menlo" charset="0"/>
                      </a:endParaRPr>
                    </a:p>
                  </a:txBody>
                  <a:tcPr marL="91440" marR="91440" marT="45720" marB="45720" anchor="ctr">
                    <a:lnL w="3810" cap="flat" cmpd="sng" algn="ctr">
                      <a:solidFill>
                        <a:srgbClr val="BDB3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BDB3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BDB3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BDB3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8F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0B3D4F"/>
                          </a:solidFill>
                          <a:latin typeface="Menlo" pitchFamily="34" charset="0"/>
                          <a:ea typeface="Menlo" pitchFamily="34" charset="-122"/>
                          <a:cs typeface="Menlo" pitchFamily="34" charset="-120"/>
                        </a:rPr>
                        <a:t>50%</a:t>
                      </a:r>
                      <a:endParaRPr lang="en-US" sz="1400" dirty="0">
                        <a:latin typeface="Menlo" charset="0"/>
                        <a:ea typeface="Menlo" charset="0"/>
                        <a:cs typeface="Menlo" charset="0"/>
                      </a:endParaRPr>
                    </a:p>
                  </a:txBody>
                  <a:tcPr marL="91440" marR="91440" marT="45720" marB="45720" anchor="ctr">
                    <a:lnL w="3810" cap="flat" cmpd="sng" algn="ctr">
                      <a:solidFill>
                        <a:srgbClr val="BDB3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BDB3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BDB3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BDB3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8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A2A2A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扣除前期工时</a:t>
                      </a:r>
                      <a:endParaRPr lang="en-US" sz="105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3810" cap="flat" cmpd="sng" algn="ctr">
                      <a:solidFill>
                        <a:srgbClr val="BDB3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BDB3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BDB3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BDB3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8F0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41414"/>
                          </a:solidFill>
                          <a:latin typeface="Songti SC" pitchFamily="34" charset="0"/>
                          <a:ea typeface="Songti SC" pitchFamily="34" charset="-122"/>
                          <a:cs typeface="Songti SC" pitchFamily="34" charset="-120"/>
                        </a:rPr>
                        <a:t>资金取款类</a:t>
                      </a:r>
                      <a:endParaRPr lang="en-US" sz="1200" dirty="0">
                        <a:latin typeface="Songti SC" charset="0"/>
                        <a:ea typeface="Songti SC" charset="0"/>
                        <a:cs typeface="Songti SC" charset="0"/>
                      </a:endParaRPr>
                    </a:p>
                  </a:txBody>
                  <a:tcPr marL="91440" marR="91440" marT="45720" marB="45720" anchor="ctr">
                    <a:lnL w="3810" cap="flat" cmpd="sng" algn="ctr">
                      <a:solidFill>
                        <a:srgbClr val="BDB3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BDB3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BDB3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BDB3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8F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A2A2A"/>
                          </a:solidFill>
                          <a:latin typeface="Menlo" pitchFamily="34" charset="0"/>
                          <a:ea typeface="Menlo" pitchFamily="34" charset="-122"/>
                          <a:cs typeface="Menlo" pitchFamily="34" charset="-120"/>
                        </a:rPr>
                        <a:t>—</a:t>
                      </a:r>
                      <a:endParaRPr lang="en-US" sz="1100" dirty="0">
                        <a:latin typeface="Menlo" charset="0"/>
                        <a:ea typeface="Menlo" charset="0"/>
                        <a:cs typeface="Menlo" charset="0"/>
                      </a:endParaRPr>
                    </a:p>
                  </a:txBody>
                  <a:tcPr marL="91440" marR="91440" marT="45720" marB="45720" anchor="ctr">
                    <a:lnL w="3810" cap="flat" cmpd="sng" algn="ctr">
                      <a:solidFill>
                        <a:srgbClr val="BDB3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BDB3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BDB3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BDB3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8F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0B3D4F"/>
                          </a:solidFill>
                          <a:latin typeface="Menlo" pitchFamily="34" charset="0"/>
                          <a:ea typeface="Menlo" pitchFamily="34" charset="-122"/>
                          <a:cs typeface="Menlo" pitchFamily="34" charset="-120"/>
                        </a:rPr>
                        <a:t>70%</a:t>
                      </a:r>
                      <a:endParaRPr lang="en-US" sz="1400" dirty="0">
                        <a:latin typeface="Menlo" charset="0"/>
                        <a:ea typeface="Menlo" charset="0"/>
                        <a:cs typeface="Menlo" charset="0"/>
                      </a:endParaRPr>
                    </a:p>
                  </a:txBody>
                  <a:tcPr marL="91440" marR="91440" marT="45720" marB="45720" anchor="ctr">
                    <a:lnL w="3810" cap="flat" cmpd="sng" algn="ctr">
                      <a:solidFill>
                        <a:srgbClr val="BDB3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BDB3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BDB3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BDB3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8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A2A2A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基础费退 70%；零资金挽回则零分成</a:t>
                      </a:r>
                      <a:endParaRPr lang="en-US" sz="105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3810" cap="flat" cmpd="sng" algn="ctr">
                      <a:solidFill>
                        <a:srgbClr val="BDB3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BDB3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BDB3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BDB3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8F0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41414"/>
                          </a:solidFill>
                          <a:latin typeface="Songti SC" pitchFamily="34" charset="0"/>
                          <a:ea typeface="Songti SC" pitchFamily="34" charset="-122"/>
                          <a:cs typeface="Songti SC" pitchFamily="34" charset="-120"/>
                        </a:rPr>
                        <a:t>到账时间</a:t>
                      </a:r>
                      <a:endParaRPr lang="en-US" sz="1200" dirty="0">
                        <a:latin typeface="Songti SC" charset="0"/>
                        <a:ea typeface="Songti SC" charset="0"/>
                        <a:cs typeface="Songti SC" charset="0"/>
                      </a:endParaRPr>
                    </a:p>
                  </a:txBody>
                  <a:tcPr marL="91440" marR="91440" marT="45720" marB="45720" anchor="ctr">
                    <a:lnL w="3810" cap="flat" cmpd="sng" algn="ctr">
                      <a:solidFill>
                        <a:srgbClr val="BDB3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BDB3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BDB3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BDB3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8F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A2A2A"/>
                          </a:solidFill>
                          <a:latin typeface="Menlo" pitchFamily="34" charset="0"/>
                          <a:ea typeface="Menlo" pitchFamily="34" charset="-122"/>
                          <a:cs typeface="Menlo" pitchFamily="34" charset="-120"/>
                        </a:rPr>
                        <a:t>5 工作日</a:t>
                      </a:r>
                      <a:endParaRPr lang="en-US" sz="1100" dirty="0">
                        <a:latin typeface="Menlo" charset="0"/>
                        <a:ea typeface="Menlo" charset="0"/>
                        <a:cs typeface="Menlo" charset="0"/>
                      </a:endParaRPr>
                    </a:p>
                  </a:txBody>
                  <a:tcPr marL="91440" marR="91440" marT="45720" marB="45720" anchor="ctr">
                    <a:lnL w="3810" cap="flat" cmpd="sng" algn="ctr">
                      <a:solidFill>
                        <a:srgbClr val="BDB3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BDB3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BDB3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BDB3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8F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0B3D4F"/>
                          </a:solidFill>
                          <a:latin typeface="Menlo" pitchFamily="34" charset="0"/>
                          <a:ea typeface="Menlo" pitchFamily="34" charset="-122"/>
                          <a:cs typeface="Menlo" pitchFamily="34" charset="-120"/>
                        </a:rPr>
                        <a:t>—</a:t>
                      </a:r>
                      <a:endParaRPr lang="en-US" sz="1400" dirty="0">
                        <a:latin typeface="Menlo" charset="0"/>
                        <a:ea typeface="Menlo" charset="0"/>
                        <a:cs typeface="Menlo" charset="0"/>
                      </a:endParaRPr>
                    </a:p>
                  </a:txBody>
                  <a:tcPr marL="91440" marR="91440" marT="45720" marB="45720" anchor="ctr">
                    <a:lnL w="3810" cap="flat" cmpd="sng" algn="ctr">
                      <a:solidFill>
                        <a:srgbClr val="BDB3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BDB3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BDB3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BDB3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8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A2A2A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触发确认后对公原路退回</a:t>
                      </a:r>
                      <a:endParaRPr lang="en-US" sz="105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3810" cap="flat" cmpd="sng" algn="ctr">
                      <a:solidFill>
                        <a:srgbClr val="BDB3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BDB3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BDB3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BDB3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8F0"/>
                    </a:solidFill>
                  </a:tcPr>
                </a:tc>
              </a:tr>
            </a:tbl>
          </a:graphicData>
        </a:graphic>
      </p:graphicFrame>
      <p:sp>
        <p:nvSpPr>
          <p:cNvPr id="10" name="Text 7"/>
          <p:cNvSpPr/>
          <p:nvPr/>
        </p:nvSpPr>
        <p:spPr>
          <a:xfrm>
            <a:off x="365760" y="475488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200" kern="0" dirty="0">
                <a:solidFill>
                  <a:srgbClr val="6E6A5F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11 / 21</a:t>
            </a:r>
            <a:endParaRPr lang="en-US" sz="900" dirty="0"/>
          </a:p>
        </p:txBody>
      </p:sp>
      <p:sp>
        <p:nvSpPr>
          <p:cNvPr id="11" name="Text 8"/>
          <p:cNvSpPr/>
          <p:nvPr/>
        </p:nvSpPr>
        <p:spPr>
          <a:xfrm>
            <a:off x="6400800" y="475488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6E6A5F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水之明亚马逊申诉服务  ·  销售介绍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6F2E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286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141414"/>
                </a:solidFill>
                <a:latin typeface="Songti SC" pitchFamily="34" charset="0"/>
                <a:ea typeface="Songti SC" pitchFamily="34" charset="-122"/>
                <a:cs typeface="Songti SC" pitchFamily="34" charset="-120"/>
              </a:rPr>
              <a:t>水 之 明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949440" y="2286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141414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柒  ·  RED LINE  ·  服务边界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365760" y="548640"/>
            <a:ext cx="8412480" cy="0"/>
          </a:xfrm>
          <a:prstGeom prst="line">
            <a:avLst/>
          </a:prstGeom>
          <a:noFill/>
          <a:ln w="6350">
            <a:solidFill>
              <a:srgbClr val="D6CFBD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365760" y="822960"/>
            <a:ext cx="8412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41414"/>
                </a:solidFill>
                <a:latin typeface="Songti SC" pitchFamily="34" charset="0"/>
                <a:ea typeface="Songti SC" pitchFamily="34" charset="-122"/>
                <a:cs typeface="Songti SC" pitchFamily="34" charset="-120"/>
              </a:rPr>
              <a:t>这些单子我们不接</a:t>
            </a:r>
            <a:endParaRPr lang="en-US" sz="3600" dirty="0"/>
          </a:p>
        </p:txBody>
      </p:sp>
      <p:sp>
        <p:nvSpPr>
          <p:cNvPr id="6" name="Text 4"/>
          <p:cNvSpPr/>
          <p:nvPr/>
        </p:nvSpPr>
        <p:spPr>
          <a:xfrm>
            <a:off x="365760" y="150876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E6A5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边界清晰是对客户的尊重，也是对我们自己的保护。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365760" y="2103120"/>
            <a:ext cx="4114800" cy="2606040"/>
          </a:xfrm>
          <a:prstGeom prst="rect">
            <a:avLst/>
          </a:prstGeom>
          <a:solidFill>
            <a:srgbClr val="FBF5F4"/>
          </a:solidFill>
          <a:ln w="15240">
            <a:solidFill>
              <a:srgbClr val="A52A2A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65760" y="2103120"/>
            <a:ext cx="4114800" cy="411480"/>
          </a:xfrm>
          <a:prstGeom prst="rect">
            <a:avLst/>
          </a:prstGeom>
          <a:solidFill>
            <a:srgbClr val="A52A2A"/>
          </a:solidFill>
          <a:ln/>
        </p:spPr>
      </p:sp>
      <p:sp>
        <p:nvSpPr>
          <p:cNvPr id="9" name="Text 7"/>
          <p:cNvSpPr/>
          <p:nvPr/>
        </p:nvSpPr>
        <p:spPr>
          <a:xfrm>
            <a:off x="548640" y="2121408"/>
            <a:ext cx="3931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F6F2E9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客户类型 · CLIENT TYPE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548640" y="2651760"/>
            <a:ext cx="3840480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1200" dirty="0">
                <a:solidFill>
                  <a:srgbClr val="141414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✕  港澳台主体卖家  ·  即使有大陆关联也不接</a:t>
            </a:r>
            <a:endParaRPr lang="en-US" sz="12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200" dirty="0">
                <a:solidFill>
                  <a:srgbClr val="141414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✕  海外华人卖家  ·  无大陆主体的华人</a:t>
            </a:r>
            <a:endParaRPr lang="en-US" sz="12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200" dirty="0">
                <a:solidFill>
                  <a:srgbClr val="141414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✕  海外本土卖家  ·  非中文母语客户</a:t>
            </a:r>
            <a:endParaRPr lang="en-US" sz="12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200" dirty="0">
                <a:solidFill>
                  <a:srgbClr val="141414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✕  亚马逊中国站  /  其他电商平台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4663440" y="2103120"/>
            <a:ext cx="4114800" cy="2606040"/>
          </a:xfrm>
          <a:prstGeom prst="rect">
            <a:avLst/>
          </a:prstGeom>
          <a:solidFill>
            <a:srgbClr val="FBF5F4"/>
          </a:solidFill>
          <a:ln w="15240">
            <a:solidFill>
              <a:srgbClr val="A52A2A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663440" y="2103120"/>
            <a:ext cx="4114800" cy="411480"/>
          </a:xfrm>
          <a:prstGeom prst="rect">
            <a:avLst/>
          </a:prstGeom>
          <a:solidFill>
            <a:srgbClr val="A52A2A"/>
          </a:solidFill>
          <a:ln/>
        </p:spPr>
      </p:sp>
      <p:sp>
        <p:nvSpPr>
          <p:cNvPr id="13" name="Text 11"/>
          <p:cNvSpPr/>
          <p:nvPr/>
        </p:nvSpPr>
        <p:spPr>
          <a:xfrm>
            <a:off x="4846320" y="2121408"/>
            <a:ext cx="3931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F6F2E9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业务类型 · BUSINESS TYPE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846320" y="2651760"/>
            <a:ext cx="3840480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1200" dirty="0">
                <a:solidFill>
                  <a:srgbClr val="141414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✕  「特殊渠道」取款  ·  代过审  ·  伪造材料</a:t>
            </a:r>
            <a:endParaRPr lang="en-US" sz="12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200" dirty="0">
                <a:solidFill>
                  <a:srgbClr val="141414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✕  法人无法配合的视频验证  /  KYC</a:t>
            </a:r>
            <a:endParaRPr lang="en-US" sz="12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200" dirty="0">
                <a:solidFill>
                  <a:srgbClr val="141414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✕  买卖账号  ·  灰色操作</a:t>
            </a:r>
            <a:endParaRPr lang="en-US" sz="12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200" dirty="0">
                <a:solidFill>
                  <a:srgbClr val="141414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✕  已永久拉黑且无证据链的极端案例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365760" y="475488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200" kern="0" dirty="0">
                <a:solidFill>
                  <a:srgbClr val="6E6A5F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12 / 21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6400800" y="475488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6E6A5F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水之明亚马逊申诉服务  ·  销售介绍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6F2E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286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141414"/>
                </a:solidFill>
                <a:latin typeface="Songti SC" pitchFamily="34" charset="0"/>
                <a:ea typeface="Songti SC" pitchFamily="34" charset="-122"/>
                <a:cs typeface="Songti SC" pitchFamily="34" charset="-120"/>
              </a:rPr>
              <a:t>水 之 明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949440" y="2286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141414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捌  ·  METHODOLOGY  ·  方法论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365760" y="548640"/>
            <a:ext cx="8412480" cy="0"/>
          </a:xfrm>
          <a:prstGeom prst="line">
            <a:avLst/>
          </a:prstGeom>
          <a:noFill/>
          <a:ln w="6350">
            <a:solidFill>
              <a:srgbClr val="D6CFBD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365760" y="822960"/>
            <a:ext cx="8412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41414"/>
                </a:solidFill>
                <a:latin typeface="Songti SC" pitchFamily="34" charset="0"/>
                <a:ea typeface="Songti SC" pitchFamily="34" charset="-122"/>
                <a:cs typeface="Songti SC" pitchFamily="34" charset="-120"/>
              </a:rPr>
              <a:t>四步工作法</a:t>
            </a:r>
            <a:endParaRPr lang="en-US" sz="3600" dirty="0"/>
          </a:p>
        </p:txBody>
      </p:sp>
      <p:sp>
        <p:nvSpPr>
          <p:cNvPr id="6" name="Text 4"/>
          <p:cNvSpPr/>
          <p:nvPr/>
        </p:nvSpPr>
        <p:spPr>
          <a:xfrm>
            <a:off x="365760" y="150876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E6A5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申诉不是玄学，是可复现的工艺。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365760" y="2057400"/>
            <a:ext cx="2011680" cy="2468880"/>
          </a:xfrm>
          <a:prstGeom prst="rect">
            <a:avLst/>
          </a:prstGeom>
          <a:solidFill>
            <a:srgbClr val="FBF8F0"/>
          </a:solidFill>
          <a:ln w="6350">
            <a:solidFill>
              <a:srgbClr val="D6CFBD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65760" y="2057400"/>
            <a:ext cx="2011680" cy="457200"/>
          </a:xfrm>
          <a:prstGeom prst="rect">
            <a:avLst/>
          </a:prstGeom>
          <a:solidFill>
            <a:srgbClr val="0B3D4F"/>
          </a:solidFill>
          <a:ln/>
        </p:spPr>
      </p:sp>
      <p:sp>
        <p:nvSpPr>
          <p:cNvPr id="9" name="Text 7"/>
          <p:cNvSpPr/>
          <p:nvPr/>
        </p:nvSpPr>
        <p:spPr>
          <a:xfrm>
            <a:off x="548640" y="2112264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E8B86A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01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548640" y="265176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41414"/>
                </a:solidFill>
                <a:latin typeface="Songti SC" pitchFamily="34" charset="0"/>
                <a:ea typeface="Songti SC" pitchFamily="34" charset="-122"/>
                <a:cs typeface="Songti SC" pitchFamily="34" charset="-120"/>
              </a:rPr>
              <a:t>诊断</a:t>
            </a:r>
            <a:endParaRPr lang="en-US" sz="2600" dirty="0"/>
          </a:p>
        </p:txBody>
      </p:sp>
      <p:sp>
        <p:nvSpPr>
          <p:cNvPr id="11" name="Text 9"/>
          <p:cNvSpPr/>
          <p:nvPr/>
        </p:nvSpPr>
        <p:spPr>
          <a:xfrm>
            <a:off x="548640" y="3108960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200" kern="0" dirty="0">
                <a:solidFill>
                  <a:srgbClr val="0B3D4F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DIAGNOSIS  ·  2 HOURS</a:t>
            </a:r>
            <a:endParaRPr lang="en-US" sz="850" dirty="0"/>
          </a:p>
        </p:txBody>
      </p:sp>
      <p:sp>
        <p:nvSpPr>
          <p:cNvPr id="12" name="Shape 10"/>
          <p:cNvSpPr/>
          <p:nvPr/>
        </p:nvSpPr>
        <p:spPr>
          <a:xfrm>
            <a:off x="548640" y="3429000"/>
            <a:ext cx="1645920" cy="0"/>
          </a:xfrm>
          <a:prstGeom prst="line">
            <a:avLst/>
          </a:prstGeom>
          <a:noFill/>
          <a:ln w="6350">
            <a:solidFill>
              <a:srgbClr val="D6CFBD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48640" y="3520440"/>
            <a:ext cx="16459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2A2A2A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邮件原文 + 店铺信息 → 2 工时书面诊断报告。判断真死因、定档、估概率、出报价。</a:t>
            </a:r>
            <a:endParaRPr lang="en-US" sz="950" dirty="0"/>
          </a:p>
        </p:txBody>
      </p:sp>
      <p:sp>
        <p:nvSpPr>
          <p:cNvPr id="14" name="Text 12"/>
          <p:cNvSpPr/>
          <p:nvPr/>
        </p:nvSpPr>
        <p:spPr>
          <a:xfrm>
            <a:off x="2382012" y="2971800"/>
            <a:ext cx="1645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B3D4F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→</a:t>
            </a:r>
            <a:endParaRPr lang="en-US" sz="1600" dirty="0"/>
          </a:p>
        </p:txBody>
      </p:sp>
      <p:sp>
        <p:nvSpPr>
          <p:cNvPr id="15" name="Shape 13"/>
          <p:cNvSpPr/>
          <p:nvPr/>
        </p:nvSpPr>
        <p:spPr>
          <a:xfrm>
            <a:off x="2496312" y="2057400"/>
            <a:ext cx="2011680" cy="2468880"/>
          </a:xfrm>
          <a:prstGeom prst="rect">
            <a:avLst/>
          </a:prstGeom>
          <a:solidFill>
            <a:srgbClr val="FBF8F0"/>
          </a:solidFill>
          <a:ln w="6350">
            <a:solidFill>
              <a:srgbClr val="D6CFBD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2496312" y="2057400"/>
            <a:ext cx="2011680" cy="457200"/>
          </a:xfrm>
          <a:prstGeom prst="rect">
            <a:avLst/>
          </a:prstGeom>
          <a:solidFill>
            <a:srgbClr val="0B3D4F"/>
          </a:solidFill>
          <a:ln/>
        </p:spPr>
      </p:sp>
      <p:sp>
        <p:nvSpPr>
          <p:cNvPr id="17" name="Text 15"/>
          <p:cNvSpPr/>
          <p:nvPr/>
        </p:nvSpPr>
        <p:spPr>
          <a:xfrm>
            <a:off x="2679192" y="2112264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E8B86A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02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2679192" y="265176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41414"/>
                </a:solidFill>
                <a:latin typeface="Songti SC" pitchFamily="34" charset="0"/>
                <a:ea typeface="Songti SC" pitchFamily="34" charset="-122"/>
                <a:cs typeface="Songti SC" pitchFamily="34" charset="-120"/>
              </a:rPr>
              <a:t>策略</a:t>
            </a:r>
            <a:endParaRPr lang="en-US" sz="2600" dirty="0"/>
          </a:p>
        </p:txBody>
      </p:sp>
      <p:sp>
        <p:nvSpPr>
          <p:cNvPr id="19" name="Text 17"/>
          <p:cNvSpPr/>
          <p:nvPr/>
        </p:nvSpPr>
        <p:spPr>
          <a:xfrm>
            <a:off x="2679192" y="3108960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200" kern="0" dirty="0">
                <a:solidFill>
                  <a:srgbClr val="0B3D4F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STRATEGY  ·  1–3 DAYS</a:t>
            </a:r>
            <a:endParaRPr lang="en-US" sz="850" dirty="0"/>
          </a:p>
        </p:txBody>
      </p:sp>
      <p:sp>
        <p:nvSpPr>
          <p:cNvPr id="20" name="Shape 18"/>
          <p:cNvSpPr/>
          <p:nvPr/>
        </p:nvSpPr>
        <p:spPr>
          <a:xfrm>
            <a:off x="2679192" y="3429000"/>
            <a:ext cx="1645920" cy="0"/>
          </a:xfrm>
          <a:prstGeom prst="line">
            <a:avLst/>
          </a:prstGeom>
          <a:noFill/>
          <a:ln w="6350">
            <a:solidFill>
              <a:srgbClr val="D6CFBD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2679192" y="3520440"/>
            <a:ext cx="16459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2A2A2A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选叙事主线、定证据露出、措辞校准、反向预判 Amazon 追问。策略大纲你确认后才进撰写。</a:t>
            </a:r>
            <a:endParaRPr lang="en-US" sz="950" dirty="0"/>
          </a:p>
        </p:txBody>
      </p:sp>
      <p:sp>
        <p:nvSpPr>
          <p:cNvPr id="22" name="Text 20"/>
          <p:cNvSpPr/>
          <p:nvPr/>
        </p:nvSpPr>
        <p:spPr>
          <a:xfrm>
            <a:off x="4512564" y="2971800"/>
            <a:ext cx="1645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B3D4F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→</a:t>
            </a:r>
            <a:endParaRPr lang="en-US" sz="1600" dirty="0"/>
          </a:p>
        </p:txBody>
      </p:sp>
      <p:sp>
        <p:nvSpPr>
          <p:cNvPr id="23" name="Shape 21"/>
          <p:cNvSpPr/>
          <p:nvPr/>
        </p:nvSpPr>
        <p:spPr>
          <a:xfrm>
            <a:off x="4626864" y="2057400"/>
            <a:ext cx="2011680" cy="2468880"/>
          </a:xfrm>
          <a:prstGeom prst="rect">
            <a:avLst/>
          </a:prstGeom>
          <a:solidFill>
            <a:srgbClr val="FBF8F0"/>
          </a:solidFill>
          <a:ln w="6350">
            <a:solidFill>
              <a:srgbClr val="D6CFBD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4626864" y="2057400"/>
            <a:ext cx="2011680" cy="457200"/>
          </a:xfrm>
          <a:prstGeom prst="rect">
            <a:avLst/>
          </a:prstGeom>
          <a:solidFill>
            <a:srgbClr val="0B3D4F"/>
          </a:solidFill>
          <a:ln/>
        </p:spPr>
      </p:sp>
      <p:sp>
        <p:nvSpPr>
          <p:cNvPr id="25" name="Text 23"/>
          <p:cNvSpPr/>
          <p:nvPr/>
        </p:nvSpPr>
        <p:spPr>
          <a:xfrm>
            <a:off x="4809744" y="2112264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E8B86A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03</a:t>
            </a:r>
            <a:endParaRPr lang="en-US" sz="1800" dirty="0"/>
          </a:p>
        </p:txBody>
      </p:sp>
      <p:sp>
        <p:nvSpPr>
          <p:cNvPr id="26" name="Text 24"/>
          <p:cNvSpPr/>
          <p:nvPr/>
        </p:nvSpPr>
        <p:spPr>
          <a:xfrm>
            <a:off x="4809744" y="265176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41414"/>
                </a:solidFill>
                <a:latin typeface="Songti SC" pitchFamily="34" charset="0"/>
                <a:ea typeface="Songti SC" pitchFamily="34" charset="-122"/>
                <a:cs typeface="Songti SC" pitchFamily="34" charset="-120"/>
              </a:rPr>
              <a:t>撰写</a:t>
            </a:r>
            <a:endParaRPr lang="en-US" sz="2600" dirty="0"/>
          </a:p>
        </p:txBody>
      </p:sp>
      <p:sp>
        <p:nvSpPr>
          <p:cNvPr id="27" name="Text 25"/>
          <p:cNvSpPr/>
          <p:nvPr/>
        </p:nvSpPr>
        <p:spPr>
          <a:xfrm>
            <a:off x="4809744" y="3108960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200" kern="0" dirty="0">
                <a:solidFill>
                  <a:srgbClr val="0B3D4F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DRAFTING  ·  2–5 DAYS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4809744" y="3429000"/>
            <a:ext cx="1645920" cy="0"/>
          </a:xfrm>
          <a:prstGeom prst="line">
            <a:avLst/>
          </a:prstGeom>
          <a:noFill/>
          <a:ln w="6350">
            <a:solidFill>
              <a:srgbClr val="D6CFBD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809744" y="3520440"/>
            <a:ext cx="16459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2A2A2A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中英双稿同步、版本化管理、你确认前绝不提交。提交后 24 小时内同步 Amazon 回复到看板。</a:t>
            </a:r>
            <a:endParaRPr lang="en-US" sz="950" dirty="0"/>
          </a:p>
        </p:txBody>
      </p:sp>
      <p:sp>
        <p:nvSpPr>
          <p:cNvPr id="30" name="Text 28"/>
          <p:cNvSpPr/>
          <p:nvPr/>
        </p:nvSpPr>
        <p:spPr>
          <a:xfrm>
            <a:off x="6643116" y="2971800"/>
            <a:ext cx="1645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B3D4F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→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757416" y="2057400"/>
            <a:ext cx="2011680" cy="2468880"/>
          </a:xfrm>
          <a:prstGeom prst="rect">
            <a:avLst/>
          </a:prstGeom>
          <a:solidFill>
            <a:srgbClr val="FBF8F0"/>
          </a:solidFill>
          <a:ln w="6350">
            <a:solidFill>
              <a:srgbClr val="D6CFBD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6757416" y="2057400"/>
            <a:ext cx="2011680" cy="457200"/>
          </a:xfrm>
          <a:prstGeom prst="rect">
            <a:avLst/>
          </a:prstGeom>
          <a:solidFill>
            <a:srgbClr val="0B3D4F"/>
          </a:solidFill>
          <a:ln/>
        </p:spPr>
      </p:sp>
      <p:sp>
        <p:nvSpPr>
          <p:cNvPr id="33" name="Text 31"/>
          <p:cNvSpPr/>
          <p:nvPr/>
        </p:nvSpPr>
        <p:spPr>
          <a:xfrm>
            <a:off x="6940296" y="2112264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E8B86A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04</a:t>
            </a:r>
            <a:endParaRPr lang="en-US" sz="1800" dirty="0"/>
          </a:p>
        </p:txBody>
      </p:sp>
      <p:sp>
        <p:nvSpPr>
          <p:cNvPr id="34" name="Text 32"/>
          <p:cNvSpPr/>
          <p:nvPr/>
        </p:nvSpPr>
        <p:spPr>
          <a:xfrm>
            <a:off x="6940296" y="265176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41414"/>
                </a:solidFill>
                <a:latin typeface="Songti SC" pitchFamily="34" charset="0"/>
                <a:ea typeface="Songti SC" pitchFamily="34" charset="-122"/>
                <a:cs typeface="Songti SC" pitchFamily="34" charset="-120"/>
              </a:rPr>
              <a:t>跟进</a:t>
            </a:r>
            <a:endParaRPr lang="en-US" sz="2600" dirty="0"/>
          </a:p>
        </p:txBody>
      </p:sp>
      <p:sp>
        <p:nvSpPr>
          <p:cNvPr id="35" name="Text 33"/>
          <p:cNvSpPr/>
          <p:nvPr/>
        </p:nvSpPr>
        <p:spPr>
          <a:xfrm>
            <a:off x="6940296" y="3108960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200" kern="0" dirty="0">
                <a:solidFill>
                  <a:srgbClr val="0B3D4F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FOLLOW-UP  ·  3–30 DAYS</a:t>
            </a:r>
            <a:endParaRPr lang="en-US" sz="850" dirty="0"/>
          </a:p>
        </p:txBody>
      </p:sp>
      <p:sp>
        <p:nvSpPr>
          <p:cNvPr id="36" name="Shape 34"/>
          <p:cNvSpPr/>
          <p:nvPr/>
        </p:nvSpPr>
        <p:spPr>
          <a:xfrm>
            <a:off x="6940296" y="3429000"/>
            <a:ext cx="1645920" cy="0"/>
          </a:xfrm>
          <a:prstGeom prst="line">
            <a:avLst/>
          </a:prstGeom>
          <a:noFill/>
          <a:ln w="6350">
            <a:solidFill>
              <a:srgbClr val="D6CFBD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6940296" y="3520440"/>
            <a:ext cx="16459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2A2A2A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48 小时主动推进、根据回复迭代策略、预判终局、结案归档报告。</a:t>
            </a:r>
            <a:endParaRPr lang="en-US" sz="950" dirty="0"/>
          </a:p>
        </p:txBody>
      </p:sp>
      <p:sp>
        <p:nvSpPr>
          <p:cNvPr id="38" name="Text 36"/>
          <p:cNvSpPr/>
          <p:nvPr/>
        </p:nvSpPr>
        <p:spPr>
          <a:xfrm>
            <a:off x="365760" y="475488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200" kern="0" dirty="0">
                <a:solidFill>
                  <a:srgbClr val="6E6A5F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13 / 21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6400800" y="475488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6E6A5F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水之明亚马逊申诉服务  ·  销售介绍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6F2E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286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141414"/>
                </a:solidFill>
                <a:latin typeface="Songti SC" pitchFamily="34" charset="0"/>
                <a:ea typeface="Songti SC" pitchFamily="34" charset="-122"/>
                <a:cs typeface="Songti SC" pitchFamily="34" charset="-120"/>
              </a:rPr>
              <a:t>水 之 明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949440" y="2286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141414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玖  ·  POA QUALITY  ·  撰写方式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365760" y="548640"/>
            <a:ext cx="8412480" cy="0"/>
          </a:xfrm>
          <a:prstGeom prst="line">
            <a:avLst/>
          </a:prstGeom>
          <a:noFill/>
          <a:ln w="6350">
            <a:solidFill>
              <a:srgbClr val="D6CFBD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365760" y="822960"/>
            <a:ext cx="8412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41414"/>
                </a:solidFill>
                <a:latin typeface="Songti SC" pitchFamily="34" charset="0"/>
                <a:ea typeface="Songti SC" pitchFamily="34" charset="-122"/>
                <a:cs typeface="Songti SC" pitchFamily="34" charset="-120"/>
              </a:rPr>
              <a:t>模板派 POA  vs  原创 POA</a:t>
            </a:r>
            <a:endParaRPr lang="en-US" sz="3600" dirty="0"/>
          </a:p>
        </p:txBody>
      </p:sp>
      <p:sp>
        <p:nvSpPr>
          <p:cNvPr id="6" name="Text 4"/>
          <p:cNvSpPr/>
          <p:nvPr/>
        </p:nvSpPr>
        <p:spPr>
          <a:xfrm>
            <a:off x="365760" y="150876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E6A5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行业里最大的差距不在价格，而在 POA 的撰写方式。</a:t>
            </a:r>
            <a:endParaRPr lang="en-US" sz="1400" dirty="0"/>
          </a:p>
        </p:txBody>
      </p:sp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2103120"/>
          <a:ext cx="8412480" cy="2606040"/>
        </p:xfrm>
        <a:graphic>
          <a:graphicData uri="http://schemas.openxmlformats.org/drawingml/2006/table">
            <a:tbl>
              <a:tblPr/>
              <a:tblGrid>
                <a:gridCol w="1645920"/>
                <a:gridCol w="3383280"/>
                <a:gridCol w="3383280"/>
              </a:tblGrid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6F2E9"/>
                          </a:solidFill>
                          <a:latin typeface="Songti SC" pitchFamily="34" charset="0"/>
                          <a:ea typeface="Songti SC" pitchFamily="34" charset="-122"/>
                          <a:cs typeface="Songti SC" pitchFamily="34" charset="-120"/>
                        </a:rPr>
                        <a:t>维度</a:t>
                      </a:r>
                      <a:endParaRPr lang="en-US" sz="1100" dirty="0">
                        <a:latin typeface="Songti SC" charset="0"/>
                        <a:ea typeface="Songti SC" charset="0"/>
                        <a:cs typeface="Songti SC" charset="0"/>
                      </a:endParaRPr>
                    </a:p>
                  </a:txBody>
                  <a:tcPr marL="91440" marR="91440" marT="45720" marB="45720" anchor="ctr">
                    <a:lnL w="3810" cap="flat" cmpd="sng" algn="ctr">
                      <a:solidFill>
                        <a:srgbClr val="BDB3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BDB3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BDB3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BDB3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41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6F2E9"/>
                          </a:solidFill>
                          <a:latin typeface="Songti SC" pitchFamily="34" charset="0"/>
                          <a:ea typeface="Songti SC" pitchFamily="34" charset="-122"/>
                          <a:cs typeface="Songti SC" pitchFamily="34" charset="-120"/>
                        </a:rPr>
                        <a:t>模板派</a:t>
                      </a:r>
                      <a:endParaRPr lang="en-US" sz="1100" dirty="0">
                        <a:latin typeface="Songti SC" charset="0"/>
                        <a:ea typeface="Songti SC" charset="0"/>
                        <a:cs typeface="Songti SC" charset="0"/>
                      </a:endParaRPr>
                    </a:p>
                  </a:txBody>
                  <a:tcPr marL="91440" marR="91440" marT="45720" marB="45720" anchor="ctr">
                    <a:lnL w="3810" cap="flat" cmpd="sng" algn="ctr">
                      <a:solidFill>
                        <a:srgbClr val="BDB3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BDB3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BDB3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BDB3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41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6F2E9"/>
                          </a:solidFill>
                          <a:latin typeface="Songti SC" pitchFamily="34" charset="0"/>
                          <a:ea typeface="Songti SC" pitchFamily="34" charset="-122"/>
                          <a:cs typeface="Songti SC" pitchFamily="34" charset="-120"/>
                        </a:rPr>
                        <a:t>水之明  ·  原创</a:t>
                      </a:r>
                      <a:endParaRPr lang="en-US" sz="1100" dirty="0">
                        <a:latin typeface="Songti SC" charset="0"/>
                        <a:ea typeface="Songti SC" charset="0"/>
                        <a:cs typeface="Songti SC" charset="0"/>
                      </a:endParaRPr>
                    </a:p>
                  </a:txBody>
                  <a:tcPr marL="91440" marR="91440" marT="45720" marB="45720" anchor="ctr">
                    <a:lnL w="3810" cap="flat" cmpd="sng" algn="ctr">
                      <a:solidFill>
                        <a:srgbClr val="BDB3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BDB3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BDB3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BDB3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D4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41414"/>
                          </a:solidFill>
                          <a:latin typeface="Songti SC" pitchFamily="34" charset="0"/>
                          <a:ea typeface="Songti SC" pitchFamily="34" charset="-122"/>
                          <a:cs typeface="Songti SC" pitchFamily="34" charset="-120"/>
                        </a:rPr>
                        <a:t>撰稿方式</a:t>
                      </a:r>
                      <a:endParaRPr lang="en-US" sz="1100" dirty="0">
                        <a:latin typeface="Songti SC" charset="0"/>
                        <a:ea typeface="Songti SC" charset="0"/>
                        <a:cs typeface="Songti SC" charset="0"/>
                      </a:endParaRPr>
                    </a:p>
                  </a:txBody>
                  <a:tcPr marL="91440" marR="91440" marT="45720" marB="45720" anchor="ctr">
                    <a:lnL w="3810" cap="flat" cmpd="sng" algn="ctr">
                      <a:solidFill>
                        <a:srgbClr val="BDB3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BDB3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BDB3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BDB3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E7D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A52A2A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复制同类模板、改店铺名和 ASIN</a:t>
                      </a:r>
                      <a:endParaRPr lang="en-US" sz="105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3810" cap="flat" cmpd="sng" algn="ctr">
                      <a:solidFill>
                        <a:srgbClr val="BDB3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BDB3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BDB3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BDB3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8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0B3D4F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基于你店铺实情重新撰写</a:t>
                      </a:r>
                      <a:endParaRPr lang="en-US" sz="105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3810" cap="flat" cmpd="sng" algn="ctr">
                      <a:solidFill>
                        <a:srgbClr val="BDB3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BDB3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BDB3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BDB3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8F0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41414"/>
                          </a:solidFill>
                          <a:latin typeface="Songti SC" pitchFamily="34" charset="0"/>
                          <a:ea typeface="Songti SC" pitchFamily="34" charset="-122"/>
                          <a:cs typeface="Songti SC" pitchFamily="34" charset="-120"/>
                        </a:rPr>
                        <a:t>产出周期</a:t>
                      </a:r>
                      <a:endParaRPr lang="en-US" sz="1100" dirty="0">
                        <a:latin typeface="Songti SC" charset="0"/>
                        <a:ea typeface="Songti SC" charset="0"/>
                        <a:cs typeface="Songti SC" charset="0"/>
                      </a:endParaRPr>
                    </a:p>
                  </a:txBody>
                  <a:tcPr marL="91440" marR="91440" marT="45720" marB="45720" anchor="ctr">
                    <a:lnL w="3810" cap="flat" cmpd="sng" algn="ctr">
                      <a:solidFill>
                        <a:srgbClr val="BDB3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BDB3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BDB3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BDB3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E7D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A52A2A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2 小时内交付（快是因为复制）</a:t>
                      </a:r>
                      <a:endParaRPr lang="en-US" sz="105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3810" cap="flat" cmpd="sng" algn="ctr">
                      <a:solidFill>
                        <a:srgbClr val="BDB3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BDB3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BDB3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BDB3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8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0B3D4F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2–5 天（要调研、要打磨）</a:t>
                      </a:r>
                      <a:endParaRPr lang="en-US" sz="105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3810" cap="flat" cmpd="sng" algn="ctr">
                      <a:solidFill>
                        <a:srgbClr val="BDB3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BDB3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BDB3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BDB3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8F0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41414"/>
                          </a:solidFill>
                          <a:latin typeface="Songti SC" pitchFamily="34" charset="0"/>
                          <a:ea typeface="Songti SC" pitchFamily="34" charset="-122"/>
                          <a:cs typeface="Songti SC" pitchFamily="34" charset="-120"/>
                        </a:rPr>
                        <a:t>首次通过率</a:t>
                      </a:r>
                      <a:endParaRPr lang="en-US" sz="1100" dirty="0">
                        <a:latin typeface="Songti SC" charset="0"/>
                        <a:ea typeface="Songti SC" charset="0"/>
                        <a:cs typeface="Songti SC" charset="0"/>
                      </a:endParaRPr>
                    </a:p>
                  </a:txBody>
                  <a:tcPr marL="91440" marR="91440" marT="45720" marB="45720" anchor="ctr">
                    <a:lnL w="3810" cap="flat" cmpd="sng" algn="ctr">
                      <a:solidFill>
                        <a:srgbClr val="BDB3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BDB3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BDB3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BDB3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E7D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A52A2A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靠运气，模板被识别后连坐被拒</a:t>
                      </a:r>
                      <a:endParaRPr lang="en-US" sz="105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3810" cap="flat" cmpd="sng" algn="ctr">
                      <a:solidFill>
                        <a:srgbClr val="BDB3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BDB3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BDB3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BDB3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8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0B3D4F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65–80%（基于 24-26 年内部数据）</a:t>
                      </a:r>
                      <a:endParaRPr lang="en-US" sz="105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3810" cap="flat" cmpd="sng" algn="ctr">
                      <a:solidFill>
                        <a:srgbClr val="BDB3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BDB3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BDB3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BDB3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8F0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41414"/>
                          </a:solidFill>
                          <a:latin typeface="Songti SC" pitchFamily="34" charset="0"/>
                          <a:ea typeface="Songti SC" pitchFamily="34" charset="-122"/>
                          <a:cs typeface="Songti SC" pitchFamily="34" charset="-120"/>
                        </a:rPr>
                        <a:t>二次申诉难度</a:t>
                      </a:r>
                      <a:endParaRPr lang="en-US" sz="1100" dirty="0">
                        <a:latin typeface="Songti SC" charset="0"/>
                        <a:ea typeface="Songti SC" charset="0"/>
                        <a:cs typeface="Songti SC" charset="0"/>
                      </a:endParaRPr>
                    </a:p>
                  </a:txBody>
                  <a:tcPr marL="91440" marR="91440" marT="45720" marB="45720" anchor="ctr">
                    <a:lnL w="3810" cap="flat" cmpd="sng" algn="ctr">
                      <a:solidFill>
                        <a:srgbClr val="BDB3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BDB3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BDB3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BDB3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E7D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A52A2A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模板被拒后几乎无解</a:t>
                      </a:r>
                      <a:endParaRPr lang="en-US" sz="105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3810" cap="flat" cmpd="sng" algn="ctr">
                      <a:solidFill>
                        <a:srgbClr val="BDB3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BDB3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BDB3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BDB3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8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0B3D4F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原创稿被拒仍可基于同叙事迭代</a:t>
                      </a:r>
                      <a:endParaRPr lang="en-US" sz="105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3810" cap="flat" cmpd="sng" algn="ctr">
                      <a:solidFill>
                        <a:srgbClr val="BDB3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BDB3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BDB3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BDB3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8F0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41414"/>
                          </a:solidFill>
                          <a:latin typeface="Songti SC" pitchFamily="34" charset="0"/>
                          <a:ea typeface="Songti SC" pitchFamily="34" charset="-122"/>
                          <a:cs typeface="Songti SC" pitchFamily="34" charset="-120"/>
                        </a:rPr>
                        <a:t>客户参与度</a:t>
                      </a:r>
                      <a:endParaRPr lang="en-US" sz="1100" dirty="0">
                        <a:latin typeface="Songti SC" charset="0"/>
                        <a:ea typeface="Songti SC" charset="0"/>
                        <a:cs typeface="Songti SC" charset="0"/>
                      </a:endParaRPr>
                    </a:p>
                  </a:txBody>
                  <a:tcPr marL="91440" marR="91440" marT="45720" marB="45720" anchor="ctr">
                    <a:lnL w="3810" cap="flat" cmpd="sng" algn="ctr">
                      <a:solidFill>
                        <a:srgbClr val="BDB3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BDB3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BDB3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BDB3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E7D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A52A2A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基本不要求你提供材料</a:t>
                      </a:r>
                      <a:endParaRPr lang="en-US" sz="105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3810" cap="flat" cmpd="sng" algn="ctr">
                      <a:solidFill>
                        <a:srgbClr val="BDB3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BDB3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BDB3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BDB3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8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0B3D4F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需逐段确认事实，像写一篇认真文章</a:t>
                      </a:r>
                      <a:endParaRPr lang="en-US" sz="105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3810" cap="flat" cmpd="sng" algn="ctr">
                      <a:solidFill>
                        <a:srgbClr val="BDB3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BDB3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BDB3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BDB3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8F0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41414"/>
                          </a:solidFill>
                          <a:latin typeface="Songti SC" pitchFamily="34" charset="0"/>
                          <a:ea typeface="Songti SC" pitchFamily="34" charset="-122"/>
                          <a:cs typeface="Songti SC" pitchFamily="34" charset="-120"/>
                        </a:rPr>
                        <a:t>长期风险</a:t>
                      </a:r>
                      <a:endParaRPr lang="en-US" sz="1100" dirty="0">
                        <a:latin typeface="Songti SC" charset="0"/>
                        <a:ea typeface="Songti SC" charset="0"/>
                        <a:cs typeface="Songti SC" charset="0"/>
                      </a:endParaRPr>
                    </a:p>
                  </a:txBody>
                  <a:tcPr marL="91440" marR="91440" marT="45720" marB="45720" anchor="ctr">
                    <a:lnL w="3810" cap="flat" cmpd="sng" algn="ctr">
                      <a:solidFill>
                        <a:srgbClr val="BDB3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BDB3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BDB3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BDB3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E7D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A52A2A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账号被标记，后续封号风险高</a:t>
                      </a:r>
                      <a:endParaRPr lang="en-US" sz="105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3810" cap="flat" cmpd="sng" algn="ctr">
                      <a:solidFill>
                        <a:srgbClr val="BDB3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BDB3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BDB3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BDB3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8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0B3D4F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真实故事在 Amazon 档案留下清白记录</a:t>
                      </a:r>
                      <a:endParaRPr lang="en-US" sz="105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3810" cap="flat" cmpd="sng" algn="ctr">
                      <a:solidFill>
                        <a:srgbClr val="BDB3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BDB3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BDB3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BDB3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8F0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41414"/>
                          </a:solidFill>
                          <a:latin typeface="Songti SC" pitchFamily="34" charset="0"/>
                          <a:ea typeface="Songti SC" pitchFamily="34" charset="-122"/>
                          <a:cs typeface="Songti SC" pitchFamily="34" charset="-120"/>
                        </a:rPr>
                        <a:t>单价</a:t>
                      </a:r>
                      <a:endParaRPr lang="en-US" sz="1100" dirty="0">
                        <a:latin typeface="Songti SC" charset="0"/>
                        <a:ea typeface="Songti SC" charset="0"/>
                        <a:cs typeface="Songti SC" charset="0"/>
                      </a:endParaRPr>
                    </a:p>
                  </a:txBody>
                  <a:tcPr marL="91440" marR="91440" marT="45720" marB="45720" anchor="ctr">
                    <a:lnL w="3810" cap="flat" cmpd="sng" algn="ctr">
                      <a:solidFill>
                        <a:srgbClr val="BDB3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BDB3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BDB3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BDB3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E7D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A52A2A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¥500 – ¥1,500</a:t>
                      </a:r>
                      <a:endParaRPr lang="en-US" sz="105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3810" cap="flat" cmpd="sng" algn="ctr">
                      <a:solidFill>
                        <a:srgbClr val="BDB3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BDB3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BDB3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BDB3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8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0B3D4F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¥1,500 – ¥15,000（按难度分档）</a:t>
                      </a:r>
                      <a:endParaRPr lang="en-US" sz="105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3810" cap="flat" cmpd="sng" algn="ctr">
                      <a:solidFill>
                        <a:srgbClr val="BDB3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BDB3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BDB3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BDB3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8F0"/>
                    </a:solidFill>
                  </a:tcPr>
                </a:tc>
              </a:tr>
            </a:tbl>
          </a:graphicData>
        </a:graphic>
      </p:graphicFrame>
      <p:sp>
        <p:nvSpPr>
          <p:cNvPr id="8" name="Text 5"/>
          <p:cNvSpPr/>
          <p:nvPr/>
        </p:nvSpPr>
        <p:spPr>
          <a:xfrm>
            <a:off x="365760" y="475488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200" kern="0" dirty="0">
                <a:solidFill>
                  <a:srgbClr val="6E6A5F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14 / 21</a:t>
            </a:r>
            <a:endParaRPr lang="en-US" sz="900" dirty="0"/>
          </a:p>
        </p:txBody>
      </p:sp>
      <p:sp>
        <p:nvSpPr>
          <p:cNvPr id="9" name="Text 6"/>
          <p:cNvSpPr/>
          <p:nvPr/>
        </p:nvSpPr>
        <p:spPr>
          <a:xfrm>
            <a:off x="6400800" y="475488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6E6A5F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水之明亚马逊申诉服务  ·  销售介绍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6F2E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286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141414"/>
                </a:solidFill>
                <a:latin typeface="Songti SC" pitchFamily="34" charset="0"/>
                <a:ea typeface="Songti SC" pitchFamily="34" charset="-122"/>
                <a:cs typeface="Songti SC" pitchFamily="34" charset="-120"/>
              </a:rPr>
              <a:t>水 之 明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949440" y="2286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141414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拾  ·  CASE DASHBOARD  ·  案件看板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365760" y="548640"/>
            <a:ext cx="8412480" cy="0"/>
          </a:xfrm>
          <a:prstGeom prst="line">
            <a:avLst/>
          </a:prstGeom>
          <a:noFill/>
          <a:ln w="6350">
            <a:solidFill>
              <a:srgbClr val="D6CFBD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365760" y="822960"/>
            <a:ext cx="8412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41414"/>
                </a:solidFill>
                <a:latin typeface="Songti SC" pitchFamily="34" charset="0"/>
                <a:ea typeface="Songti SC" pitchFamily="34" charset="-122"/>
                <a:cs typeface="Songti SC" pitchFamily="34" charset="-120"/>
              </a:rPr>
              <a:t>所有人看得见同一份事实</a:t>
            </a:r>
            <a:endParaRPr lang="en-US" sz="3600" dirty="0"/>
          </a:p>
        </p:txBody>
      </p:sp>
      <p:sp>
        <p:nvSpPr>
          <p:cNvPr id="6" name="Text 4"/>
          <p:cNvSpPr/>
          <p:nvPr/>
        </p:nvSpPr>
        <p:spPr>
          <a:xfrm>
            <a:off x="365760" y="150876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E6A5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同行用微信聊，我们用看板留痕。不进看板的承诺都不算数。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365760" y="2103120"/>
            <a:ext cx="4937760" cy="2606040"/>
          </a:xfrm>
          <a:prstGeom prst="rect">
            <a:avLst/>
          </a:prstGeom>
          <a:solidFill>
            <a:srgbClr val="141414"/>
          </a:solidFill>
          <a:ln/>
        </p:spPr>
      </p:sp>
      <p:sp>
        <p:nvSpPr>
          <p:cNvPr id="8" name="Text 6"/>
          <p:cNvSpPr/>
          <p:nvPr/>
        </p:nvSpPr>
        <p:spPr>
          <a:xfrm>
            <a:off x="548640" y="224028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200" kern="0" dirty="0">
                <a:solidFill>
                  <a:srgbClr val="E8B86A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CASE BOARD  ·  WZM-2026-0412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548640" y="246888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6F2E9"/>
                </a:solidFill>
                <a:latin typeface="Songti SC" pitchFamily="34" charset="0"/>
                <a:ea typeface="Songti SC" pitchFamily="34" charset="-122"/>
                <a:cs typeface="Songti SC" pitchFamily="34" charset="-120"/>
              </a:rPr>
              <a:t>关联申诉 (初次) · 二级 · ¥6,500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548640" y="2788920"/>
            <a:ext cx="4572000" cy="0"/>
          </a:xfrm>
          <a:prstGeom prst="line">
            <a:avLst/>
          </a:prstGeom>
          <a:noFill/>
          <a:ln w="6350">
            <a:solidFill>
              <a:srgbClr val="555555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48640" y="2926080"/>
            <a:ext cx="228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E8B86A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●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777240" y="292608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6F2E9"/>
                </a:solidFill>
                <a:latin typeface="Songti SC" pitchFamily="34" charset="0"/>
                <a:ea typeface="Songti SC" pitchFamily="34" charset="-122"/>
                <a:cs typeface="Songti SC" pitchFamily="34" charset="-120"/>
              </a:rPr>
              <a:t>诊断报告交付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3520440" y="2926080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88888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2026-04-12 10:14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548640" y="3218688"/>
            <a:ext cx="228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E8B86A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●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777240" y="321868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6F2E9"/>
                </a:solidFill>
                <a:latin typeface="Songti SC" pitchFamily="34" charset="0"/>
                <a:ea typeface="Songti SC" pitchFamily="34" charset="-122"/>
                <a:cs typeface="Songti SC" pitchFamily="34" charset="-120"/>
              </a:rPr>
              <a:t>合同签署 · 上海法院管辖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3520440" y="321868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88888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2026-04-12 16:22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548640" y="3511296"/>
            <a:ext cx="228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88888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○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777240" y="3511296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BBBBBB"/>
                </a:solidFill>
                <a:latin typeface="Songti SC" pitchFamily="34" charset="0"/>
                <a:ea typeface="Songti SC" pitchFamily="34" charset="-122"/>
                <a:cs typeface="Songti SC" pitchFamily="34" charset="-120"/>
              </a:rPr>
              <a:t>策略大纲 → 待你确认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3520440" y="3511296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88888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2026-04-13 18:00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548640" y="3803904"/>
            <a:ext cx="228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88888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○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777240" y="3803904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BBBBBB"/>
                </a:solidFill>
                <a:latin typeface="Songti SC" pitchFamily="34" charset="0"/>
                <a:ea typeface="Songti SC" pitchFamily="34" charset="-122"/>
                <a:cs typeface="Songti SC" pitchFamily="34" charset="-120"/>
              </a:rPr>
              <a:t>POA V1 草稿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3520440" y="3803904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88888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预计 04-16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548640" y="4096512"/>
            <a:ext cx="228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88888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○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777240" y="4096512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BBBBBB"/>
                </a:solidFill>
                <a:latin typeface="Songti SC" pitchFamily="34" charset="0"/>
                <a:ea typeface="Songti SC" pitchFamily="34" charset="-122"/>
                <a:cs typeface="Songti SC" pitchFamily="34" charset="-120"/>
              </a:rPr>
              <a:t>Amazon 首轮回复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3520440" y="409651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88888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预计 04-21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548640" y="4389120"/>
            <a:ext cx="228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88888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○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777240" y="438912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BBBBBB"/>
                </a:solidFill>
                <a:latin typeface="Songti SC" pitchFamily="34" charset="0"/>
                <a:ea typeface="Songti SC" pitchFamily="34" charset="-122"/>
                <a:cs typeface="Songti SC" pitchFamily="34" charset="-120"/>
              </a:rPr>
              <a:t>结案归档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3520440" y="4389120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88888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预计 05-12</a:t>
            </a:r>
            <a:endParaRPr lang="en-US" sz="900" dirty="0"/>
          </a:p>
        </p:txBody>
      </p:sp>
      <p:sp>
        <p:nvSpPr>
          <p:cNvPr id="29" name="Shape 27"/>
          <p:cNvSpPr/>
          <p:nvPr/>
        </p:nvSpPr>
        <p:spPr>
          <a:xfrm>
            <a:off x="5486400" y="2103120"/>
            <a:ext cx="3291840" cy="822960"/>
          </a:xfrm>
          <a:prstGeom prst="rect">
            <a:avLst/>
          </a:prstGeom>
          <a:solidFill>
            <a:srgbClr val="FBF8F0"/>
          </a:solidFill>
          <a:ln w="6350">
            <a:solidFill>
              <a:srgbClr val="D6CFBD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5486400" y="2103120"/>
            <a:ext cx="54864" cy="822960"/>
          </a:xfrm>
          <a:prstGeom prst="rect">
            <a:avLst/>
          </a:prstGeom>
          <a:solidFill>
            <a:srgbClr val="0B3D4F"/>
          </a:solidFill>
          <a:ln/>
        </p:spPr>
      </p:sp>
      <p:sp>
        <p:nvSpPr>
          <p:cNvPr id="31" name="Text 29"/>
          <p:cNvSpPr/>
          <p:nvPr/>
        </p:nvSpPr>
        <p:spPr>
          <a:xfrm>
            <a:off x="5623560" y="224028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0B3D4F"/>
                </a:solidFill>
              </a:rPr>
              <a:t>✉</a:t>
            </a:r>
            <a:endParaRPr lang="en-US" sz="2200" dirty="0"/>
          </a:p>
        </p:txBody>
      </p:sp>
      <p:sp>
        <p:nvSpPr>
          <p:cNvPr id="32" name="Text 30"/>
          <p:cNvSpPr/>
          <p:nvPr/>
        </p:nvSpPr>
        <p:spPr>
          <a:xfrm>
            <a:off x="6035040" y="2194560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41414"/>
                </a:solidFill>
                <a:latin typeface="Songti SC" pitchFamily="34" charset="0"/>
                <a:ea typeface="Songti SC" pitchFamily="34" charset="-122"/>
                <a:cs typeface="Songti SC" pitchFamily="34" charset="-120"/>
              </a:rPr>
              <a:t>短信 + 邮件提醒</a:t>
            </a:r>
            <a:endParaRPr lang="en-US" sz="1200" dirty="0"/>
          </a:p>
        </p:txBody>
      </p:sp>
      <p:sp>
        <p:nvSpPr>
          <p:cNvPr id="33" name="Text 31"/>
          <p:cNvSpPr/>
          <p:nvPr/>
        </p:nvSpPr>
        <p:spPr>
          <a:xfrm>
            <a:off x="6035040" y="2468880"/>
            <a:ext cx="2651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A2A2A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POA 待确认 · Amazon 有回复 · 申诉结果出炉，不会让你错过决策点。</a:t>
            </a:r>
            <a:endParaRPr lang="en-US" sz="900" dirty="0"/>
          </a:p>
        </p:txBody>
      </p:sp>
      <p:sp>
        <p:nvSpPr>
          <p:cNvPr id="34" name="Shape 32"/>
          <p:cNvSpPr/>
          <p:nvPr/>
        </p:nvSpPr>
        <p:spPr>
          <a:xfrm>
            <a:off x="5486400" y="2971800"/>
            <a:ext cx="3291840" cy="822960"/>
          </a:xfrm>
          <a:prstGeom prst="rect">
            <a:avLst/>
          </a:prstGeom>
          <a:solidFill>
            <a:srgbClr val="FBF8F0"/>
          </a:solidFill>
          <a:ln w="6350">
            <a:solidFill>
              <a:srgbClr val="D6CFBD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5486400" y="2971800"/>
            <a:ext cx="54864" cy="822960"/>
          </a:xfrm>
          <a:prstGeom prst="rect">
            <a:avLst/>
          </a:prstGeom>
          <a:solidFill>
            <a:srgbClr val="0B3D4F"/>
          </a:solidFill>
          <a:ln/>
        </p:spPr>
      </p:sp>
      <p:sp>
        <p:nvSpPr>
          <p:cNvPr id="36" name="Text 34"/>
          <p:cNvSpPr/>
          <p:nvPr/>
        </p:nvSpPr>
        <p:spPr>
          <a:xfrm>
            <a:off x="5623560" y="310896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0B3D4F"/>
                </a:solidFill>
              </a:rPr>
              <a:t>✎</a:t>
            </a:r>
            <a:endParaRPr lang="en-US" sz="2200" dirty="0"/>
          </a:p>
        </p:txBody>
      </p:sp>
      <p:sp>
        <p:nvSpPr>
          <p:cNvPr id="37" name="Text 35"/>
          <p:cNvSpPr/>
          <p:nvPr/>
        </p:nvSpPr>
        <p:spPr>
          <a:xfrm>
            <a:off x="6035040" y="3063240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41414"/>
                </a:solidFill>
                <a:latin typeface="Songti SC" pitchFamily="34" charset="0"/>
                <a:ea typeface="Songti SC" pitchFamily="34" charset="-122"/>
                <a:cs typeface="Songti SC" pitchFamily="34" charset="-120"/>
              </a:rPr>
              <a:t>版本历史 + 批注</a:t>
            </a:r>
            <a:endParaRPr lang="en-US" sz="1200" dirty="0"/>
          </a:p>
        </p:txBody>
      </p:sp>
      <p:sp>
        <p:nvSpPr>
          <p:cNvPr id="38" name="Text 36"/>
          <p:cNvSpPr/>
          <p:nvPr/>
        </p:nvSpPr>
        <p:spPr>
          <a:xfrm>
            <a:off x="6035040" y="3337560"/>
            <a:ext cx="2651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A2A2A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每次 POA 修改留存历史版本，逐行对比哪里改了、为什么改。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5486400" y="3840480"/>
            <a:ext cx="3291840" cy="822960"/>
          </a:xfrm>
          <a:prstGeom prst="rect">
            <a:avLst/>
          </a:prstGeom>
          <a:solidFill>
            <a:srgbClr val="FBF8F0"/>
          </a:solidFill>
          <a:ln w="6350">
            <a:solidFill>
              <a:srgbClr val="D6CFBD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5486400" y="3840480"/>
            <a:ext cx="54864" cy="822960"/>
          </a:xfrm>
          <a:prstGeom prst="rect">
            <a:avLst/>
          </a:prstGeom>
          <a:solidFill>
            <a:srgbClr val="0B3D4F"/>
          </a:solidFill>
          <a:ln/>
        </p:spPr>
      </p:sp>
      <p:sp>
        <p:nvSpPr>
          <p:cNvPr id="41" name="Text 39"/>
          <p:cNvSpPr/>
          <p:nvPr/>
        </p:nvSpPr>
        <p:spPr>
          <a:xfrm>
            <a:off x="5623560" y="397764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0B3D4F"/>
                </a:solidFill>
              </a:rPr>
              <a:t>⏱</a:t>
            </a:r>
            <a:endParaRPr lang="en-US" sz="2200" dirty="0"/>
          </a:p>
        </p:txBody>
      </p:sp>
      <p:sp>
        <p:nvSpPr>
          <p:cNvPr id="42" name="Text 40"/>
          <p:cNvSpPr/>
          <p:nvPr/>
        </p:nvSpPr>
        <p:spPr>
          <a:xfrm>
            <a:off x="6035040" y="3931920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41414"/>
                </a:solidFill>
                <a:latin typeface="Songti SC" pitchFamily="34" charset="0"/>
                <a:ea typeface="Songti SC" pitchFamily="34" charset="-122"/>
                <a:cs typeface="Songti SC" pitchFamily="34" charset="-120"/>
              </a:rPr>
              <a:t>SLA 时间承诺</a:t>
            </a:r>
            <a:endParaRPr lang="en-US" sz="1200" dirty="0"/>
          </a:p>
        </p:txBody>
      </p:sp>
      <p:sp>
        <p:nvSpPr>
          <p:cNvPr id="43" name="Text 41"/>
          <p:cNvSpPr/>
          <p:nvPr/>
        </p:nvSpPr>
        <p:spPr>
          <a:xfrm>
            <a:off x="6035040" y="4206240"/>
            <a:ext cx="2651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A2A2A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每节点有预计时间，超时触发预警。到期不解封自动走退款流程。</a:t>
            </a:r>
            <a:endParaRPr lang="en-US" sz="900" dirty="0"/>
          </a:p>
        </p:txBody>
      </p:sp>
      <p:sp>
        <p:nvSpPr>
          <p:cNvPr id="44" name="Text 42"/>
          <p:cNvSpPr/>
          <p:nvPr/>
        </p:nvSpPr>
        <p:spPr>
          <a:xfrm>
            <a:off x="365760" y="475488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200" kern="0" dirty="0">
                <a:solidFill>
                  <a:srgbClr val="6E6A5F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15 / 21</a:t>
            </a:r>
            <a:endParaRPr lang="en-US" sz="900" dirty="0"/>
          </a:p>
        </p:txBody>
      </p:sp>
      <p:sp>
        <p:nvSpPr>
          <p:cNvPr id="45" name="Text 43"/>
          <p:cNvSpPr/>
          <p:nvPr/>
        </p:nvSpPr>
        <p:spPr>
          <a:xfrm>
            <a:off x="6400800" y="475488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6E6A5F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水之明亚马逊申诉服务  ·  销售介绍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6F2E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286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141414"/>
                </a:solidFill>
                <a:latin typeface="Songti SC" pitchFamily="34" charset="0"/>
                <a:ea typeface="Songti SC" pitchFamily="34" charset="-122"/>
                <a:cs typeface="Songti SC" pitchFamily="34" charset="-120"/>
              </a:rPr>
              <a:t>水 之 明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949440" y="2286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141414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拾壹  ·  BY THE NUMBERS  ·  团队数据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365760" y="548640"/>
            <a:ext cx="8412480" cy="0"/>
          </a:xfrm>
          <a:prstGeom prst="line">
            <a:avLst/>
          </a:prstGeom>
          <a:noFill/>
          <a:ln w="6350">
            <a:solidFill>
              <a:srgbClr val="D6CFBD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365760" y="822960"/>
            <a:ext cx="8412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41414"/>
                </a:solidFill>
                <a:latin typeface="Songti SC" pitchFamily="34" charset="0"/>
                <a:ea typeface="Songti SC" pitchFamily="34" charset="-122"/>
                <a:cs typeface="Songti SC" pitchFamily="34" charset="-120"/>
              </a:rPr>
              <a:t>团队数据概览</a:t>
            </a:r>
            <a:endParaRPr lang="en-US" sz="3600" dirty="0"/>
          </a:p>
        </p:txBody>
      </p:sp>
      <p:sp>
        <p:nvSpPr>
          <p:cNvPr id="6" name="Text 4"/>
          <p:cNvSpPr/>
          <p:nvPr/>
        </p:nvSpPr>
        <p:spPr>
          <a:xfrm>
            <a:off x="365760" y="150876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E6A5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数据统计自团队主理人从业期间累计案件（含水之明成立前个人业务）。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365760" y="2194560"/>
            <a:ext cx="2011680" cy="2194560"/>
          </a:xfrm>
          <a:prstGeom prst="rect">
            <a:avLst/>
          </a:prstGeom>
          <a:solidFill>
            <a:srgbClr val="FBF8F0"/>
          </a:solidFill>
          <a:ln w="6350">
            <a:solidFill>
              <a:srgbClr val="D6CFBD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65760" y="2194560"/>
            <a:ext cx="2011680" cy="54864"/>
          </a:xfrm>
          <a:prstGeom prst="rect">
            <a:avLst/>
          </a:prstGeom>
          <a:solidFill>
            <a:srgbClr val="0B3D4F"/>
          </a:solidFill>
          <a:ln/>
        </p:spPr>
      </p:sp>
      <p:sp>
        <p:nvSpPr>
          <p:cNvPr id="9" name="Text 7"/>
          <p:cNvSpPr/>
          <p:nvPr/>
        </p:nvSpPr>
        <p:spPr>
          <a:xfrm>
            <a:off x="457200" y="2560320"/>
            <a:ext cx="1828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0B3D4F"/>
                </a:solidFill>
                <a:latin typeface="Songti SC" pitchFamily="34" charset="0"/>
                <a:ea typeface="Songti SC" pitchFamily="34" charset="-122"/>
                <a:cs typeface="Songti SC" pitchFamily="34" charset="-120"/>
              </a:rPr>
              <a:t>600+</a:t>
            </a:r>
            <a:endParaRPr lang="en-US" sz="4800" dirty="0"/>
          </a:p>
        </p:txBody>
      </p:sp>
      <p:sp>
        <p:nvSpPr>
          <p:cNvPr id="10" name="Text 8"/>
          <p:cNvSpPr/>
          <p:nvPr/>
        </p:nvSpPr>
        <p:spPr>
          <a:xfrm>
            <a:off x="457200" y="352044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41414"/>
                </a:solidFill>
                <a:latin typeface="Songti SC" pitchFamily="34" charset="0"/>
                <a:ea typeface="Songti SC" pitchFamily="34" charset="-122"/>
                <a:cs typeface="Songti SC" pitchFamily="34" charset="-120"/>
              </a:rPr>
              <a:t>累计案件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457200" y="3840480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E6A5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覆盖美 / 欧 / 日 / 澳 / 中东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2496312" y="2194560"/>
            <a:ext cx="2011680" cy="2194560"/>
          </a:xfrm>
          <a:prstGeom prst="rect">
            <a:avLst/>
          </a:prstGeom>
          <a:solidFill>
            <a:srgbClr val="FBF8F0"/>
          </a:solidFill>
          <a:ln w="6350">
            <a:solidFill>
              <a:srgbClr val="D6CFBD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2496312" y="2194560"/>
            <a:ext cx="2011680" cy="54864"/>
          </a:xfrm>
          <a:prstGeom prst="rect">
            <a:avLst/>
          </a:prstGeom>
          <a:solidFill>
            <a:srgbClr val="0B3D4F"/>
          </a:solidFill>
          <a:ln/>
        </p:spPr>
      </p:sp>
      <p:sp>
        <p:nvSpPr>
          <p:cNvPr id="14" name="Text 12"/>
          <p:cNvSpPr/>
          <p:nvPr/>
        </p:nvSpPr>
        <p:spPr>
          <a:xfrm>
            <a:off x="2587752" y="2560320"/>
            <a:ext cx="1828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0B3D4F"/>
                </a:solidFill>
                <a:latin typeface="Songti SC" pitchFamily="34" charset="0"/>
                <a:ea typeface="Songti SC" pitchFamily="34" charset="-122"/>
                <a:cs typeface="Songti SC" pitchFamily="34" charset="-120"/>
              </a:rPr>
              <a:t>78%</a:t>
            </a:r>
            <a:endParaRPr lang="en-US" sz="4800" dirty="0"/>
          </a:p>
        </p:txBody>
      </p:sp>
      <p:sp>
        <p:nvSpPr>
          <p:cNvPr id="15" name="Text 13"/>
          <p:cNvSpPr/>
          <p:nvPr/>
        </p:nvSpPr>
        <p:spPr>
          <a:xfrm>
            <a:off x="2587752" y="352044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41414"/>
                </a:solidFill>
                <a:latin typeface="Songti SC" pitchFamily="34" charset="0"/>
                <a:ea typeface="Songti SC" pitchFamily="34" charset="-122"/>
                <a:cs typeface="Songti SC" pitchFamily="34" charset="-120"/>
              </a:rPr>
              <a:t>综合成功率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2587752" y="3840480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E6A5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签约后口径，非「总咨询量」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4626864" y="2194560"/>
            <a:ext cx="2011680" cy="2194560"/>
          </a:xfrm>
          <a:prstGeom prst="rect">
            <a:avLst/>
          </a:prstGeom>
          <a:solidFill>
            <a:srgbClr val="FBF8F0"/>
          </a:solidFill>
          <a:ln w="6350">
            <a:solidFill>
              <a:srgbClr val="D6CFBD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626864" y="2194560"/>
            <a:ext cx="2011680" cy="54864"/>
          </a:xfrm>
          <a:prstGeom prst="rect">
            <a:avLst/>
          </a:prstGeom>
          <a:solidFill>
            <a:srgbClr val="0B3D4F"/>
          </a:solidFill>
          <a:ln/>
        </p:spPr>
      </p:sp>
      <p:sp>
        <p:nvSpPr>
          <p:cNvPr id="19" name="Text 17"/>
          <p:cNvSpPr/>
          <p:nvPr/>
        </p:nvSpPr>
        <p:spPr>
          <a:xfrm>
            <a:off x="4718304" y="2560320"/>
            <a:ext cx="1828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0B3D4F"/>
                </a:solidFill>
                <a:latin typeface="Songti SC" pitchFamily="34" charset="0"/>
                <a:ea typeface="Songti SC" pitchFamily="34" charset="-122"/>
                <a:cs typeface="Songti SC" pitchFamily="34" charset="-120"/>
              </a:rPr>
              <a:t>¥1.2亿+</a:t>
            </a:r>
            <a:endParaRPr lang="en-US" sz="4800" dirty="0"/>
          </a:p>
        </p:txBody>
      </p:sp>
      <p:sp>
        <p:nvSpPr>
          <p:cNvPr id="20" name="Text 18"/>
          <p:cNvSpPr/>
          <p:nvPr/>
        </p:nvSpPr>
        <p:spPr>
          <a:xfrm>
            <a:off x="4718304" y="352044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41414"/>
                </a:solidFill>
                <a:latin typeface="Songti SC" pitchFamily="34" charset="0"/>
                <a:ea typeface="Songti SC" pitchFamily="34" charset="-122"/>
                <a:cs typeface="Songti SC" pitchFamily="34" charset="-120"/>
              </a:rPr>
              <a:t>累计挽回资金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718304" y="3840480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E6A5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含资金解冻 + 绩效追回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6757416" y="2194560"/>
            <a:ext cx="2011680" cy="2194560"/>
          </a:xfrm>
          <a:prstGeom prst="rect">
            <a:avLst/>
          </a:prstGeom>
          <a:solidFill>
            <a:srgbClr val="FBF8F0"/>
          </a:solidFill>
          <a:ln w="6350">
            <a:solidFill>
              <a:srgbClr val="D6CFBD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6757416" y="2194560"/>
            <a:ext cx="2011680" cy="54864"/>
          </a:xfrm>
          <a:prstGeom prst="rect">
            <a:avLst/>
          </a:prstGeom>
          <a:solidFill>
            <a:srgbClr val="0B3D4F"/>
          </a:solidFill>
          <a:ln/>
        </p:spPr>
      </p:sp>
      <p:sp>
        <p:nvSpPr>
          <p:cNvPr id="24" name="Text 22"/>
          <p:cNvSpPr/>
          <p:nvPr/>
        </p:nvSpPr>
        <p:spPr>
          <a:xfrm>
            <a:off x="6848856" y="2560320"/>
            <a:ext cx="1828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0B3D4F"/>
                </a:solidFill>
                <a:latin typeface="Songti SC" pitchFamily="34" charset="0"/>
                <a:ea typeface="Songti SC" pitchFamily="34" charset="-122"/>
                <a:cs typeface="Songti SC" pitchFamily="34" charset="-120"/>
              </a:rPr>
              <a:t>4.9</a:t>
            </a:r>
            <a:endParaRPr lang="en-US" sz="4800" dirty="0"/>
          </a:p>
        </p:txBody>
      </p:sp>
      <p:sp>
        <p:nvSpPr>
          <p:cNvPr id="25" name="Text 23"/>
          <p:cNvSpPr/>
          <p:nvPr/>
        </p:nvSpPr>
        <p:spPr>
          <a:xfrm>
            <a:off x="6848856" y="352044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41414"/>
                </a:solidFill>
                <a:latin typeface="Songti SC" pitchFamily="34" charset="0"/>
                <a:ea typeface="Songti SC" pitchFamily="34" charset="-122"/>
                <a:cs typeface="Songti SC" pitchFamily="34" charset="-120"/>
              </a:rPr>
              <a:t>客户评价均分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6848856" y="3840480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E6A5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5 分制 · n=120 真实评价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365760" y="475488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200" kern="0" dirty="0">
                <a:solidFill>
                  <a:srgbClr val="6E6A5F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16 / 21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6400800" y="475488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6E6A5F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水之明亚马逊申诉服务  ·  销售介绍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6F2E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286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141414"/>
                </a:solidFill>
                <a:latin typeface="Songti SC" pitchFamily="34" charset="0"/>
                <a:ea typeface="Songti SC" pitchFamily="34" charset="-122"/>
                <a:cs typeface="Songti SC" pitchFamily="34" charset="-120"/>
              </a:rPr>
              <a:t>水 之 明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949440" y="2286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141414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拾贰  ·  CASES  ·  ACCOUNT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365760" y="548640"/>
            <a:ext cx="8412480" cy="0"/>
          </a:xfrm>
          <a:prstGeom prst="line">
            <a:avLst/>
          </a:prstGeom>
          <a:noFill/>
          <a:ln w="6350">
            <a:solidFill>
              <a:srgbClr val="D6CFBD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365760" y="822960"/>
            <a:ext cx="8412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41414"/>
                </a:solidFill>
                <a:latin typeface="Songti SC" pitchFamily="34" charset="0"/>
                <a:ea typeface="Songti SC" pitchFamily="34" charset="-122"/>
                <a:cs typeface="Songti SC" pitchFamily="34" charset="-120"/>
              </a:rPr>
              <a:t>成功案例  ·  账号申诉</a:t>
            </a:r>
            <a:endParaRPr lang="en-US" sz="3600" dirty="0"/>
          </a:p>
        </p:txBody>
      </p:sp>
      <p:sp>
        <p:nvSpPr>
          <p:cNvPr id="6" name="Text 4"/>
          <p:cNvSpPr/>
          <p:nvPr/>
        </p:nvSpPr>
        <p:spPr>
          <a:xfrm>
            <a:off x="365760" y="150876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E6A5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选取 3 个不同维度的真实案子，展示我们的处理思路。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365760" y="2103120"/>
            <a:ext cx="2697480" cy="2606040"/>
          </a:xfrm>
          <a:prstGeom prst="rect">
            <a:avLst/>
          </a:prstGeom>
          <a:solidFill>
            <a:srgbClr val="FBF8F0"/>
          </a:solidFill>
          <a:ln w="6350">
            <a:solidFill>
              <a:srgbClr val="D6CFBD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48640" y="2286000"/>
            <a:ext cx="1371600" cy="228600"/>
          </a:xfrm>
          <a:prstGeom prst="rect">
            <a:avLst/>
          </a:prstGeom>
          <a:solidFill>
            <a:srgbClr val="0B3D4F"/>
          </a:solidFill>
          <a:ln/>
        </p:spPr>
      </p:sp>
      <p:sp>
        <p:nvSpPr>
          <p:cNvPr id="9" name="Text 7"/>
          <p:cNvSpPr/>
          <p:nvPr/>
        </p:nvSpPr>
        <p:spPr>
          <a:xfrm>
            <a:off x="548640" y="2286000"/>
            <a:ext cx="1371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200" kern="0" dirty="0">
                <a:solidFill>
                  <a:srgbClr val="F6F2E9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一级 · 销量激增</a:t>
            </a:r>
            <a:endParaRPr lang="en-US" sz="850" dirty="0"/>
          </a:p>
        </p:txBody>
      </p:sp>
      <p:sp>
        <p:nvSpPr>
          <p:cNvPr id="10" name="Text 8"/>
          <p:cNvSpPr/>
          <p:nvPr/>
        </p:nvSpPr>
        <p:spPr>
          <a:xfrm>
            <a:off x="548640" y="2606040"/>
            <a:ext cx="2331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41414"/>
                </a:solidFill>
                <a:latin typeface="Songti SC" pitchFamily="34" charset="0"/>
                <a:ea typeface="Songti SC" pitchFamily="34" charset="-122"/>
                <a:cs typeface="Songti SC" pitchFamily="34" charset="-120"/>
              </a:rPr>
              <a:t>新店首月爆单触发审查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548640" y="3200400"/>
            <a:ext cx="2331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100" kern="0" dirty="0">
                <a:solidFill>
                  <a:srgbClr val="6E6A5F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某 3C 配件卖家 · 2026.02 · 2 天</a:t>
            </a:r>
            <a:endParaRPr lang="en-US" sz="850" dirty="0"/>
          </a:p>
        </p:txBody>
      </p:sp>
      <p:sp>
        <p:nvSpPr>
          <p:cNvPr id="12" name="Shape 10"/>
          <p:cNvSpPr/>
          <p:nvPr/>
        </p:nvSpPr>
        <p:spPr>
          <a:xfrm>
            <a:off x="548640" y="3474720"/>
            <a:ext cx="2331720" cy="0"/>
          </a:xfrm>
          <a:prstGeom prst="line">
            <a:avLst/>
          </a:prstGeom>
          <a:noFill/>
          <a:ln w="6350">
            <a:solidFill>
              <a:srgbClr val="D6CFBD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48640" y="3520440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200" kern="0" dirty="0">
                <a:solidFill>
                  <a:srgbClr val="0B3D4F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案情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548640" y="3703320"/>
            <a:ext cx="2331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A2A2A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客户首月推广投入大，单日销量从 20 单飙升到 400 单，触发 Sales Velocity 冻结，自己提交模板 POA 被拒。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548640" y="4297680"/>
            <a:ext cx="2331720" cy="0"/>
          </a:xfrm>
          <a:prstGeom prst="line">
            <a:avLst/>
          </a:prstGeom>
          <a:noFill/>
          <a:ln w="6350">
            <a:solidFill>
              <a:srgbClr val="D6CFB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48640" y="4343400"/>
            <a:ext cx="2331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B3D4F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→ 48 小时内账号恢复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3182112" y="2103120"/>
            <a:ext cx="2697480" cy="2606040"/>
          </a:xfrm>
          <a:prstGeom prst="rect">
            <a:avLst/>
          </a:prstGeom>
          <a:solidFill>
            <a:srgbClr val="FBF8F0"/>
          </a:solidFill>
          <a:ln w="6350">
            <a:solidFill>
              <a:srgbClr val="D6CFBD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364992" y="2286000"/>
            <a:ext cx="1371600" cy="228600"/>
          </a:xfrm>
          <a:prstGeom prst="rect">
            <a:avLst/>
          </a:prstGeom>
          <a:solidFill>
            <a:srgbClr val="0B3D4F"/>
          </a:solidFill>
          <a:ln/>
        </p:spPr>
      </p:sp>
      <p:sp>
        <p:nvSpPr>
          <p:cNvPr id="19" name="Text 17"/>
          <p:cNvSpPr/>
          <p:nvPr/>
        </p:nvSpPr>
        <p:spPr>
          <a:xfrm>
            <a:off x="3364992" y="2286000"/>
            <a:ext cx="1371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200" kern="0" dirty="0">
                <a:solidFill>
                  <a:srgbClr val="F6F2E9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二级 · 关联申诉</a:t>
            </a:r>
            <a:endParaRPr lang="en-US" sz="850" dirty="0"/>
          </a:p>
        </p:txBody>
      </p:sp>
      <p:sp>
        <p:nvSpPr>
          <p:cNvPr id="20" name="Text 18"/>
          <p:cNvSpPr/>
          <p:nvPr/>
        </p:nvSpPr>
        <p:spPr>
          <a:xfrm>
            <a:off x="3364992" y="2606040"/>
            <a:ext cx="2331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41414"/>
                </a:solidFill>
                <a:latin typeface="Songti SC" pitchFamily="34" charset="0"/>
                <a:ea typeface="Songti SC" pitchFamily="34" charset="-122"/>
                <a:cs typeface="Songti SC" pitchFamily="34" charset="-120"/>
              </a:rPr>
              <a:t>搬家导致 IP 重合关联封店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3364992" y="3200400"/>
            <a:ext cx="2331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100" kern="0" dirty="0">
                <a:solidFill>
                  <a:srgbClr val="6E6A5F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某家居卖家 · 2025.11 · 11 天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364992" y="3474720"/>
            <a:ext cx="2331720" cy="0"/>
          </a:xfrm>
          <a:prstGeom prst="line">
            <a:avLst/>
          </a:prstGeom>
          <a:noFill/>
          <a:ln w="6350">
            <a:solidFill>
              <a:srgbClr val="D6CFBD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364992" y="3520440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200" kern="0" dirty="0">
                <a:solidFill>
                  <a:srgbClr val="0B3D4F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案情</a:t>
            </a:r>
            <a:endParaRPr lang="en-US" sz="850" dirty="0"/>
          </a:p>
        </p:txBody>
      </p:sp>
      <p:sp>
        <p:nvSpPr>
          <p:cNvPr id="24" name="Text 22"/>
          <p:cNvSpPr/>
          <p:nvPr/>
        </p:nvSpPr>
        <p:spPr>
          <a:xfrm>
            <a:off x="3364992" y="3703320"/>
            <a:ext cx="2331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A2A2A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新办公楼宽带 IP 段与前租户重合触发关联封店。客户此前找过模板派首次申诉被拒，我们接手二审。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3364992" y="4297680"/>
            <a:ext cx="2331720" cy="0"/>
          </a:xfrm>
          <a:prstGeom prst="line">
            <a:avLst/>
          </a:prstGeom>
          <a:noFill/>
          <a:ln w="6350">
            <a:solidFill>
              <a:srgbClr val="D6CFBD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364992" y="4343400"/>
            <a:ext cx="2331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B3D4F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→ 二次申诉一次通过</a:t>
            </a:r>
            <a:endParaRPr lang="en-US" sz="950" dirty="0"/>
          </a:p>
        </p:txBody>
      </p:sp>
      <p:sp>
        <p:nvSpPr>
          <p:cNvPr id="27" name="Shape 25"/>
          <p:cNvSpPr/>
          <p:nvPr/>
        </p:nvSpPr>
        <p:spPr>
          <a:xfrm>
            <a:off x="5998464" y="2103120"/>
            <a:ext cx="2697480" cy="2606040"/>
          </a:xfrm>
          <a:prstGeom prst="rect">
            <a:avLst/>
          </a:prstGeom>
          <a:solidFill>
            <a:srgbClr val="FBF8F0"/>
          </a:solidFill>
          <a:ln w="6350">
            <a:solidFill>
              <a:srgbClr val="D6CFBD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6181344" y="2286000"/>
            <a:ext cx="1371600" cy="228600"/>
          </a:xfrm>
          <a:prstGeom prst="rect">
            <a:avLst/>
          </a:prstGeom>
          <a:solidFill>
            <a:srgbClr val="A52A2A"/>
          </a:solidFill>
          <a:ln/>
        </p:spPr>
      </p:sp>
      <p:sp>
        <p:nvSpPr>
          <p:cNvPr id="29" name="Text 27"/>
          <p:cNvSpPr/>
          <p:nvPr/>
        </p:nvSpPr>
        <p:spPr>
          <a:xfrm>
            <a:off x="6181344" y="2286000"/>
            <a:ext cx="1371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200" kern="0" dirty="0">
                <a:solidFill>
                  <a:srgbClr val="F6F2E9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三级 · 二次关联</a:t>
            </a:r>
            <a:endParaRPr lang="en-US" sz="850" dirty="0"/>
          </a:p>
        </p:txBody>
      </p:sp>
      <p:sp>
        <p:nvSpPr>
          <p:cNvPr id="30" name="Text 28"/>
          <p:cNvSpPr/>
          <p:nvPr/>
        </p:nvSpPr>
        <p:spPr>
          <a:xfrm>
            <a:off x="6181344" y="2606040"/>
            <a:ext cx="2331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41414"/>
                </a:solidFill>
                <a:latin typeface="Songti SC" pitchFamily="34" charset="0"/>
                <a:ea typeface="Songti SC" pitchFamily="34" charset="-122"/>
                <a:cs typeface="Songti SC" pitchFamily="34" charset="-120"/>
              </a:rPr>
              <a:t>多账号矩阵端掉  ·  分批救</a:t>
            </a:r>
            <a:endParaRPr lang="en-US" sz="1300" dirty="0"/>
          </a:p>
        </p:txBody>
      </p:sp>
      <p:sp>
        <p:nvSpPr>
          <p:cNvPr id="31" name="Text 29"/>
          <p:cNvSpPr/>
          <p:nvPr/>
        </p:nvSpPr>
        <p:spPr>
          <a:xfrm>
            <a:off x="6181344" y="3200400"/>
            <a:ext cx="2331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100" kern="0" dirty="0">
                <a:solidFill>
                  <a:srgbClr val="6E6A5F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某工具卖家 · 2025.07 · 27 天</a:t>
            </a:r>
            <a:endParaRPr lang="en-US" sz="850" dirty="0"/>
          </a:p>
        </p:txBody>
      </p:sp>
      <p:sp>
        <p:nvSpPr>
          <p:cNvPr id="32" name="Shape 30"/>
          <p:cNvSpPr/>
          <p:nvPr/>
        </p:nvSpPr>
        <p:spPr>
          <a:xfrm>
            <a:off x="6181344" y="3474720"/>
            <a:ext cx="2331720" cy="0"/>
          </a:xfrm>
          <a:prstGeom prst="line">
            <a:avLst/>
          </a:prstGeom>
          <a:noFill/>
          <a:ln w="6350">
            <a:solidFill>
              <a:srgbClr val="D6CFBD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6181344" y="3520440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200" kern="0" dirty="0">
                <a:solidFill>
                  <a:srgbClr val="0B3D4F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案情</a:t>
            </a:r>
            <a:endParaRPr lang="en-US" sz="850" dirty="0"/>
          </a:p>
        </p:txBody>
      </p:sp>
      <p:sp>
        <p:nvSpPr>
          <p:cNvPr id="34" name="Text 32"/>
          <p:cNvSpPr/>
          <p:nvPr/>
        </p:nvSpPr>
        <p:spPr>
          <a:xfrm>
            <a:off x="6181344" y="3703320"/>
            <a:ext cx="2331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A2A2A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客户运营 4 个关联账号因主账号违规被连坐封店。评估后 1 个无救，3 个可分批救。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6181344" y="4297680"/>
            <a:ext cx="2331720" cy="0"/>
          </a:xfrm>
          <a:prstGeom prst="line">
            <a:avLst/>
          </a:prstGeom>
          <a:noFill/>
          <a:ln w="6350">
            <a:solidFill>
              <a:srgbClr val="D6CFBD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6181344" y="4343400"/>
            <a:ext cx="2331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B3D4F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→ 3/3 子账号恢复</a:t>
            </a:r>
            <a:endParaRPr lang="en-US" sz="950" dirty="0"/>
          </a:p>
        </p:txBody>
      </p:sp>
      <p:sp>
        <p:nvSpPr>
          <p:cNvPr id="37" name="Text 35"/>
          <p:cNvSpPr/>
          <p:nvPr/>
        </p:nvSpPr>
        <p:spPr>
          <a:xfrm>
            <a:off x="365760" y="475488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200" kern="0" dirty="0">
                <a:solidFill>
                  <a:srgbClr val="6E6A5F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17 / 21</a:t>
            </a:r>
            <a:endParaRPr lang="en-US" sz="900" dirty="0"/>
          </a:p>
        </p:txBody>
      </p:sp>
      <p:sp>
        <p:nvSpPr>
          <p:cNvPr id="38" name="Text 36"/>
          <p:cNvSpPr/>
          <p:nvPr/>
        </p:nvSpPr>
        <p:spPr>
          <a:xfrm>
            <a:off x="6400800" y="475488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6E6A5F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水之明亚马逊申诉服务  ·  销售介绍</a:t>
            </a:r>
            <a:endParaRPr lang="en-US" sz="9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6F2E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286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141414"/>
                </a:solidFill>
                <a:latin typeface="Songti SC" pitchFamily="34" charset="0"/>
                <a:ea typeface="Songti SC" pitchFamily="34" charset="-122"/>
                <a:cs typeface="Songti SC" pitchFamily="34" charset="-120"/>
              </a:rPr>
              <a:t>水 之 明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949440" y="2286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141414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拾贰  ·  CASES  ·  FUND &amp; IP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365760" y="548640"/>
            <a:ext cx="8412480" cy="0"/>
          </a:xfrm>
          <a:prstGeom prst="line">
            <a:avLst/>
          </a:prstGeom>
          <a:noFill/>
          <a:ln w="6350">
            <a:solidFill>
              <a:srgbClr val="D6CFBD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365760" y="822960"/>
            <a:ext cx="8412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41414"/>
                </a:solidFill>
                <a:latin typeface="Songti SC" pitchFamily="34" charset="0"/>
                <a:ea typeface="Songti SC" pitchFamily="34" charset="-122"/>
                <a:cs typeface="Songti SC" pitchFamily="34" charset="-120"/>
              </a:rPr>
              <a:t>成功案例  ·  资金 + 侵权</a:t>
            </a:r>
            <a:endParaRPr lang="en-US" sz="3600" dirty="0"/>
          </a:p>
        </p:txBody>
      </p:sp>
      <p:sp>
        <p:nvSpPr>
          <p:cNvPr id="6" name="Text 4"/>
          <p:cNvSpPr/>
          <p:nvPr/>
        </p:nvSpPr>
        <p:spPr>
          <a:xfrm>
            <a:off x="365760" y="150876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E6A5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资金类按挽回比例分成，侵权类按单计费 + 律师费。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365760" y="2103120"/>
            <a:ext cx="2697480" cy="2606040"/>
          </a:xfrm>
          <a:prstGeom prst="rect">
            <a:avLst/>
          </a:prstGeom>
          <a:solidFill>
            <a:srgbClr val="FBF8F0"/>
          </a:solidFill>
          <a:ln w="6350">
            <a:solidFill>
              <a:srgbClr val="D6CFBD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48640" y="2286000"/>
            <a:ext cx="1371600" cy="228600"/>
          </a:xfrm>
          <a:prstGeom prst="rect">
            <a:avLst/>
          </a:prstGeom>
          <a:solidFill>
            <a:srgbClr val="E8B86A"/>
          </a:solidFill>
          <a:ln/>
        </p:spPr>
      </p:sp>
      <p:sp>
        <p:nvSpPr>
          <p:cNvPr id="9" name="Text 7"/>
          <p:cNvSpPr/>
          <p:nvPr/>
        </p:nvSpPr>
        <p:spPr>
          <a:xfrm>
            <a:off x="548640" y="2286000"/>
            <a:ext cx="1371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200" kern="0" dirty="0">
                <a:solidFill>
                  <a:srgbClr val="F6F2E9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资金 · 阶梯分成</a:t>
            </a:r>
            <a:endParaRPr lang="en-US" sz="850" dirty="0"/>
          </a:p>
        </p:txBody>
      </p:sp>
      <p:sp>
        <p:nvSpPr>
          <p:cNvPr id="10" name="Text 8"/>
          <p:cNvSpPr/>
          <p:nvPr/>
        </p:nvSpPr>
        <p:spPr>
          <a:xfrm>
            <a:off x="548640" y="2606040"/>
            <a:ext cx="2331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41414"/>
                </a:solidFill>
                <a:latin typeface="Songti SC" pitchFamily="34" charset="0"/>
                <a:ea typeface="Songti SC" pitchFamily="34" charset="-122"/>
                <a:cs typeface="Songti SC" pitchFamily="34" charset="-120"/>
              </a:rPr>
              <a:t>账号放弃  ·  纯资金放款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548640" y="3200400"/>
            <a:ext cx="2331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100" kern="0" dirty="0">
                <a:solidFill>
                  <a:srgbClr val="6E6A5F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某电子卖家 · 2025.08 · 83 天</a:t>
            </a:r>
            <a:endParaRPr lang="en-US" sz="850" dirty="0"/>
          </a:p>
        </p:txBody>
      </p:sp>
      <p:sp>
        <p:nvSpPr>
          <p:cNvPr id="12" name="Shape 10"/>
          <p:cNvSpPr/>
          <p:nvPr/>
        </p:nvSpPr>
        <p:spPr>
          <a:xfrm>
            <a:off x="548640" y="3474720"/>
            <a:ext cx="2331720" cy="0"/>
          </a:xfrm>
          <a:prstGeom prst="line">
            <a:avLst/>
          </a:prstGeom>
          <a:noFill/>
          <a:ln w="6350">
            <a:solidFill>
              <a:srgbClr val="D6CFBD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48640" y="3520440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200" kern="0" dirty="0">
                <a:solidFill>
                  <a:srgbClr val="0B3D4F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案情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548640" y="3703320"/>
            <a:ext cx="2331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A2A2A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账号因二审未过永久关闭，冻结资金 ¥45 万。客户初期自提资金申诉被拒。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548640" y="4297680"/>
            <a:ext cx="2331720" cy="0"/>
          </a:xfrm>
          <a:prstGeom prst="line">
            <a:avLst/>
          </a:prstGeom>
          <a:noFill/>
          <a:ln w="6350">
            <a:solidFill>
              <a:srgbClr val="D6CFB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48640" y="4343400"/>
            <a:ext cx="2331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B3D4F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→ ¥41 万到账 · 分成 15%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3182112" y="2103120"/>
            <a:ext cx="2697480" cy="2606040"/>
          </a:xfrm>
          <a:prstGeom prst="rect">
            <a:avLst/>
          </a:prstGeom>
          <a:solidFill>
            <a:srgbClr val="FBF8F0"/>
          </a:solidFill>
          <a:ln w="6350">
            <a:solidFill>
              <a:srgbClr val="D6CFBD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364992" y="2286000"/>
            <a:ext cx="1371600" cy="228600"/>
          </a:xfrm>
          <a:prstGeom prst="rect">
            <a:avLst/>
          </a:prstGeom>
          <a:solidFill>
            <a:srgbClr val="E8B86A"/>
          </a:solidFill>
          <a:ln/>
        </p:spPr>
      </p:sp>
      <p:sp>
        <p:nvSpPr>
          <p:cNvPr id="19" name="Text 17"/>
          <p:cNvSpPr/>
          <p:nvPr/>
        </p:nvSpPr>
        <p:spPr>
          <a:xfrm>
            <a:off x="3364992" y="2286000"/>
            <a:ext cx="1371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200" kern="0" dirty="0">
                <a:solidFill>
                  <a:srgbClr val="F6F2E9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三级 · 大牌和解</a:t>
            </a:r>
            <a:endParaRPr lang="en-US" sz="850" dirty="0"/>
          </a:p>
        </p:txBody>
      </p:sp>
      <p:sp>
        <p:nvSpPr>
          <p:cNvPr id="20" name="Text 18"/>
          <p:cNvSpPr/>
          <p:nvPr/>
        </p:nvSpPr>
        <p:spPr>
          <a:xfrm>
            <a:off x="3364992" y="2606040"/>
            <a:ext cx="2331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41414"/>
                </a:solidFill>
                <a:latin typeface="Songti SC" pitchFamily="34" charset="0"/>
                <a:ea typeface="Songti SC" pitchFamily="34" charset="-122"/>
                <a:cs typeface="Songti SC" pitchFamily="34" charset="-120"/>
              </a:rPr>
              <a:t>大牌 TRO 诉讼  ·  资金解冻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3364992" y="3200400"/>
            <a:ext cx="2331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100" kern="0" dirty="0">
                <a:solidFill>
                  <a:srgbClr val="6E6A5F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某服饰卖家 · 2025.06 · 54 天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364992" y="3474720"/>
            <a:ext cx="2331720" cy="0"/>
          </a:xfrm>
          <a:prstGeom prst="line">
            <a:avLst/>
          </a:prstGeom>
          <a:noFill/>
          <a:ln w="6350">
            <a:solidFill>
              <a:srgbClr val="D6CFBD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364992" y="3520440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200" kern="0" dirty="0">
                <a:solidFill>
                  <a:srgbClr val="0B3D4F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案情</a:t>
            </a:r>
            <a:endParaRPr lang="en-US" sz="850" dirty="0"/>
          </a:p>
        </p:txBody>
      </p:sp>
      <p:sp>
        <p:nvSpPr>
          <p:cNvPr id="24" name="Text 22"/>
          <p:cNvSpPr/>
          <p:nvPr/>
        </p:nvSpPr>
        <p:spPr>
          <a:xfrm>
            <a:off x="3364992" y="3703320"/>
            <a:ext cx="2331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A2A2A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被疑似某美国快时尚大牌发起 TRO，账号与 ¥80 万余额同时冻结。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3364992" y="4297680"/>
            <a:ext cx="2331720" cy="0"/>
          </a:xfrm>
          <a:prstGeom prst="line">
            <a:avLst/>
          </a:prstGeom>
          <a:noFill/>
          <a:ln w="6350">
            <a:solidFill>
              <a:srgbClr val="D6CFBD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364992" y="4343400"/>
            <a:ext cx="2331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B3D4F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→ 资金全额解冻 · 和解金 2 万 USD</a:t>
            </a:r>
            <a:endParaRPr lang="en-US" sz="950" dirty="0"/>
          </a:p>
        </p:txBody>
      </p:sp>
      <p:sp>
        <p:nvSpPr>
          <p:cNvPr id="27" name="Shape 25"/>
          <p:cNvSpPr/>
          <p:nvPr/>
        </p:nvSpPr>
        <p:spPr>
          <a:xfrm>
            <a:off x="5998464" y="2103120"/>
            <a:ext cx="2697480" cy="2606040"/>
          </a:xfrm>
          <a:prstGeom prst="rect">
            <a:avLst/>
          </a:prstGeom>
          <a:solidFill>
            <a:srgbClr val="FBF8F0"/>
          </a:solidFill>
          <a:ln w="6350">
            <a:solidFill>
              <a:srgbClr val="D6CFBD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6181344" y="2286000"/>
            <a:ext cx="1371600" cy="228600"/>
          </a:xfrm>
          <a:prstGeom prst="rect">
            <a:avLst/>
          </a:prstGeom>
          <a:solidFill>
            <a:srgbClr val="0B3D4F"/>
          </a:solidFill>
          <a:ln/>
        </p:spPr>
      </p:sp>
      <p:sp>
        <p:nvSpPr>
          <p:cNvPr id="29" name="Text 27"/>
          <p:cNvSpPr/>
          <p:nvPr/>
        </p:nvSpPr>
        <p:spPr>
          <a:xfrm>
            <a:off x="6181344" y="2286000"/>
            <a:ext cx="1371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200" kern="0" dirty="0">
                <a:solidFill>
                  <a:srgbClr val="F6F2E9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二级 · 商标</a:t>
            </a:r>
            <a:endParaRPr lang="en-US" sz="850" dirty="0"/>
          </a:p>
        </p:txBody>
      </p:sp>
      <p:sp>
        <p:nvSpPr>
          <p:cNvPr id="30" name="Text 28"/>
          <p:cNvSpPr/>
          <p:nvPr/>
        </p:nvSpPr>
        <p:spPr>
          <a:xfrm>
            <a:off x="6181344" y="2606040"/>
            <a:ext cx="2331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41414"/>
                </a:solidFill>
                <a:latin typeface="Songti SC" pitchFamily="34" charset="0"/>
                <a:ea typeface="Songti SC" pitchFamily="34" charset="-122"/>
                <a:cs typeface="Songti SC" pitchFamily="34" charset="-120"/>
              </a:rPr>
              <a:t>被抢注者批量投诉商标侵权</a:t>
            </a:r>
            <a:endParaRPr lang="en-US" sz="1300" dirty="0"/>
          </a:p>
        </p:txBody>
      </p:sp>
      <p:sp>
        <p:nvSpPr>
          <p:cNvPr id="31" name="Text 29"/>
          <p:cNvSpPr/>
          <p:nvPr/>
        </p:nvSpPr>
        <p:spPr>
          <a:xfrm>
            <a:off x="6181344" y="3200400"/>
            <a:ext cx="2331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100" kern="0" dirty="0">
                <a:solidFill>
                  <a:srgbClr val="6E6A5F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某宠物用品卖家 · 2025.12 · 8 天</a:t>
            </a:r>
            <a:endParaRPr lang="en-US" sz="850" dirty="0"/>
          </a:p>
        </p:txBody>
      </p:sp>
      <p:sp>
        <p:nvSpPr>
          <p:cNvPr id="32" name="Shape 30"/>
          <p:cNvSpPr/>
          <p:nvPr/>
        </p:nvSpPr>
        <p:spPr>
          <a:xfrm>
            <a:off x="6181344" y="3474720"/>
            <a:ext cx="2331720" cy="0"/>
          </a:xfrm>
          <a:prstGeom prst="line">
            <a:avLst/>
          </a:prstGeom>
          <a:noFill/>
          <a:ln w="6350">
            <a:solidFill>
              <a:srgbClr val="D6CFBD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6181344" y="3520440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200" kern="0" dirty="0">
                <a:solidFill>
                  <a:srgbClr val="0B3D4F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案情</a:t>
            </a:r>
            <a:endParaRPr lang="en-US" sz="850" dirty="0"/>
          </a:p>
        </p:txBody>
      </p:sp>
      <p:sp>
        <p:nvSpPr>
          <p:cNvPr id="34" name="Text 32"/>
          <p:cNvSpPr/>
          <p:nvPr/>
        </p:nvSpPr>
        <p:spPr>
          <a:xfrm>
            <a:off x="6181344" y="3703320"/>
            <a:ext cx="2331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A2A2A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客户独立品牌运营 3 年，被 2024 年才注册的商标持有人批量投诉，对方未实际使用该品牌售卖。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6181344" y="4297680"/>
            <a:ext cx="2331720" cy="0"/>
          </a:xfrm>
          <a:prstGeom prst="line">
            <a:avLst/>
          </a:prstGeom>
          <a:noFill/>
          <a:ln w="6350">
            <a:solidFill>
              <a:srgbClr val="D6CFBD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6181344" y="4343400"/>
            <a:ext cx="2331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B3D4F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→ Listing 恢复 · 6 月后反拿下商标</a:t>
            </a:r>
            <a:endParaRPr lang="en-US" sz="950" dirty="0"/>
          </a:p>
        </p:txBody>
      </p:sp>
      <p:sp>
        <p:nvSpPr>
          <p:cNvPr id="37" name="Text 35"/>
          <p:cNvSpPr/>
          <p:nvPr/>
        </p:nvSpPr>
        <p:spPr>
          <a:xfrm>
            <a:off x="365760" y="475488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200" kern="0" dirty="0">
                <a:solidFill>
                  <a:srgbClr val="6E6A5F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18 / 21</a:t>
            </a:r>
            <a:endParaRPr lang="en-US" sz="900" dirty="0"/>
          </a:p>
        </p:txBody>
      </p:sp>
      <p:sp>
        <p:nvSpPr>
          <p:cNvPr id="38" name="Text 36"/>
          <p:cNvSpPr/>
          <p:nvPr/>
        </p:nvSpPr>
        <p:spPr>
          <a:xfrm>
            <a:off x="6400800" y="475488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6E6A5F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水之明亚马逊申诉服务  ·  销售介绍</a:t>
            </a:r>
            <a:endParaRPr lang="en-US" sz="9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6F2E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286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141414"/>
                </a:solidFill>
                <a:latin typeface="Songti SC" pitchFamily="34" charset="0"/>
                <a:ea typeface="Songti SC" pitchFamily="34" charset="-122"/>
                <a:cs typeface="Songti SC" pitchFamily="34" charset="-120"/>
              </a:rPr>
              <a:t>水 之 明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949440" y="2286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141414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拾叁  ·  VS INDUSTRY  ·  同行对比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365760" y="548640"/>
            <a:ext cx="8412480" cy="0"/>
          </a:xfrm>
          <a:prstGeom prst="line">
            <a:avLst/>
          </a:prstGeom>
          <a:noFill/>
          <a:ln w="6350">
            <a:solidFill>
              <a:srgbClr val="D6CFBD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365760" y="822960"/>
            <a:ext cx="8412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41414"/>
                </a:solidFill>
                <a:latin typeface="Songti SC" pitchFamily="34" charset="0"/>
                <a:ea typeface="Songti SC" pitchFamily="34" charset="-122"/>
                <a:cs typeface="Songti SC" pitchFamily="34" charset="-120"/>
              </a:rPr>
              <a:t>和其他申诉服务商的差别</a:t>
            </a:r>
            <a:endParaRPr lang="en-US" sz="3600" dirty="0"/>
          </a:p>
        </p:txBody>
      </p:sp>
      <p:sp>
        <p:nvSpPr>
          <p:cNvPr id="6" name="Text 4"/>
          <p:cNvSpPr/>
          <p:nvPr/>
        </p:nvSpPr>
        <p:spPr>
          <a:xfrm>
            <a:off x="365760" y="150876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E6A5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把同行最不愿意公示的 8 个维度全部摆出来。</a:t>
            </a:r>
            <a:endParaRPr lang="en-US" sz="1400" dirty="0"/>
          </a:p>
        </p:txBody>
      </p:sp>
      <p:graphicFrame>
        <p:nvGraphicFramePr>
          <p:cNvPr id="2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2103120"/>
          <a:ext cx="8412480" cy="2606040"/>
        </p:xfrm>
        <a:graphic>
          <a:graphicData uri="http://schemas.openxmlformats.org/drawingml/2006/table">
            <a:tbl>
              <a:tblPr/>
              <a:tblGrid>
                <a:gridCol w="1463040"/>
                <a:gridCol w="3474720"/>
                <a:gridCol w="3474720"/>
              </a:tblGrid>
              <a:tr h="2834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6F2E9"/>
                          </a:solidFill>
                          <a:latin typeface="Songti SC" pitchFamily="34" charset="0"/>
                          <a:ea typeface="Songti SC" pitchFamily="34" charset="-122"/>
                          <a:cs typeface="Songti SC" pitchFamily="34" charset="-120"/>
                        </a:rPr>
                        <a:t>维度</a:t>
                      </a:r>
                      <a:endParaRPr lang="en-US" sz="1050" dirty="0">
                        <a:latin typeface="Songti SC" charset="0"/>
                        <a:ea typeface="Songti SC" charset="0"/>
                        <a:cs typeface="Songti SC" charset="0"/>
                      </a:endParaRPr>
                    </a:p>
                  </a:txBody>
                  <a:tcPr marL="91440" marR="91440" marT="45720" marB="45720" anchor="ctr">
                    <a:lnL w="3810" cap="flat" cmpd="sng" algn="ctr">
                      <a:solidFill>
                        <a:srgbClr val="BDB3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BDB3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BDB3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BDB3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41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6F2E9"/>
                          </a:solidFill>
                          <a:latin typeface="Songti SC" pitchFamily="34" charset="0"/>
                          <a:ea typeface="Songti SC" pitchFamily="34" charset="-122"/>
                          <a:cs typeface="Songti SC" pitchFamily="34" charset="-120"/>
                        </a:rPr>
                        <a:t>大多数同行</a:t>
                      </a:r>
                      <a:endParaRPr lang="en-US" sz="1050" dirty="0">
                        <a:latin typeface="Songti SC" charset="0"/>
                        <a:ea typeface="Songti SC" charset="0"/>
                        <a:cs typeface="Songti SC" charset="0"/>
                      </a:endParaRPr>
                    </a:p>
                  </a:txBody>
                  <a:tcPr marL="91440" marR="91440" marT="45720" marB="45720" anchor="ctr">
                    <a:lnL w="3810" cap="flat" cmpd="sng" algn="ctr">
                      <a:solidFill>
                        <a:srgbClr val="BDB3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BDB3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BDB3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BDB3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41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6F2E9"/>
                          </a:solidFill>
                          <a:latin typeface="Songti SC" pitchFamily="34" charset="0"/>
                          <a:ea typeface="Songti SC" pitchFamily="34" charset="-122"/>
                          <a:cs typeface="Songti SC" pitchFamily="34" charset="-120"/>
                        </a:rPr>
                        <a:t>水之明</a:t>
                      </a:r>
                      <a:endParaRPr lang="en-US" sz="1050" dirty="0">
                        <a:latin typeface="Songti SC" charset="0"/>
                        <a:ea typeface="Songti SC" charset="0"/>
                        <a:cs typeface="Songti SC" charset="0"/>
                      </a:endParaRPr>
                    </a:p>
                  </a:txBody>
                  <a:tcPr marL="91440" marR="91440" marT="45720" marB="45720" anchor="ctr">
                    <a:lnL w="3810" cap="flat" cmpd="sng" algn="ctr">
                      <a:solidFill>
                        <a:srgbClr val="BDB3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BDB3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BDB3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BDB3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3D4F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41414"/>
                          </a:solidFill>
                          <a:latin typeface="Songti SC" pitchFamily="34" charset="0"/>
                          <a:ea typeface="Songti SC" pitchFamily="34" charset="-122"/>
                          <a:cs typeface="Songti SC" pitchFamily="34" charset="-120"/>
                        </a:rPr>
                        <a:t>报价方式</a:t>
                      </a:r>
                      <a:endParaRPr lang="en-US" sz="1000" dirty="0">
                        <a:latin typeface="Songti SC" charset="0"/>
                        <a:ea typeface="Songti SC" charset="0"/>
                        <a:cs typeface="Songti SC" charset="0"/>
                      </a:endParaRPr>
                    </a:p>
                  </a:txBody>
                  <a:tcPr marL="91440" marR="91440" marT="45720" marB="45720" anchor="ctr">
                    <a:lnL w="3810" cap="flat" cmpd="sng" algn="ctr">
                      <a:solidFill>
                        <a:srgbClr val="BDB3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BDB3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BDB3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BDB3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E7D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A52A2A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加微信咨询，看人下菜碟</a:t>
                      </a:r>
                      <a:endParaRPr lang="en-US" sz="95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3810" cap="flat" cmpd="sng" algn="ctr">
                      <a:solidFill>
                        <a:srgbClr val="BDB3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BDB3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BDB3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BDB3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8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0B3D4F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官网公示价格区间 + 书面报价单</a:t>
                      </a:r>
                      <a:endParaRPr lang="en-US" sz="95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3810" cap="flat" cmpd="sng" algn="ctr">
                      <a:solidFill>
                        <a:srgbClr val="BDB3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BDB3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BDB3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BDB3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8F0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41414"/>
                          </a:solidFill>
                          <a:latin typeface="Songti SC" pitchFamily="34" charset="0"/>
                          <a:ea typeface="Songti SC" pitchFamily="34" charset="-122"/>
                          <a:cs typeface="Songti SC" pitchFamily="34" charset="-120"/>
                        </a:rPr>
                        <a:t>签约主体</a:t>
                      </a:r>
                      <a:endParaRPr lang="en-US" sz="1000" dirty="0">
                        <a:latin typeface="Songti SC" charset="0"/>
                        <a:ea typeface="Songti SC" charset="0"/>
                        <a:cs typeface="Songti SC" charset="0"/>
                      </a:endParaRPr>
                    </a:p>
                  </a:txBody>
                  <a:tcPr marL="91440" marR="91440" marT="45720" marB="45720" anchor="ctr">
                    <a:lnL w="3810" cap="flat" cmpd="sng" algn="ctr">
                      <a:solidFill>
                        <a:srgbClr val="BDB3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BDB3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BDB3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BDB3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E7D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A52A2A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港资公司 / 个人账户居多</a:t>
                      </a:r>
                      <a:endParaRPr lang="en-US" sz="95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3810" cap="flat" cmpd="sng" algn="ctr">
                      <a:solidFill>
                        <a:srgbClr val="BDB3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BDB3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BDB3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BDB3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8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0B3D4F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上海公司对公账户，工商可查</a:t>
                      </a:r>
                      <a:endParaRPr lang="en-US" sz="95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3810" cap="flat" cmpd="sng" algn="ctr">
                      <a:solidFill>
                        <a:srgbClr val="BDB3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BDB3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BDB3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BDB3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8F0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41414"/>
                          </a:solidFill>
                          <a:latin typeface="Songti SC" pitchFamily="34" charset="0"/>
                          <a:ea typeface="Songti SC" pitchFamily="34" charset="-122"/>
                          <a:cs typeface="Songti SC" pitchFamily="34" charset="-120"/>
                        </a:rPr>
                        <a:t>发票</a:t>
                      </a:r>
                      <a:endParaRPr lang="en-US" sz="1000" dirty="0">
                        <a:latin typeface="Songti SC" charset="0"/>
                        <a:ea typeface="Songti SC" charset="0"/>
                        <a:cs typeface="Songti SC" charset="0"/>
                      </a:endParaRPr>
                    </a:p>
                  </a:txBody>
                  <a:tcPr marL="91440" marR="91440" marT="45720" marB="45720" anchor="ctr">
                    <a:lnL w="3810" cap="flat" cmpd="sng" algn="ctr">
                      <a:solidFill>
                        <a:srgbClr val="BDB3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BDB3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BDB3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BDB3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E7D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A52A2A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不开 / 代开 / 只开普票</a:t>
                      </a:r>
                      <a:endParaRPr lang="en-US" sz="95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3810" cap="flat" cmpd="sng" algn="ctr">
                      <a:solidFill>
                        <a:srgbClr val="BDB3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BDB3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BDB3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BDB3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8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0B3D4F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6% 增值税专票 / 普票</a:t>
                      </a:r>
                      <a:endParaRPr lang="en-US" sz="95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3810" cap="flat" cmpd="sng" algn="ctr">
                      <a:solidFill>
                        <a:srgbClr val="BDB3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BDB3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BDB3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BDB3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8F0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41414"/>
                          </a:solidFill>
                          <a:latin typeface="Songti SC" pitchFamily="34" charset="0"/>
                          <a:ea typeface="Songti SC" pitchFamily="34" charset="-122"/>
                          <a:cs typeface="Songti SC" pitchFamily="34" charset="-120"/>
                        </a:rPr>
                        <a:t>POA 质量</a:t>
                      </a:r>
                      <a:endParaRPr lang="en-US" sz="1000" dirty="0">
                        <a:latin typeface="Songti SC" charset="0"/>
                        <a:ea typeface="Songti SC" charset="0"/>
                        <a:cs typeface="Songti SC" charset="0"/>
                      </a:endParaRPr>
                    </a:p>
                  </a:txBody>
                  <a:tcPr marL="91440" marR="91440" marT="45720" marB="45720" anchor="ctr">
                    <a:lnL w="3810" cap="flat" cmpd="sng" algn="ctr">
                      <a:solidFill>
                        <a:srgbClr val="BDB3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BDB3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BDB3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BDB3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E7D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A52A2A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模板库套用，改店铺名</a:t>
                      </a:r>
                      <a:endParaRPr lang="en-US" sz="95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3810" cap="flat" cmpd="sng" algn="ctr">
                      <a:solidFill>
                        <a:srgbClr val="BDB3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BDB3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BDB3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BDB3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8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0B3D4F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原创撰写，提交前确认英文稿</a:t>
                      </a:r>
                      <a:endParaRPr lang="en-US" sz="95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3810" cap="flat" cmpd="sng" algn="ctr">
                      <a:solidFill>
                        <a:srgbClr val="BDB3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BDB3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BDB3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BDB3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8F0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41414"/>
                          </a:solidFill>
                          <a:latin typeface="Songti SC" pitchFamily="34" charset="0"/>
                          <a:ea typeface="Songti SC" pitchFamily="34" charset="-122"/>
                          <a:cs typeface="Songti SC" pitchFamily="34" charset="-120"/>
                        </a:rPr>
                        <a:t>进度查询</a:t>
                      </a:r>
                      <a:endParaRPr lang="en-US" sz="1000" dirty="0">
                        <a:latin typeface="Songti SC" charset="0"/>
                        <a:ea typeface="Songti SC" charset="0"/>
                        <a:cs typeface="Songti SC" charset="0"/>
                      </a:endParaRPr>
                    </a:p>
                  </a:txBody>
                  <a:tcPr marL="91440" marR="91440" marT="45720" marB="45720" anchor="ctr">
                    <a:lnL w="3810" cap="flat" cmpd="sng" algn="ctr">
                      <a:solidFill>
                        <a:srgbClr val="BDB3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BDB3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BDB3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BDB3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E7D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A52A2A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微信聊一句「在跟进」</a:t>
                      </a:r>
                      <a:endParaRPr lang="en-US" sz="95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3810" cap="flat" cmpd="sng" algn="ctr">
                      <a:solidFill>
                        <a:srgbClr val="BDB3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BDB3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BDB3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BDB3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8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0B3D4F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独立看板，POA + Amazon 回复留痕</a:t>
                      </a:r>
                      <a:endParaRPr lang="en-US" sz="95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3810" cap="flat" cmpd="sng" algn="ctr">
                      <a:solidFill>
                        <a:srgbClr val="BDB3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BDB3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BDB3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BDB3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8F0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41414"/>
                          </a:solidFill>
                          <a:latin typeface="Songti SC" pitchFamily="34" charset="0"/>
                          <a:ea typeface="Songti SC" pitchFamily="34" charset="-122"/>
                          <a:cs typeface="Songti SC" pitchFamily="34" charset="-120"/>
                        </a:rPr>
                        <a:t>退款触发</a:t>
                      </a:r>
                      <a:endParaRPr lang="en-US" sz="1000" dirty="0">
                        <a:latin typeface="Songti SC" charset="0"/>
                        <a:ea typeface="Songti SC" charset="0"/>
                        <a:cs typeface="Songti SC" charset="0"/>
                      </a:endParaRPr>
                    </a:p>
                  </a:txBody>
                  <a:tcPr marL="91440" marR="91440" marT="45720" marB="45720" anchor="ctr">
                    <a:lnL w="3810" cap="flat" cmpd="sng" algn="ctr">
                      <a:solidFill>
                        <a:srgbClr val="BDB3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BDB3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BDB3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BDB3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E7D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A52A2A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口头承诺，出事扯皮</a:t>
                      </a:r>
                      <a:endParaRPr lang="en-US" sz="95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3810" cap="flat" cmpd="sng" algn="ctr">
                      <a:solidFill>
                        <a:srgbClr val="BDB3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BDB3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BDB3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BDB3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8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0B3D4F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合同明写条件、比例、到账时间</a:t>
                      </a:r>
                      <a:endParaRPr lang="en-US" sz="95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3810" cap="flat" cmpd="sng" algn="ctr">
                      <a:solidFill>
                        <a:srgbClr val="BDB3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BDB3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BDB3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BDB3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8F0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41414"/>
                          </a:solidFill>
                          <a:latin typeface="Songti SC" pitchFamily="34" charset="0"/>
                          <a:ea typeface="Songti SC" pitchFamily="34" charset="-122"/>
                          <a:cs typeface="Songti SC" pitchFamily="34" charset="-120"/>
                        </a:rPr>
                        <a:t>纠纷管辖</a:t>
                      </a:r>
                      <a:endParaRPr lang="en-US" sz="1000" dirty="0">
                        <a:latin typeface="Songti SC" charset="0"/>
                        <a:ea typeface="Songti SC" charset="0"/>
                        <a:cs typeface="Songti SC" charset="0"/>
                      </a:endParaRPr>
                    </a:p>
                  </a:txBody>
                  <a:tcPr marL="91440" marR="91440" marT="45720" marB="45720" anchor="ctr">
                    <a:lnL w="3810" cap="flat" cmpd="sng" algn="ctr">
                      <a:solidFill>
                        <a:srgbClr val="BDB3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BDB3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BDB3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BDB3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E7D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A52A2A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境外 / 仲裁 / 不明确</a:t>
                      </a:r>
                      <a:endParaRPr lang="en-US" sz="95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3810" cap="flat" cmpd="sng" algn="ctr">
                      <a:solidFill>
                        <a:srgbClr val="BDB3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BDB3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BDB3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BDB3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8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0B3D4F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上海人民法院  ·  诉讼便捷</a:t>
                      </a:r>
                      <a:endParaRPr lang="en-US" sz="95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3810" cap="flat" cmpd="sng" algn="ctr">
                      <a:solidFill>
                        <a:srgbClr val="BDB3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BDB3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BDB3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BDB3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8F0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41414"/>
                          </a:solidFill>
                          <a:latin typeface="Songti SC" pitchFamily="34" charset="0"/>
                          <a:ea typeface="Songti SC" pitchFamily="34" charset="-122"/>
                          <a:cs typeface="Songti SC" pitchFamily="34" charset="-120"/>
                        </a:rPr>
                        <a:t>服务边界</a:t>
                      </a:r>
                      <a:endParaRPr lang="en-US" sz="1000" dirty="0">
                        <a:latin typeface="Songti SC" charset="0"/>
                        <a:ea typeface="Songti SC" charset="0"/>
                        <a:cs typeface="Songti SC" charset="0"/>
                      </a:endParaRPr>
                    </a:p>
                  </a:txBody>
                  <a:tcPr marL="91440" marR="91440" marT="45720" marB="45720" anchor="ctr">
                    <a:lnL w="3810" cap="flat" cmpd="sng" algn="ctr">
                      <a:solidFill>
                        <a:srgbClr val="BDB3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BDB3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BDB3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BDB3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E7D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A52A2A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什么都接，含灰色操作</a:t>
                      </a:r>
                      <a:endParaRPr lang="en-US" sz="95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3810" cap="flat" cmpd="sng" algn="ctr">
                      <a:solidFill>
                        <a:srgbClr val="BDB3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BDB3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BDB3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BDB3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8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0B3D4F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明确不接代过审 / 伪造 / 特殊渠道</a:t>
                      </a:r>
                      <a:endParaRPr lang="en-US" sz="95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3810" cap="flat" cmpd="sng" algn="ctr">
                      <a:solidFill>
                        <a:srgbClr val="BDB3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BDB3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BDB3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BDB3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8F0"/>
                    </a:solidFill>
                  </a:tcPr>
                </a:tc>
              </a:tr>
            </a:tbl>
          </a:graphicData>
        </a:graphic>
      </p:graphicFrame>
      <p:sp>
        <p:nvSpPr>
          <p:cNvPr id="8" name="Text 5"/>
          <p:cNvSpPr/>
          <p:nvPr/>
        </p:nvSpPr>
        <p:spPr>
          <a:xfrm>
            <a:off x="365760" y="475488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200" kern="0" dirty="0">
                <a:solidFill>
                  <a:srgbClr val="6E6A5F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19 / 21</a:t>
            </a:r>
            <a:endParaRPr lang="en-US" sz="900" dirty="0"/>
          </a:p>
        </p:txBody>
      </p:sp>
      <p:sp>
        <p:nvSpPr>
          <p:cNvPr id="9" name="Text 6"/>
          <p:cNvSpPr/>
          <p:nvPr/>
        </p:nvSpPr>
        <p:spPr>
          <a:xfrm>
            <a:off x="6400800" y="475488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6E6A5F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水之明亚马逊申诉服务  ·  销售介绍</a:t>
            </a:r>
            <a:endParaRPr lang="en-US" sz="9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6F2E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286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141414"/>
                </a:solidFill>
                <a:latin typeface="Songti SC" pitchFamily="34" charset="0"/>
                <a:ea typeface="Songti SC" pitchFamily="34" charset="-122"/>
                <a:cs typeface="Songti SC" pitchFamily="34" charset="-120"/>
              </a:rPr>
              <a:t>水 之 明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949440" y="2286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141414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拾肆  ·  CLIENT FIT  ·  客户画像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365760" y="548640"/>
            <a:ext cx="8412480" cy="0"/>
          </a:xfrm>
          <a:prstGeom prst="line">
            <a:avLst/>
          </a:prstGeom>
          <a:noFill/>
          <a:ln w="6350">
            <a:solidFill>
              <a:srgbClr val="D6CFBD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365760" y="822960"/>
            <a:ext cx="8412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41414"/>
                </a:solidFill>
                <a:latin typeface="Songti SC" pitchFamily="34" charset="0"/>
                <a:ea typeface="Songti SC" pitchFamily="34" charset="-122"/>
                <a:cs typeface="Songti SC" pitchFamily="34" charset="-120"/>
              </a:rPr>
              <a:t>我们服务谁  ·  不服务谁</a:t>
            </a:r>
            <a:endParaRPr lang="en-US" sz="3600" dirty="0"/>
          </a:p>
        </p:txBody>
      </p:sp>
      <p:sp>
        <p:nvSpPr>
          <p:cNvPr id="6" name="Text 4"/>
          <p:cNvSpPr/>
          <p:nvPr/>
        </p:nvSpPr>
        <p:spPr>
          <a:xfrm>
            <a:off x="365760" y="150876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E6A5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边界讲清楚，对你和我们都省时间。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365760" y="2103120"/>
            <a:ext cx="4114800" cy="2606040"/>
          </a:xfrm>
          <a:prstGeom prst="rect">
            <a:avLst/>
          </a:prstGeom>
          <a:solidFill>
            <a:srgbClr val="FBF8F0"/>
          </a:solidFill>
          <a:ln w="15240">
            <a:solidFill>
              <a:srgbClr val="0B3D4F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65760" y="2103120"/>
            <a:ext cx="4114800" cy="411480"/>
          </a:xfrm>
          <a:prstGeom prst="rect">
            <a:avLst/>
          </a:prstGeom>
          <a:solidFill>
            <a:srgbClr val="0B3D4F"/>
          </a:solidFill>
          <a:ln/>
        </p:spPr>
      </p:sp>
      <p:sp>
        <p:nvSpPr>
          <p:cNvPr id="9" name="Text 7"/>
          <p:cNvSpPr/>
          <p:nvPr/>
        </p:nvSpPr>
        <p:spPr>
          <a:xfrm>
            <a:off x="548640" y="2121408"/>
            <a:ext cx="3931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F6F2E9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我们服务  ·  OUR CLIENTS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548640" y="2651760"/>
            <a:ext cx="3840480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150" dirty="0">
                <a:solidFill>
                  <a:srgbClr val="141414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✓  中国大陆营业执照公司主体</a:t>
            </a:r>
            <a:endParaRPr lang="en-US" sz="115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150" dirty="0">
                <a:solidFill>
                  <a:srgbClr val="141414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✓  店铺在亚马逊海外站  ·  美 / 欧 / 日 / 澳 / 中东</a:t>
            </a:r>
            <a:endParaRPr lang="en-US" sz="115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150" dirty="0">
                <a:solidFill>
                  <a:srgbClr val="141414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✓  运营团队在大陆  ·  中文母语沟通</a:t>
            </a:r>
            <a:endParaRPr lang="en-US" sz="115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150" dirty="0">
                <a:solidFill>
                  <a:srgbClr val="141414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✓  中小型到品牌型卖家皆可</a:t>
            </a:r>
            <a:endParaRPr lang="en-US" sz="115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150" dirty="0">
                <a:solidFill>
                  <a:srgbClr val="141414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✓  多账号矩阵  /  品牌代运营机构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4663440" y="2103120"/>
            <a:ext cx="4114800" cy="2606040"/>
          </a:xfrm>
          <a:prstGeom prst="rect">
            <a:avLst/>
          </a:prstGeom>
          <a:solidFill>
            <a:srgbClr val="FBF5F4"/>
          </a:solidFill>
          <a:ln w="15240">
            <a:solidFill>
              <a:srgbClr val="A52A2A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663440" y="2103120"/>
            <a:ext cx="4114800" cy="411480"/>
          </a:xfrm>
          <a:prstGeom prst="rect">
            <a:avLst/>
          </a:prstGeom>
          <a:solidFill>
            <a:srgbClr val="A52A2A"/>
          </a:solidFill>
          <a:ln/>
        </p:spPr>
      </p:sp>
      <p:sp>
        <p:nvSpPr>
          <p:cNvPr id="13" name="Text 11"/>
          <p:cNvSpPr/>
          <p:nvPr/>
        </p:nvSpPr>
        <p:spPr>
          <a:xfrm>
            <a:off x="4846320" y="2121408"/>
            <a:ext cx="3931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F6F2E9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我们不服务  ·  NOT OUR CLIENTS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846320" y="2651760"/>
            <a:ext cx="3840480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150" dirty="0">
                <a:solidFill>
                  <a:srgbClr val="141414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✕  港澳台主体卖家  ·  即使有大陆关联也不接</a:t>
            </a:r>
            <a:endParaRPr lang="en-US" sz="115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150" dirty="0">
                <a:solidFill>
                  <a:srgbClr val="141414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✕  海外华人卖家  ·  无大陆主体的华人</a:t>
            </a:r>
            <a:endParaRPr lang="en-US" sz="115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150" dirty="0">
                <a:solidFill>
                  <a:srgbClr val="141414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✕  海外本土卖家  ·  非中文母语客户</a:t>
            </a:r>
            <a:endParaRPr lang="en-US" sz="115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150" dirty="0">
                <a:solidFill>
                  <a:srgbClr val="141414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✕  亚马逊中国站  /  其他电商平台</a:t>
            </a:r>
            <a:endParaRPr lang="en-US" sz="115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150" dirty="0">
                <a:solidFill>
                  <a:srgbClr val="141414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✕  希望走「特殊渠道」的客户</a:t>
            </a:r>
            <a:endParaRPr lang="en-US" sz="115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150" dirty="0">
                <a:solidFill>
                  <a:srgbClr val="141414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✕  已永久拉黑且无证据链的极端案例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365760" y="475488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200" kern="0" dirty="0">
                <a:solidFill>
                  <a:srgbClr val="6E6A5F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20 / 21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6400800" y="475488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6E6A5F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水之明亚马逊申诉服务  ·  销售介绍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1414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0" y="-457200"/>
            <a:ext cx="5486400" cy="6400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0" b="1" dirty="0">
                <a:solidFill>
                  <a:srgbClr val="1A5C72">
                    <a:alpha val="15000"/>
                  </a:srgbClr>
                </a:solidFill>
                <a:latin typeface="Songti SC" pitchFamily="34" charset="0"/>
                <a:ea typeface="Songti SC" pitchFamily="34" charset="-122"/>
                <a:cs typeface="Songti SC" pitchFamily="34" charset="-120"/>
              </a:rPr>
              <a:t>明</a:t>
            </a:r>
            <a:endParaRPr lang="en-US" sz="42000" dirty="0"/>
          </a:p>
        </p:txBody>
      </p:sp>
      <p:sp>
        <p:nvSpPr>
          <p:cNvPr id="3" name="Text 1"/>
          <p:cNvSpPr/>
          <p:nvPr/>
        </p:nvSpPr>
        <p:spPr>
          <a:xfrm>
            <a:off x="365760" y="2286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F6F2E9"/>
                </a:solidFill>
                <a:latin typeface="Songti SC" pitchFamily="34" charset="0"/>
                <a:ea typeface="Songti SC" pitchFamily="34" charset="-122"/>
                <a:cs typeface="Songti SC" pitchFamily="34" charset="-120"/>
              </a:rPr>
              <a:t>水 之 明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6400800" y="22860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88888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END  ·  CONTACT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365760" y="548640"/>
            <a:ext cx="8412480" cy="0"/>
          </a:xfrm>
          <a:prstGeom prst="line">
            <a:avLst/>
          </a:prstGeom>
          <a:noFill/>
          <a:ln w="6350">
            <a:solidFill>
              <a:srgbClr val="44444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65760" y="91440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500" kern="0" dirty="0">
                <a:solidFill>
                  <a:srgbClr val="E8B86A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免费诊断  ·  FREE DIAGNOSIS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365760" y="1371600"/>
            <a:ext cx="84124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6F2E9"/>
                </a:solidFill>
                <a:latin typeface="Songti SC" pitchFamily="34" charset="0"/>
                <a:ea typeface="Songti SC" pitchFamily="34" charset="-122"/>
                <a:cs typeface="Songti SC" pitchFamily="34" charset="-120"/>
              </a:rPr>
              <a:t>把你的封号邮件发给我们，</a:t>
            </a:r>
            <a:endParaRPr lang="en-US" sz="3800" dirty="0"/>
          </a:p>
          <a:p>
            <a:pPr indent="0" marL="0">
              <a:buNone/>
            </a:pPr>
            <a:r>
              <a:rPr lang="en-US" sz="3800" b="1" dirty="0">
                <a:solidFill>
                  <a:srgbClr val="F6F2E9"/>
                </a:solidFill>
                <a:latin typeface="Songti SC" pitchFamily="34" charset="0"/>
                <a:ea typeface="Songti SC" pitchFamily="34" charset="-122"/>
                <a:cs typeface="Songti SC" pitchFamily="34" charset="-120"/>
              </a:rPr>
              <a:t>2 小时内给一份书面诊断。</a:t>
            </a:r>
            <a:endParaRPr lang="en-US" sz="3800" dirty="0"/>
          </a:p>
        </p:txBody>
      </p:sp>
      <p:sp>
        <p:nvSpPr>
          <p:cNvPr id="8" name="Text 6"/>
          <p:cNvSpPr/>
          <p:nvPr/>
        </p:nvSpPr>
        <p:spPr>
          <a:xfrm>
            <a:off x="365760" y="2743200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7C2B4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不加微信  ·  不拉群  ·  不套话。给你明确结论：哪种封号、哪一档价位、成功概率多少、要不要签约。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365760" y="3383280"/>
            <a:ext cx="2712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300" kern="0" dirty="0">
                <a:solidFill>
                  <a:srgbClr val="888888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邮箱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365760" y="3657600"/>
            <a:ext cx="2712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6F2E9"/>
                </a:solidFill>
                <a:latin typeface="Songti SC" pitchFamily="34" charset="0"/>
                <a:ea typeface="Songti SC" pitchFamily="34" charset="-122"/>
                <a:cs typeface="Songti SC" pitchFamily="34" charset="-120"/>
              </a:rPr>
              <a:t>3657797258@QQ.com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3124200" y="3474720"/>
            <a:ext cx="0" cy="640080"/>
          </a:xfrm>
          <a:prstGeom prst="line">
            <a:avLst/>
          </a:prstGeom>
          <a:noFill/>
          <a:ln w="6350">
            <a:solidFill>
              <a:srgbClr val="444444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169920" y="3383280"/>
            <a:ext cx="2712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300" kern="0" dirty="0">
                <a:solidFill>
                  <a:srgbClr val="888888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电话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3169920" y="3657600"/>
            <a:ext cx="2712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6F2E9"/>
                </a:solidFill>
                <a:latin typeface="Songti SC" pitchFamily="34" charset="0"/>
                <a:ea typeface="Songti SC" pitchFamily="34" charset="-122"/>
                <a:cs typeface="Songti SC" pitchFamily="34" charset="-120"/>
              </a:rPr>
              <a:t>13916498860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5928360" y="3474720"/>
            <a:ext cx="0" cy="640080"/>
          </a:xfrm>
          <a:prstGeom prst="line">
            <a:avLst/>
          </a:prstGeom>
          <a:noFill/>
          <a:ln w="6350">
            <a:solidFill>
              <a:srgbClr val="444444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974080" y="3383280"/>
            <a:ext cx="2712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300" kern="0" dirty="0">
                <a:solidFill>
                  <a:srgbClr val="888888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工作时间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5974080" y="3657600"/>
            <a:ext cx="2712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6F2E9"/>
                </a:solidFill>
                <a:latin typeface="Songti SC" pitchFamily="34" charset="0"/>
                <a:ea typeface="Songti SC" pitchFamily="34" charset="-122"/>
                <a:cs typeface="Songti SC" pitchFamily="34" charset="-120"/>
              </a:rPr>
              <a:t>周一至周五  09:00 – 18:00</a:t>
            </a:r>
            <a:endParaRPr lang="en-US" sz="1500" dirty="0"/>
          </a:p>
        </p:txBody>
      </p:sp>
      <p:sp>
        <p:nvSpPr>
          <p:cNvPr id="17" name="Shape 15"/>
          <p:cNvSpPr/>
          <p:nvPr/>
        </p:nvSpPr>
        <p:spPr>
          <a:xfrm>
            <a:off x="365760" y="4572000"/>
            <a:ext cx="8412480" cy="0"/>
          </a:xfrm>
          <a:prstGeom prst="line">
            <a:avLst/>
          </a:prstGeom>
          <a:noFill/>
          <a:ln w="6350">
            <a:solidFill>
              <a:srgbClr val="444444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470916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400" kern="0" dirty="0">
                <a:solidFill>
                  <a:srgbClr val="888888"/>
                </a:solidFill>
                <a:latin typeface="Songti SC" pitchFamily="34" charset="0"/>
                <a:ea typeface="Songti SC" pitchFamily="34" charset="-122"/>
                <a:cs typeface="Songti SC" pitchFamily="34" charset="-120"/>
              </a:rPr>
              <a:t>上 海 水 之 明 科 技 有 限 公 司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5486400" y="470916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spc="400" kern="0" dirty="0">
                <a:solidFill>
                  <a:srgbClr val="E8B86A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水落石出  ·  明察秋毫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21</Slides>
  <Notes>21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21</vt:i4>
      </vt:variant>
    </vt:vector>
  </HeadingPairs>
  <TitlesOfParts>
    <vt:vector size="2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</vt:vector>
  </TitlesOfParts>
  <Company>上海水之明科技有限公司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水之明亚马逊申诉服务 · 销售介绍</dc:title>
  <dc:subject>PptxGenJS Presentation</dc:subject>
  <dc:creator>上海水之明科技有限公司</dc:creator>
  <cp:lastModifiedBy>上海水之明科技有限公司</cp:lastModifiedBy>
  <cp:revision>1</cp:revision>
  <dcterms:created xsi:type="dcterms:W3CDTF">2026-04-26T04:28:38Z</dcterms:created>
  <dcterms:modified xsi:type="dcterms:W3CDTF">2026-04-26T04:28:39Z</dcterms:modified>
</cp:coreProperties>
</file>