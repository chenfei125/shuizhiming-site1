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-640080"/>
            <a:ext cx="8229600" cy="640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0" b="1" dirty="0">
                <a:solidFill>
                  <a:srgbClr val="1A5C72">
                    <a:alpha val="18000"/>
                  </a:srgbClr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水之明</a:t>
            </a:r>
            <a:endParaRPr lang="en-US" sz="46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F6F2E9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上 海 水 之 明 科 技 有 限 公 司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365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E8B86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VOL. I  · 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6350">
            <a:solidFill>
              <a:srgbClr val="44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800" kern="0" dirty="0">
                <a:solidFill>
                  <a:srgbClr val="E8B86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销 售 介 绍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6F2E9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店铺的第二次机会，</a:t>
            </a:r>
            <a:endParaRPr lang="en-US" sz="5600" dirty="0"/>
          </a:p>
          <a:p>
            <a:pPr indent="0" marL="0">
              <a:buNone/>
            </a:pPr>
            <a:r>
              <a:rPr lang="en-US" sz="5600" b="1" dirty="0">
                <a:solidFill>
                  <a:srgbClr val="F6F2E9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配得上一次</a:t>
            </a:r>
            <a:pPr indent="0" marL="0">
              <a:buNone/>
            </a:pPr>
            <a:r>
              <a:rPr lang="en-US" sz="5600" b="1" dirty="0">
                <a:solidFill>
                  <a:srgbClr val="E8B86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认真。</a:t>
            </a:r>
            <a:endParaRPr lang="en-US" sz="5600" dirty="0"/>
          </a:p>
        </p:txBody>
      </p:sp>
      <p:sp>
        <p:nvSpPr>
          <p:cNvPr id="8" name="Shape 6"/>
          <p:cNvSpPr/>
          <p:nvPr/>
        </p:nvSpPr>
        <p:spPr>
          <a:xfrm>
            <a:off x="457200" y="3931920"/>
            <a:ext cx="8229600" cy="0"/>
          </a:xfrm>
          <a:prstGeom prst="line">
            <a:avLst/>
          </a:prstGeom>
          <a:noFill/>
          <a:ln w="6350">
            <a:solidFill>
              <a:srgbClr val="44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F6F2E9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中 国 大 陆 卖 家  ·  亚 马 逊 海 外 站  ·  申 诉 服 务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AAAA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上海公司签约  ·  对公人民币结算  ·  6% 增值税发票  ·  上海法院管辖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8888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2026.04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141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水 之 明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0" y="228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E6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PART I  ·  REALITY  ·  现实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548640"/>
            <a:ext cx="8412480" cy="0"/>
          </a:xfrm>
          <a:prstGeom prst="line">
            <a:avLst/>
          </a:prstGeom>
          <a:noFill/>
          <a:ln w="6350">
            <a:solidFill>
              <a:srgbClr val="D6CF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68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A52A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PART 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6E6A5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现实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0B3D4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¥30 亿+</a:t>
            </a:r>
            <a:endParaRPr lang="en-US" sz="13000" dirty="0"/>
          </a:p>
        </p:txBody>
      </p:sp>
      <p:sp>
        <p:nvSpPr>
          <p:cNvPr id="8" name="Text 6"/>
          <p:cNvSpPr/>
          <p:nvPr/>
        </p:nvSpPr>
        <p:spPr>
          <a:xfrm>
            <a:off x="365760" y="32004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41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中国大陆亚马逊卖家每年因封号 / 资金冻结 / 错杀产生的可估算损失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35661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5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（综合 2024–2025 年公开数据与行业访谈估算）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4114800"/>
            <a:ext cx="8412480" cy="548640"/>
          </a:xfrm>
          <a:prstGeom prst="rect">
            <a:avLst/>
          </a:prstGeom>
          <a:solidFill>
            <a:srgbClr val="ECE7D7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你不是在被亚马逊封号，你是几十万分之一。在这个量级里，你需要的不是「碰运气」。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6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 / 21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0" y="4754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E6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水之明亚马逊申诉服务  ·  V2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141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水 之 明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0" y="228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E6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REALITY  ·  申诉为什么难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548640"/>
            <a:ext cx="8412480" cy="0"/>
          </a:xfrm>
          <a:prstGeom prst="line">
            <a:avLst/>
          </a:prstGeom>
          <a:noFill/>
          <a:ln w="6350">
            <a:solidFill>
              <a:srgbClr val="D6CF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141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申诉不是技术问题，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D4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是诚信问题。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24231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A5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行业把申诉做难了，原因是这三件事——同行都不愿改：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926080"/>
            <a:ext cx="2697480" cy="1691640"/>
          </a:xfrm>
          <a:prstGeom prst="rect">
            <a:avLst/>
          </a:prstGeom>
          <a:solidFill>
            <a:srgbClr val="FBF8F0"/>
          </a:solidFill>
          <a:ln w="6350">
            <a:solidFill>
              <a:srgbClr val="D6CFB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926080"/>
            <a:ext cx="54864" cy="1691640"/>
          </a:xfrm>
          <a:prstGeom prst="rect">
            <a:avLst/>
          </a:prstGeom>
          <a:solidFill>
            <a:srgbClr val="A52A2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063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52A2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①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05840" y="30906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41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模糊的报价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48640" y="356616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「加微信、聊一下」永远开不出明码标价。同样的案子，对甲收 ¥800、对乙收 ¥3,000，只看你像不像新手。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82112" y="2926080"/>
            <a:ext cx="2697480" cy="1691640"/>
          </a:xfrm>
          <a:prstGeom prst="rect">
            <a:avLst/>
          </a:prstGeom>
          <a:solidFill>
            <a:srgbClr val="FBF8F0"/>
          </a:solidFill>
          <a:ln w="6350">
            <a:solidFill>
              <a:srgbClr val="D6CFB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82112" y="2926080"/>
            <a:ext cx="54864" cy="1691640"/>
          </a:xfrm>
          <a:prstGeom prst="rect">
            <a:avLst/>
          </a:prstGeom>
          <a:solidFill>
            <a:srgbClr val="A52A2A"/>
          </a:solidFill>
          <a:ln/>
        </p:spPr>
      </p:sp>
      <p:sp>
        <p:nvSpPr>
          <p:cNvPr id="15" name="Text 13"/>
          <p:cNvSpPr/>
          <p:nvPr/>
        </p:nvSpPr>
        <p:spPr>
          <a:xfrm>
            <a:off x="3364992" y="3063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52A2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②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822192" y="30906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41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模板化的 POA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364992" y="356616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用同一份英文模板套不同店铺，速度快、成本低。但模板被亚马逊算法识别后，连坐拒一片。第一次过、第二次必死。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98464" y="2926080"/>
            <a:ext cx="2697480" cy="1691640"/>
          </a:xfrm>
          <a:prstGeom prst="rect">
            <a:avLst/>
          </a:prstGeom>
          <a:solidFill>
            <a:srgbClr val="FBF8F0"/>
          </a:solidFill>
          <a:ln w="6350">
            <a:solidFill>
              <a:srgbClr val="D6CFB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98464" y="2926080"/>
            <a:ext cx="54864" cy="1691640"/>
          </a:xfrm>
          <a:prstGeom prst="rect">
            <a:avLst/>
          </a:prstGeom>
          <a:solidFill>
            <a:srgbClr val="A52A2A"/>
          </a:solidFill>
          <a:ln/>
        </p:spPr>
      </p:sp>
      <p:sp>
        <p:nvSpPr>
          <p:cNvPr id="20" name="Text 18"/>
          <p:cNvSpPr/>
          <p:nvPr/>
        </p:nvSpPr>
        <p:spPr>
          <a:xfrm>
            <a:off x="6181344" y="3063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52A2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③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638544" y="30906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41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出事就消失的对接人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181344" y="356616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签约前微信秒回，遇到拒绝就开始模糊话术。退款条款没有明确触发点，扯皮几个月，最后只能认栽。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6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 / 21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0" y="4754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E6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水之明亚马逊申诉服务  ·  V2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141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水 之 明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0" y="228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E6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REALITY  ·  常见误区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548640"/>
            <a:ext cx="8412480" cy="0"/>
          </a:xfrm>
          <a:prstGeom prst="line">
            <a:avLst/>
          </a:prstGeom>
          <a:noFill/>
          <a:ln w="6350">
            <a:solidFill>
              <a:srgbClr val="D6CF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41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被亚马逊封号不是终点。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52A2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申诉路径选错，才是终点。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A5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我们见过最常见的三类「自杀式选择」：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468880"/>
            <a:ext cx="8412480" cy="685800"/>
          </a:xfrm>
          <a:prstGeom prst="rect">
            <a:avLst/>
          </a:prstGeom>
          <a:solidFill>
            <a:srgbClr val="FBF8F0"/>
          </a:solidFill>
          <a:ln w="6350">
            <a:solidFill>
              <a:srgbClr val="D6CF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560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52A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陷阱 01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27614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找了模板派服务商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40480" y="25603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首次申诉过了 → 第二个店申诉被拒 → 模板已被亚马逊标记 → 后续修复成本 5-10 倍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264408"/>
            <a:ext cx="8412480" cy="685800"/>
          </a:xfrm>
          <a:prstGeom prst="rect">
            <a:avLst/>
          </a:prstGeom>
          <a:solidFill>
            <a:srgbClr val="FBF8F0"/>
          </a:solidFill>
          <a:ln w="6350">
            <a:solidFill>
              <a:srgbClr val="D6CFB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35584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52A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陷阱 02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355701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找了港资 / 个人户收款方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40480" y="335584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钱转过去发票开不出、不入账 → 服务出问题想维权 → 跨境管辖几乎不可能 → 认栽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059936"/>
            <a:ext cx="8412480" cy="685800"/>
          </a:xfrm>
          <a:prstGeom prst="rect">
            <a:avLst/>
          </a:prstGeom>
          <a:solidFill>
            <a:srgbClr val="FBF8F0"/>
          </a:solidFill>
          <a:ln w="6350">
            <a:solidFill>
              <a:srgbClr val="D6CFB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15137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52A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陷阱 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" y="435254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自己用 AI 写 POA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40480" y="415137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ChatGPT 生成的英文有典型 AI 痕迹 → 亚马逊 AI 检测识别 → 直接拒并标记账号「不诚信」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6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 / 21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0" y="4754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E6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水之明亚马逊申诉服务  ·  V2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141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水 之 明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0" y="228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E6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PART II  ·  WHY NOW  ·  时机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548640"/>
            <a:ext cx="8412480" cy="0"/>
          </a:xfrm>
          <a:prstGeom prst="line">
            <a:avLst/>
          </a:prstGeom>
          <a:noFill/>
          <a:ln w="6350">
            <a:solidFill>
              <a:srgbClr val="D6CF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68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A52A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PART II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2026 · 亚马逊执法新规则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A5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以前能「碰运气过」的玩法，今年开始过不了。质量门槛被强制拉高。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2697480" cy="2331720"/>
          </a:xfrm>
          <a:prstGeom prst="rect">
            <a:avLst/>
          </a:prstGeom>
          <a:solidFill>
            <a:srgbClr val="FBF8F0"/>
          </a:solidFill>
          <a:ln w="6350">
            <a:solidFill>
              <a:srgbClr val="D6CFB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331720"/>
            <a:ext cx="2697480" cy="502920"/>
          </a:xfrm>
          <a:prstGeom prst="rect">
            <a:avLst/>
          </a:prstGeom>
          <a:solidFill>
            <a:srgbClr val="0B3D4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3774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B86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变化 ①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25786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F2E9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二审 / 视频验证范围扩大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97180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2025 起不再只查大店，新店首次封号也要做视频验证。法人配合度成为决定因素。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82112" y="2331720"/>
            <a:ext cx="2697480" cy="2331720"/>
          </a:xfrm>
          <a:prstGeom prst="rect">
            <a:avLst/>
          </a:prstGeom>
          <a:solidFill>
            <a:srgbClr val="FBF8F0"/>
          </a:solidFill>
          <a:ln w="6350">
            <a:solidFill>
              <a:srgbClr val="D6CFB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82112" y="2331720"/>
            <a:ext cx="2697480" cy="502920"/>
          </a:xfrm>
          <a:prstGeom prst="rect">
            <a:avLst/>
          </a:prstGeom>
          <a:solidFill>
            <a:srgbClr val="0B3D4F"/>
          </a:solidFill>
          <a:ln/>
        </p:spPr>
      </p:sp>
      <p:sp>
        <p:nvSpPr>
          <p:cNvPr id="15" name="Text 13"/>
          <p:cNvSpPr/>
          <p:nvPr/>
        </p:nvSpPr>
        <p:spPr>
          <a:xfrm>
            <a:off x="3364992" y="23774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B86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变化 ②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364992" y="25786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F2E9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资金冻结 KYC 流程加严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64992" y="297180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放款审核从 30 天延长到 60-90 天。要求税务材料、银行对账单、真实运营证据三件套同时齐全。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98464" y="2331720"/>
            <a:ext cx="2697480" cy="2331720"/>
          </a:xfrm>
          <a:prstGeom prst="rect">
            <a:avLst/>
          </a:prstGeom>
          <a:solidFill>
            <a:srgbClr val="FBF8F0"/>
          </a:solidFill>
          <a:ln w="6350">
            <a:solidFill>
              <a:srgbClr val="D6CFB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98464" y="2331720"/>
            <a:ext cx="2697480" cy="502920"/>
          </a:xfrm>
          <a:prstGeom prst="rect">
            <a:avLst/>
          </a:prstGeom>
          <a:solidFill>
            <a:srgbClr val="0B3D4F"/>
          </a:solidFill>
          <a:ln/>
        </p:spPr>
      </p:sp>
      <p:sp>
        <p:nvSpPr>
          <p:cNvPr id="20" name="Text 18"/>
          <p:cNvSpPr/>
          <p:nvPr/>
        </p:nvSpPr>
        <p:spPr>
          <a:xfrm>
            <a:off x="6181344" y="23774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B86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变化 ③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181344" y="25786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F2E9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跨账号关联检测精度提升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81344" y="297180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IP / 设备 / 支付 / WiFi / 邮箱 / 浏览器指纹 6 维交叉，连「不同物业不同人」都可能误判。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6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 / 21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0" y="4754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E6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水之明亚马逊申诉服务  ·  V2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6F2E9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水 之 明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0" y="228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888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PART III  ·  WHAT'S DIFFERENT  ·  不同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548640"/>
            <a:ext cx="8412480" cy="0"/>
          </a:xfrm>
          <a:prstGeom prst="line">
            <a:avLst/>
          </a:prstGeom>
          <a:noFill/>
          <a:ln w="6350">
            <a:solidFill>
              <a:srgbClr val="5555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68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E8B86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PART III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6F2E9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我们公开拒绝</a:t>
            </a:r>
            <a:pPr indent="0" marL="0">
              <a:buNone/>
            </a:pPr>
            <a:r>
              <a:rPr lang="en-US" sz="5600" b="1" dirty="0">
                <a:solidFill>
                  <a:srgbClr val="E8B86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70%</a:t>
            </a:r>
            <a:pPr indent="0" marL="0">
              <a:buNone/>
            </a:pPr>
            <a:r>
              <a:rPr lang="en-US" sz="4200" b="1" dirty="0">
                <a:solidFill>
                  <a:srgbClr val="F6F2E9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  的潜在客户。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65760" y="23317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BBBB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从一开始把客户画像收窄，是质量保证的起点——不是谦虚。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926080"/>
            <a:ext cx="2011680" cy="1143000"/>
          </a:xfrm>
          <a:prstGeom prst="rect">
            <a:avLst/>
          </a:prstGeom>
          <a:solidFill>
            <a:srgbClr val="1F1F1F"/>
          </a:solidFill>
          <a:ln w="6350">
            <a:solidFill>
              <a:srgbClr val="A52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52A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✕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30352" y="3383280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F2E9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港澳台主体卖家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0352" y="3703320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即使有大陆关联也不接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96312" y="2926080"/>
            <a:ext cx="2011680" cy="1143000"/>
          </a:xfrm>
          <a:prstGeom prst="rect">
            <a:avLst/>
          </a:prstGeom>
          <a:solidFill>
            <a:srgbClr val="1F1F1F"/>
          </a:solidFill>
          <a:ln w="6350">
            <a:solidFill>
              <a:srgbClr val="A5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60904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52A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✕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660904" y="3383280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F2E9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海外华人 / 海外本土卖家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60904" y="3703320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无大陆主体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26864" y="2926080"/>
            <a:ext cx="2011680" cy="1143000"/>
          </a:xfrm>
          <a:prstGeom prst="rect">
            <a:avLst/>
          </a:prstGeom>
          <a:solidFill>
            <a:srgbClr val="1F1F1F"/>
          </a:solidFill>
          <a:ln w="6350">
            <a:solidFill>
              <a:srgbClr val="A52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91456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52A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✕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91456" y="3383280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F2E9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亚马逊中国站 / 其他平台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91456" y="3703320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只做亚马逊海外站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57416" y="2926080"/>
            <a:ext cx="2011680" cy="1143000"/>
          </a:xfrm>
          <a:prstGeom prst="rect">
            <a:avLst/>
          </a:prstGeom>
          <a:solidFill>
            <a:srgbClr val="1F1F1F"/>
          </a:solidFill>
          <a:ln w="6350">
            <a:solidFill>
              <a:srgbClr val="A52A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22008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52A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✕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922008" y="3383280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F2E9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希望走「特殊渠道」的客户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22008" y="3703320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代过审 / 伪造材料 / 灰色操作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42976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B86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剩下的——中国大陆主体卖家做亚马逊海外站——是我们 100% 资源投入的对象。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7777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06 / 21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0" y="4754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77777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水之明亚马逊申诉服务  ·  V2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141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水 之 明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0" y="228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E6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WHAT'S DIFFERENT  ·  境内合规闭环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548640"/>
            <a:ext cx="8412480" cy="0"/>
          </a:xfrm>
          <a:prstGeom prst="line">
            <a:avLst/>
          </a:prstGeom>
          <a:noFill/>
          <a:ln w="6350">
            <a:solidFill>
              <a:srgbClr val="D6CF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41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「境内合规」不是口号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3D4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是把 4 件事全部锁在境内的工程闭环。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794760" y="2606040"/>
            <a:ext cx="1554480" cy="1554480"/>
          </a:xfrm>
          <a:prstGeom prst="ellipse">
            <a:avLst/>
          </a:prstGeom>
          <a:solidFill>
            <a:srgbClr val="0B3D4F"/>
          </a:solidFill>
          <a:ln/>
        </p:spPr>
      </p:sp>
      <p:sp>
        <p:nvSpPr>
          <p:cNvPr id="8" name="Text 6"/>
          <p:cNvSpPr/>
          <p:nvPr/>
        </p:nvSpPr>
        <p:spPr>
          <a:xfrm>
            <a:off x="3794760" y="30175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F2E9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境内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E8B86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闭环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" y="1783080"/>
            <a:ext cx="2560320" cy="822960"/>
          </a:xfrm>
          <a:prstGeom prst="rect">
            <a:avLst/>
          </a:prstGeom>
          <a:solidFill>
            <a:srgbClr val="FBF8F0"/>
          </a:solidFill>
          <a:ln w="12700">
            <a:solidFill>
              <a:srgbClr val="0B3D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8562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B3D4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合 同 主 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" y="21671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上海公司 · 工商可查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 flipV="1">
            <a:off x="2651760" y="2194560"/>
            <a:ext cx="2697480" cy="761238"/>
          </a:xfrm>
          <a:prstGeom prst="line">
            <a:avLst/>
          </a:prstGeom>
          <a:noFill/>
          <a:ln w="12700">
            <a:solidFill>
              <a:srgbClr val="BDB39A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6492240" y="1783080"/>
            <a:ext cx="2560320" cy="822960"/>
          </a:xfrm>
          <a:prstGeom prst="rect">
            <a:avLst/>
          </a:prstGeom>
          <a:solidFill>
            <a:srgbClr val="FBF8F0"/>
          </a:solidFill>
          <a:ln w="12700">
            <a:solidFill>
              <a:srgbClr val="0B3D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18562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B3D4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收 付 款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29400" y="21671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对公账户 · 人民币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794760" y="2194560"/>
            <a:ext cx="2697480" cy="761238"/>
          </a:xfrm>
          <a:prstGeom prst="line">
            <a:avLst/>
          </a:prstGeom>
          <a:noFill/>
          <a:ln w="12700">
            <a:solidFill>
              <a:srgbClr val="BDB39A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91440" y="4160520"/>
            <a:ext cx="2560320" cy="822960"/>
          </a:xfrm>
          <a:prstGeom prst="rect">
            <a:avLst/>
          </a:prstGeom>
          <a:solidFill>
            <a:srgbClr val="FBF8F0"/>
          </a:solidFill>
          <a:ln w="12700">
            <a:solidFill>
              <a:srgbClr val="0B3D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42336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B3D4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发 票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8600" y="45445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6% 增值税专票 / 普票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651760" y="3810762"/>
            <a:ext cx="2697480" cy="761238"/>
          </a:xfrm>
          <a:prstGeom prst="line">
            <a:avLst/>
          </a:prstGeom>
          <a:noFill/>
          <a:ln w="12700">
            <a:solidFill>
              <a:srgbClr val="BDB39A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6492240" y="4160520"/>
            <a:ext cx="2560320" cy="822960"/>
          </a:xfrm>
          <a:prstGeom prst="rect">
            <a:avLst/>
          </a:prstGeom>
          <a:solidFill>
            <a:srgbClr val="FBF8F0"/>
          </a:solidFill>
          <a:ln w="12700">
            <a:solidFill>
              <a:srgbClr val="0B3D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42336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B3D4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司 法 管 辖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29400" y="45445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上海人民法院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 flipV="1">
            <a:off x="3794760" y="3810762"/>
            <a:ext cx="2697480" cy="761238"/>
          </a:xfrm>
          <a:prstGeom prst="line">
            <a:avLst/>
          </a:prstGeom>
          <a:noFill/>
          <a:ln w="12700">
            <a:solidFill>
              <a:srgbClr val="BDB39A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365760" y="4389120"/>
            <a:ext cx="8412480" cy="365760"/>
          </a:xfrm>
          <a:prstGeom prst="rect">
            <a:avLst/>
          </a:prstGeom>
          <a:solidFill>
            <a:srgbClr val="ECE7D7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行业里几乎所有同行至少缺一环——4 件事一件不缺，是非常稀缺的。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6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07 / 21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0" y="4754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E6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水之明亚马逊申诉服务  ·  V2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141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水 之 明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0" y="228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E6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WHAT'S DIFFERENT  ·  四项强承诺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548640"/>
            <a:ext cx="8412480" cy="0"/>
          </a:xfrm>
          <a:prstGeom prst="line">
            <a:avLst/>
          </a:prstGeom>
          <a:noFill/>
          <a:ln w="6350">
            <a:solidFill>
              <a:srgbClr val="D6CF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41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把同行最不愿意公开的 4 件事，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4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全部摆在桌上。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2011680" cy="2377440"/>
          </a:xfrm>
          <a:prstGeom prst="rect">
            <a:avLst/>
          </a:prstGeom>
          <a:solidFill>
            <a:srgbClr val="FBF8F0"/>
          </a:solidFill>
          <a:ln w="6350">
            <a:solidFill>
              <a:srgbClr val="D6CFB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194560"/>
            <a:ext cx="2011680" cy="54864"/>
          </a:xfrm>
          <a:prstGeom prst="rect">
            <a:avLst/>
          </a:prstGeom>
          <a:solidFill>
            <a:srgbClr val="0B3D4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7744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DB39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壹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548640" y="3063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价格上墙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33832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52A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VS 加微信报价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365760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三档价格区间 + 6 个影响因素 + 行业均价对照，全部官网公示。报价单 7 天内不涨价。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96312" y="2194560"/>
            <a:ext cx="2011680" cy="2377440"/>
          </a:xfrm>
          <a:prstGeom prst="rect">
            <a:avLst/>
          </a:prstGeom>
          <a:solidFill>
            <a:srgbClr val="FBF8F0"/>
          </a:solidFill>
          <a:ln w="6350">
            <a:solidFill>
              <a:srgbClr val="D6CFB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96312" y="2194560"/>
            <a:ext cx="2011680" cy="54864"/>
          </a:xfrm>
          <a:prstGeom prst="rect">
            <a:avLst/>
          </a:prstGeom>
          <a:solidFill>
            <a:srgbClr val="0B3D4F"/>
          </a:solidFill>
          <a:ln/>
        </p:spPr>
      </p:sp>
      <p:sp>
        <p:nvSpPr>
          <p:cNvPr id="15" name="Text 13"/>
          <p:cNvSpPr/>
          <p:nvPr/>
        </p:nvSpPr>
        <p:spPr>
          <a:xfrm>
            <a:off x="2679192" y="237744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DB39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贰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2679192" y="3063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POA 100% 原创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679192" y="33832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52A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VS 模板派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79192" y="365760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基于你店铺真实情况撰写。被发现使用同模板，无条件全额退款。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26864" y="2194560"/>
            <a:ext cx="2011680" cy="2377440"/>
          </a:xfrm>
          <a:prstGeom prst="rect">
            <a:avLst/>
          </a:prstGeom>
          <a:solidFill>
            <a:srgbClr val="FBF8F0"/>
          </a:solidFill>
          <a:ln w="6350">
            <a:solidFill>
              <a:srgbClr val="D6CFB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26864" y="2194560"/>
            <a:ext cx="2011680" cy="54864"/>
          </a:xfrm>
          <a:prstGeom prst="rect">
            <a:avLst/>
          </a:prstGeom>
          <a:solidFill>
            <a:srgbClr val="0B3D4F"/>
          </a:solidFill>
          <a:ln/>
        </p:spPr>
      </p:sp>
      <p:sp>
        <p:nvSpPr>
          <p:cNvPr id="21" name="Text 19"/>
          <p:cNvSpPr/>
          <p:nvPr/>
        </p:nvSpPr>
        <p:spPr>
          <a:xfrm>
            <a:off x="4809744" y="237744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DB39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叁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4809744" y="3063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看板留痕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809744" y="33832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52A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VS 微信群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09744" y="365760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POA 版本、Amazon 回复、节点时间，独立看板留存。不进看板的承诺都不算数。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757416" y="2194560"/>
            <a:ext cx="2011680" cy="2377440"/>
          </a:xfrm>
          <a:prstGeom prst="rect">
            <a:avLst/>
          </a:prstGeom>
          <a:solidFill>
            <a:srgbClr val="FBF8F0"/>
          </a:solidFill>
          <a:ln w="6350">
            <a:solidFill>
              <a:srgbClr val="D6CFB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57416" y="2194560"/>
            <a:ext cx="2011680" cy="54864"/>
          </a:xfrm>
          <a:prstGeom prst="rect">
            <a:avLst/>
          </a:prstGeom>
          <a:solidFill>
            <a:srgbClr val="0B3D4F"/>
          </a:solidFill>
          <a:ln/>
        </p:spPr>
      </p:sp>
      <p:sp>
        <p:nvSpPr>
          <p:cNvPr id="27" name="Text 25"/>
          <p:cNvSpPr/>
          <p:nvPr/>
        </p:nvSpPr>
        <p:spPr>
          <a:xfrm>
            <a:off x="6940296" y="237744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DB39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肆</a:t>
            </a:r>
            <a:endParaRPr lang="en-US" sz="4400" dirty="0"/>
          </a:p>
        </p:txBody>
      </p:sp>
      <p:sp>
        <p:nvSpPr>
          <p:cNvPr id="28" name="Text 26"/>
          <p:cNvSpPr/>
          <p:nvPr/>
        </p:nvSpPr>
        <p:spPr>
          <a:xfrm>
            <a:off x="6940296" y="3063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退款明写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940296" y="33832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52A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VS 口头承诺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940296" y="365760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「不成功」的触发条件、退款比例、到账时间写进合同。到期 5 工作日对公退回。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A52A2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凡违背任何一条，欢迎客户公开晒合同。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6576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6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08 / 21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00800" y="4754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E6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水之明亚马逊申诉服务  ·  V2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141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水 之 明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0" y="228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E6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SCOPE  ·  服务范围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548640"/>
            <a:ext cx="8412480" cy="0"/>
          </a:xfrm>
          <a:prstGeom prst="line">
            <a:avLst/>
          </a:prstGeom>
          <a:noFill/>
          <a:ln w="6350">
            <a:solidFill>
              <a:srgbClr val="D6CF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41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我们的能力圈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3D4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4 大方向 · 30+ 具体场景 · 不打无准备之仗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103120"/>
            <a:ext cx="2011680" cy="2468880"/>
          </a:xfrm>
          <a:prstGeom prst="rect">
            <a:avLst/>
          </a:prstGeom>
          <a:solidFill>
            <a:srgbClr val="FBF8F0"/>
          </a:solidFill>
          <a:ln w="6350">
            <a:solidFill>
              <a:srgbClr val="D6CF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26771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52A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48640" y="2514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41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账号申诉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" y="29718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E6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ACCOUNT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48640" y="3246120"/>
            <a:ext cx="1645920" cy="0"/>
          </a:xfrm>
          <a:prstGeom prst="line">
            <a:avLst/>
          </a:prstGeom>
          <a:noFill/>
          <a:ln w="6350">
            <a:solidFill>
              <a:srgbClr val="D6CF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3375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销量激增 · ODR · 操纵评论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关联封店 · 72h 审核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二审 · KYC · 视频验证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永久停用申诉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96312" y="2103120"/>
            <a:ext cx="2011680" cy="2468880"/>
          </a:xfrm>
          <a:prstGeom prst="rect">
            <a:avLst/>
          </a:prstGeom>
          <a:solidFill>
            <a:srgbClr val="FBF8F0"/>
          </a:solidFill>
          <a:ln w="6350">
            <a:solidFill>
              <a:srgbClr val="D6CFB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79192" y="226771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52A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679192" y="2514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41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侵权申诉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679192" y="29718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E6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IP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679192" y="3246120"/>
            <a:ext cx="1645920" cy="0"/>
          </a:xfrm>
          <a:prstGeom prst="line">
            <a:avLst/>
          </a:prstGeom>
          <a:noFill/>
          <a:ln w="6350">
            <a:solidFill>
              <a:srgbClr val="D6CFB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79192" y="33375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商标 · 版权 · 专利侵权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DMCA · 恶意投诉反制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大牌侵权和解谈判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品牌备案前置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26864" y="2103120"/>
            <a:ext cx="2011680" cy="2468880"/>
          </a:xfrm>
          <a:prstGeom prst="rect">
            <a:avLst/>
          </a:prstGeom>
          <a:solidFill>
            <a:srgbClr val="FBF8F0"/>
          </a:solidFill>
          <a:ln w="6350">
            <a:solidFill>
              <a:srgbClr val="D6CFB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9744" y="226771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52A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09744" y="2514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41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资金申诉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809744" y="29718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E6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FUND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809744" y="3246120"/>
            <a:ext cx="1645920" cy="0"/>
          </a:xfrm>
          <a:prstGeom prst="line">
            <a:avLst/>
          </a:prstGeom>
          <a:noFill/>
          <a:ln w="6350">
            <a:solidFill>
              <a:srgbClr val="D6CFB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9744" y="33375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冻结资金取款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纯资金申诉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绩效扣费争议追回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FBA 库存补偿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757416" y="2103120"/>
            <a:ext cx="2011680" cy="2468880"/>
          </a:xfrm>
          <a:prstGeom prst="rect">
            <a:avLst/>
          </a:prstGeom>
          <a:solidFill>
            <a:srgbClr val="FBF8F0"/>
          </a:solidFill>
          <a:ln w="6350">
            <a:solidFill>
              <a:srgbClr val="D6CFB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0296" y="226771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52A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940296" y="2514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41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合规服务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940296" y="29718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E6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COMPLIANCE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940296" y="3246120"/>
            <a:ext cx="1645920" cy="0"/>
          </a:xfrm>
          <a:prstGeom prst="line">
            <a:avLst/>
          </a:prstGeom>
          <a:noFill/>
          <a:ln w="6350">
            <a:solidFill>
              <a:srgbClr val="D6CFB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40296" y="33375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账号健康体检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多账号合规架构设计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POA 内训 · 客服话术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封号应急预案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详细场景表与价位档对应见 shuizhiming-site1.onrender.com/services.html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6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09 / 21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00800" y="4754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E6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水之明亚马逊申诉服务  ·  V2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141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水 之 明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0" y="228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E6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PART IV  ·  HOW WE WORK  ·  方法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548640"/>
            <a:ext cx="8412480" cy="0"/>
          </a:xfrm>
          <a:prstGeom prst="line">
            <a:avLst/>
          </a:prstGeom>
          <a:noFill/>
          <a:ln w="6350">
            <a:solidFill>
              <a:srgbClr val="D6CF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68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A52A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PART IV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41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我们的第一个交付物，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4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是一份免费诊断报告。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22402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A5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不是销售话术，是一份你拿了就能用的判断材料。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788920"/>
            <a:ext cx="2011680" cy="1508760"/>
          </a:xfrm>
          <a:prstGeom prst="rect">
            <a:avLst/>
          </a:prstGeom>
          <a:solidFill>
            <a:srgbClr val="FBF8F0"/>
          </a:solidFill>
          <a:ln w="6350">
            <a:solidFill>
              <a:srgbClr val="D6CF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898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4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1729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真实封号原因判断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5204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很多卖家自己搞错了死因。不修正死因，写再多 POA 也是无用功。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96312" y="2788920"/>
            <a:ext cx="2011680" cy="1508760"/>
          </a:xfrm>
          <a:prstGeom prst="rect">
            <a:avLst/>
          </a:prstGeom>
          <a:solidFill>
            <a:srgbClr val="FBF8F0"/>
          </a:solidFill>
          <a:ln w="6350">
            <a:solidFill>
              <a:srgbClr val="D6CFB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79192" y="2898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4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79192" y="31729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本案落档与概率评估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79192" y="35204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明确告诉你这个案子在我们价格表的哪一档、估计多少天能解决。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26864" y="2788920"/>
            <a:ext cx="2011680" cy="1508760"/>
          </a:xfrm>
          <a:prstGeom prst="rect">
            <a:avLst/>
          </a:prstGeom>
          <a:solidFill>
            <a:srgbClr val="FBF8F0"/>
          </a:solidFill>
          <a:ln w="6350">
            <a:solidFill>
              <a:srgbClr val="D6CFB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9744" y="2898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4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09744" y="31729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证据清单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09744" y="35204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需要你配合准备的具体材料清单。不需要「再聊一下」。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57416" y="2788920"/>
            <a:ext cx="2011680" cy="1508760"/>
          </a:xfrm>
          <a:prstGeom prst="rect">
            <a:avLst/>
          </a:prstGeom>
          <a:solidFill>
            <a:srgbClr val="FBF8F0"/>
          </a:solidFill>
          <a:ln w="6350">
            <a:solidFill>
              <a:srgbClr val="D6CFB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0296" y="2898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4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40296" y="31729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正式报价单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40296" y="35204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金额、工期、退款条款。报价单 7 天内不涨价。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434840"/>
            <a:ext cx="8412480" cy="41148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4348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B86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耗时:  2 工作小时    ·    费用:  ¥0    ·    诊断结果「无解」会如实告知，不收「碰运气」的钱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6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 / 21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0" y="4754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E6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水之明亚马逊申诉服务  ·  V2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141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水 之 明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0" y="228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E6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HOW WE WORK  ·  四步方法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548640"/>
            <a:ext cx="8412480" cy="0"/>
          </a:xfrm>
          <a:prstGeom prst="line">
            <a:avLst/>
          </a:prstGeom>
          <a:noFill/>
          <a:ln w="6350">
            <a:solidFill>
              <a:srgbClr val="D6CF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41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从你的封号邮件开始，到结案归档。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A5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每一步有交付物、有时间承诺、有可检查的标准。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194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B3D4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01</a:t>
            </a:r>
            <a:endParaRPr lang="en-US" sz="6000" dirty="0"/>
          </a:p>
        </p:txBody>
      </p:sp>
      <p:sp>
        <p:nvSpPr>
          <p:cNvPr id="8" name="Shape 6"/>
          <p:cNvSpPr/>
          <p:nvPr/>
        </p:nvSpPr>
        <p:spPr>
          <a:xfrm>
            <a:off x="365760" y="3063240"/>
            <a:ext cx="1645920" cy="0"/>
          </a:xfrm>
          <a:prstGeom prst="line">
            <a:avLst/>
          </a:prstGeom>
          <a:noFill/>
          <a:ln w="19050">
            <a:solidFill>
              <a:srgbClr val="0B3D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154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41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诊断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5760" y="3611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52A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 工时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931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封号邮件 → 书面诊断报告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40280" y="29260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3D4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560320" y="2194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B3D4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02</a:t>
            </a:r>
            <a:endParaRPr lang="en-US" sz="6000" dirty="0"/>
          </a:p>
        </p:txBody>
      </p:sp>
      <p:sp>
        <p:nvSpPr>
          <p:cNvPr id="14" name="Shape 12"/>
          <p:cNvSpPr/>
          <p:nvPr/>
        </p:nvSpPr>
        <p:spPr>
          <a:xfrm>
            <a:off x="2560320" y="3063240"/>
            <a:ext cx="1645920" cy="0"/>
          </a:xfrm>
          <a:prstGeom prst="line">
            <a:avLst/>
          </a:prstGeom>
          <a:noFill/>
          <a:ln w="19050">
            <a:solidFill>
              <a:srgbClr val="0B3D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3154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41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策略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560320" y="3611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52A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1–3 天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60320" y="3931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策略大纲 → 你确认后才进撰写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34840" y="29260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3D4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754880" y="2194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B3D4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03</a:t>
            </a:r>
            <a:endParaRPr lang="en-US" sz="6000" dirty="0"/>
          </a:p>
        </p:txBody>
      </p:sp>
      <p:sp>
        <p:nvSpPr>
          <p:cNvPr id="20" name="Shape 18"/>
          <p:cNvSpPr/>
          <p:nvPr/>
        </p:nvSpPr>
        <p:spPr>
          <a:xfrm>
            <a:off x="4754880" y="3063240"/>
            <a:ext cx="1645920" cy="0"/>
          </a:xfrm>
          <a:prstGeom prst="line">
            <a:avLst/>
          </a:prstGeom>
          <a:noFill/>
          <a:ln w="19050">
            <a:solidFill>
              <a:srgbClr val="0B3D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3154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41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撰写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754880" y="3611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52A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2–5 天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3931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中英双稿 → V1/V2/V3 版本化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29400" y="29260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3D4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949440" y="2194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B3D4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04</a:t>
            </a:r>
            <a:endParaRPr lang="en-US" sz="6000" dirty="0"/>
          </a:p>
        </p:txBody>
      </p:sp>
      <p:sp>
        <p:nvSpPr>
          <p:cNvPr id="26" name="Shape 24"/>
          <p:cNvSpPr/>
          <p:nvPr/>
        </p:nvSpPr>
        <p:spPr>
          <a:xfrm>
            <a:off x="6949440" y="3063240"/>
            <a:ext cx="1645920" cy="0"/>
          </a:xfrm>
          <a:prstGeom prst="line">
            <a:avLst/>
          </a:prstGeom>
          <a:noFill/>
          <a:ln w="19050">
            <a:solidFill>
              <a:srgbClr val="0B3D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0" y="3154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41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跟进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6949440" y="3611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52A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3–30 天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49440" y="3931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48h 主动推进 → 结案归档报告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4572000"/>
            <a:ext cx="8412480" cy="365760"/>
          </a:xfrm>
          <a:prstGeom prst="rect">
            <a:avLst/>
          </a:prstGeom>
          <a:solidFill>
            <a:srgbClr val="ECE7D7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关键约定:  策略大纲不批准 → 不写;  POA 不批准 → 不发;  Amazon 回复 → 24 小时内同步看板。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576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6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 / 21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00800" y="4754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E6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水之明亚马逊申诉服务  ·  V2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141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水 之 明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0" y="228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E6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HOW WE WORK  ·  POA 撰写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548640"/>
            <a:ext cx="8412480" cy="0"/>
          </a:xfrm>
          <a:prstGeom prst="line">
            <a:avLst/>
          </a:prstGeom>
          <a:noFill/>
          <a:ln w="6350">
            <a:solidFill>
              <a:srgbClr val="D6CF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41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POA 是写给亚马逊审核员看的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D4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「案件陈述」，不是模板答题。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4114800" cy="2377440"/>
          </a:xfrm>
          <a:prstGeom prst="rect">
            <a:avLst/>
          </a:prstGeom>
          <a:solidFill>
            <a:srgbClr val="FBF5F4"/>
          </a:solidFill>
          <a:ln w="12700">
            <a:solidFill>
              <a:srgbClr val="A5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103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52A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模 板 派 ·  典 型 段 落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423160"/>
            <a:ext cx="38404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414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We sincerely apologize for the inconvenience caused. We have </a:t>
            </a:r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A5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thoroughly reviewed our account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414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and </a:t>
            </a:r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A5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implemented the following measures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414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to ensure compliance with Amazon's policies...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50" i="1" dirty="0">
                <a:solidFill>
                  <a:srgbClr val="A52A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 任何店铺都能套用的空话 · 没有具体事实 · 亚马逊算法已学会识别 ]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2011680"/>
            <a:ext cx="4114800" cy="2377440"/>
          </a:xfrm>
          <a:prstGeom prst="rect">
            <a:avLst/>
          </a:prstGeom>
          <a:solidFill>
            <a:srgbClr val="F0F5F8"/>
          </a:solidFill>
          <a:ln w="12700">
            <a:solidFill>
              <a:srgbClr val="0B3D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2103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B3D4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水 之 明 ·  原 创 段 落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00600" y="2423160"/>
            <a:ext cx="38404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414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On Feb 12 2026, we ran a Lightning Deal at $19.99 across our top 3 ASINs. </a:t>
            </a:r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B3D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Daily orders rose from 23 to 412 (1690%)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414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— exceeding the historical sales velocity. We have </a:t>
            </a:r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B3D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attached promotion screenshots and PPC reports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414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as evidence...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50" i="1" dirty="0">
                <a:solidFill>
                  <a:srgbClr val="0B3D4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 真实日期 · 真实数字 · 真实因果 · 提供可验证证据 ]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4572000"/>
            <a:ext cx="8412480" cy="36576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B86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差距不在英文水平，在调研深度。模板派 2 小时交付，原创派 2-5 天。质量没法走捷径。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6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 / 21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0" y="4754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E6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水之明亚马逊申诉服务  ·  V2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141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水 之 明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0" y="228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E6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HOW WE WORK  ·  案件看板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548640"/>
            <a:ext cx="8412480" cy="0"/>
          </a:xfrm>
          <a:prstGeom prst="line">
            <a:avLst/>
          </a:prstGeom>
          <a:noFill/>
          <a:ln w="6350">
            <a:solidFill>
              <a:srgbClr val="D6CF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41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透明不是说出来的，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4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是工程出来的。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4937760" cy="246888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286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E8B86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CASE BOARD  ·  WZM-2026-0412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2542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6F2E9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关联申诉(初次) · 二级 · ¥6,500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4572000" cy="0"/>
          </a:xfrm>
          <a:prstGeom prst="line">
            <a:avLst/>
          </a:prstGeom>
          <a:noFill/>
          <a:ln w="6350">
            <a:solidFill>
              <a:srgbClr val="5555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97180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B86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●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2971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6F2E9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诊断报告交付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20440" y="2971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2026-04-12 10:14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32461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B86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●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6F2E9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合同签署 · 上海法院管辖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20440" y="3246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2026-04-12 16:22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35204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○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策略大纲 → 待你确认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20440" y="3520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2026-04-13 18:00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37947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○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POA V1 草稿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520440" y="3794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预计 04-16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40690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○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7240" y="4069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Amazon 首轮回复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520440" y="4069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预计 04-21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434340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○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77240" y="4343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结案归档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520440" y="4343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预计 05-12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0" y="2194560"/>
            <a:ext cx="3291840" cy="2468880"/>
          </a:xfrm>
          <a:prstGeom prst="rect">
            <a:avLst/>
          </a:prstGeom>
          <a:solidFill>
            <a:srgbClr val="FBF8F0"/>
          </a:solidFill>
          <a:ln w="12700">
            <a:solidFill>
              <a:srgbClr val="0B3D4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0" y="2331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B3D4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我 们 的 规 则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669280" y="26060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不进看板的承诺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A52A2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都不算数。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669280" y="35204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POA 版本历史 · </a:t>
            </a:r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Amazon 回复原文 · </a:t>
            </a:r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节点时间承诺</a:t>
            </a:r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→ 全部留痕，可追溯，超时触发预警。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6576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6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13 / 21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00800" y="4754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E6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水之明亚马逊申诉服务  ·  V2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141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水 之 明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0" y="228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E6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PART V  ·  PROOF  ·  证据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548640"/>
            <a:ext cx="8412480" cy="0"/>
          </a:xfrm>
          <a:prstGeom prst="line">
            <a:avLst/>
          </a:prstGeom>
          <a:noFill/>
          <a:ln w="6350">
            <a:solidFill>
              <a:srgbClr val="D6CF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68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A52A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PART V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十年沉淀 · 四个数字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A5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数据来自团队主理人从业累计（含水之明成立前个人业务）。2026 年起以公司主体口径每季度公开。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2011680" cy="2194560"/>
          </a:xfrm>
          <a:prstGeom prst="rect">
            <a:avLst/>
          </a:prstGeom>
          <a:solidFill>
            <a:srgbClr val="FBF8F0"/>
          </a:solidFill>
          <a:ln w="6350">
            <a:solidFill>
              <a:srgbClr val="D6CFB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286000"/>
            <a:ext cx="2011680" cy="54864"/>
          </a:xfrm>
          <a:prstGeom prst="rect">
            <a:avLst/>
          </a:prstGeom>
          <a:solidFill>
            <a:srgbClr val="0B3D4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6517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B3D4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600+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457200" y="3611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累计案件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931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A5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覆盖美 / 欧 / 日 / 澳 / 中东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496312" y="2286000"/>
            <a:ext cx="2011680" cy="2194560"/>
          </a:xfrm>
          <a:prstGeom prst="rect">
            <a:avLst/>
          </a:prstGeom>
          <a:solidFill>
            <a:srgbClr val="FBF8F0"/>
          </a:solidFill>
          <a:ln w="6350">
            <a:solidFill>
              <a:srgbClr val="D6CFB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96312" y="2286000"/>
            <a:ext cx="2011680" cy="54864"/>
          </a:xfrm>
          <a:prstGeom prst="rect">
            <a:avLst/>
          </a:prstGeom>
          <a:solidFill>
            <a:srgbClr val="0B3D4F"/>
          </a:solidFill>
          <a:ln/>
        </p:spPr>
      </p:sp>
      <p:sp>
        <p:nvSpPr>
          <p:cNvPr id="15" name="Text 13"/>
          <p:cNvSpPr/>
          <p:nvPr/>
        </p:nvSpPr>
        <p:spPr>
          <a:xfrm>
            <a:off x="2587752" y="26517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B3D4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78%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2587752" y="3611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综合成功率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587752" y="3931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A5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签约后口径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26864" y="2286000"/>
            <a:ext cx="2011680" cy="2194560"/>
          </a:xfrm>
          <a:prstGeom prst="rect">
            <a:avLst/>
          </a:prstGeom>
          <a:solidFill>
            <a:srgbClr val="FBF8F0"/>
          </a:solidFill>
          <a:ln w="6350">
            <a:solidFill>
              <a:srgbClr val="D6CFB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26864" y="2286000"/>
            <a:ext cx="2011680" cy="54864"/>
          </a:xfrm>
          <a:prstGeom prst="rect">
            <a:avLst/>
          </a:prstGeom>
          <a:solidFill>
            <a:srgbClr val="0B3D4F"/>
          </a:solidFill>
          <a:ln/>
        </p:spPr>
      </p:sp>
      <p:sp>
        <p:nvSpPr>
          <p:cNvPr id="20" name="Text 18"/>
          <p:cNvSpPr/>
          <p:nvPr/>
        </p:nvSpPr>
        <p:spPr>
          <a:xfrm>
            <a:off x="4718304" y="26517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B3D4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¥1.2亿+</a:t>
            </a:r>
            <a:endParaRPr lang="en-US" sz="4600" dirty="0"/>
          </a:p>
        </p:txBody>
      </p:sp>
      <p:sp>
        <p:nvSpPr>
          <p:cNvPr id="21" name="Text 19"/>
          <p:cNvSpPr/>
          <p:nvPr/>
        </p:nvSpPr>
        <p:spPr>
          <a:xfrm>
            <a:off x="4718304" y="3611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累计挽回资金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18304" y="3931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A5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含资金解冻 + 绩效追回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757416" y="2286000"/>
            <a:ext cx="2011680" cy="2194560"/>
          </a:xfrm>
          <a:prstGeom prst="rect">
            <a:avLst/>
          </a:prstGeom>
          <a:solidFill>
            <a:srgbClr val="FBF8F0"/>
          </a:solidFill>
          <a:ln w="6350">
            <a:solidFill>
              <a:srgbClr val="D6CFB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57416" y="2286000"/>
            <a:ext cx="2011680" cy="54864"/>
          </a:xfrm>
          <a:prstGeom prst="rect">
            <a:avLst/>
          </a:prstGeom>
          <a:solidFill>
            <a:srgbClr val="0B3D4F"/>
          </a:solidFill>
          <a:ln/>
        </p:spPr>
      </p:sp>
      <p:sp>
        <p:nvSpPr>
          <p:cNvPr id="25" name="Text 23"/>
          <p:cNvSpPr/>
          <p:nvPr/>
        </p:nvSpPr>
        <p:spPr>
          <a:xfrm>
            <a:off x="6848856" y="26517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B3D4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4.9</a:t>
            </a:r>
            <a:endParaRPr lang="en-US" sz="4600" dirty="0"/>
          </a:p>
        </p:txBody>
      </p:sp>
      <p:sp>
        <p:nvSpPr>
          <p:cNvPr id="26" name="Text 24"/>
          <p:cNvSpPr/>
          <p:nvPr/>
        </p:nvSpPr>
        <p:spPr>
          <a:xfrm>
            <a:off x="6848856" y="3611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客户评价均分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48856" y="3931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A5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 分制 · n=120 真实评价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6576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6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14 / 21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0" y="4754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E6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水之明亚马逊申诉服务  ·  V2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141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水 之 明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0" y="228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E6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PROOF  ·  案例 01  ·  最快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548640"/>
            <a:ext cx="8412480" cy="0"/>
          </a:xfrm>
          <a:prstGeom prst="line">
            <a:avLst/>
          </a:prstGeom>
          <a:noFill/>
          <a:ln w="6350">
            <a:solidFill>
              <a:srgbClr val="D6CF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A52A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案 例 0 1  ·  最 快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48 小时救活销量激增封号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19659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E6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某 3C 配件卖家 · 一级 · 2026.02 · 用时 2 天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468880"/>
            <a:ext cx="2697480" cy="2194560"/>
          </a:xfrm>
          <a:prstGeom prst="rect">
            <a:avLst/>
          </a:prstGeom>
          <a:solidFill>
            <a:srgbClr val="FBF8F0"/>
          </a:solidFill>
          <a:ln w="6350">
            <a:solidFill>
              <a:srgbClr val="D6CFB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468880"/>
            <a:ext cx="54864" cy="2194560"/>
          </a:xfrm>
          <a:prstGeom prst="rect">
            <a:avLst/>
          </a:prstGeom>
          <a:solidFill>
            <a:srgbClr val="A52A2A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63347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52A2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案情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4360" y="306324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新店首月推广投入大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单日销量 20 → 400 单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次日触发 Sales Velocity 冻结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客户先自提模板 POA 被拒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82112" y="2468880"/>
            <a:ext cx="2697480" cy="2194560"/>
          </a:xfrm>
          <a:prstGeom prst="rect">
            <a:avLst/>
          </a:prstGeom>
          <a:solidFill>
            <a:srgbClr val="FBF8F0"/>
          </a:solidFill>
          <a:ln w="6350">
            <a:solidFill>
              <a:srgbClr val="D6CFB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82112" y="2468880"/>
            <a:ext cx="54864" cy="2194560"/>
          </a:xfrm>
          <a:prstGeom prst="rect">
            <a:avLst/>
          </a:prstGeom>
          <a:solidFill>
            <a:srgbClr val="0B3D4F"/>
          </a:solidFill>
          <a:ln/>
        </p:spPr>
      </p:sp>
      <p:sp>
        <p:nvSpPr>
          <p:cNvPr id="14" name="Text 12"/>
          <p:cNvSpPr/>
          <p:nvPr/>
        </p:nvSpPr>
        <p:spPr>
          <a:xfrm>
            <a:off x="3410712" y="263347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4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策略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10712" y="306324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原创 POA + 真实推广节奏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还原推广预算与销量曲线因果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附 Lightning Deal + PPC 截图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提交前与客户逐段确认事实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98464" y="2468880"/>
            <a:ext cx="2697480" cy="2194560"/>
          </a:xfrm>
          <a:prstGeom prst="rect">
            <a:avLst/>
          </a:prstGeom>
          <a:solidFill>
            <a:srgbClr val="FBF8F0"/>
          </a:solidFill>
          <a:ln w="6350">
            <a:solidFill>
              <a:srgbClr val="D6CFB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98464" y="2468880"/>
            <a:ext cx="54864" cy="2194560"/>
          </a:xfrm>
          <a:prstGeom prst="rect">
            <a:avLst/>
          </a:prstGeom>
          <a:solidFill>
            <a:srgbClr val="E8B86A"/>
          </a:solidFill>
          <a:ln/>
        </p:spPr>
      </p:sp>
      <p:sp>
        <p:nvSpPr>
          <p:cNvPr id="18" name="Text 16"/>
          <p:cNvSpPr/>
          <p:nvPr/>
        </p:nvSpPr>
        <p:spPr>
          <a:xfrm>
            <a:off x="6227064" y="263347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B86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结果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27064" y="306324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48 小时账号恢复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无二次审查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客户后续追加 2 个店铺合规体检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成本 ¥2,000  ·  挽回 ¥18 万 / 月销售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6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15 / 21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0" y="4754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E6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水之明亚马逊申诉服务  ·  V2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141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水 之 明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0" y="228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E6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PROOF  ·  案例 02  ·  最重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548640"/>
            <a:ext cx="8412480" cy="0"/>
          </a:xfrm>
          <a:prstGeom prst="line">
            <a:avLst/>
          </a:prstGeom>
          <a:noFill/>
          <a:ln w="6350">
            <a:solidFill>
              <a:srgbClr val="D6CF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A52A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案 例 0 2  ·  最 重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大牌 TRO 诉讼 · 解冻 ¥80 万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19659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E6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某服饰卖家 · 三级 · 2025.06 · 用时 54 天 · 律师费另计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468880"/>
            <a:ext cx="2697480" cy="2194560"/>
          </a:xfrm>
          <a:prstGeom prst="rect">
            <a:avLst/>
          </a:prstGeom>
          <a:solidFill>
            <a:srgbClr val="FBF8F0"/>
          </a:solidFill>
          <a:ln w="6350">
            <a:solidFill>
              <a:srgbClr val="D6CFB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468880"/>
            <a:ext cx="54864" cy="2194560"/>
          </a:xfrm>
          <a:prstGeom prst="rect">
            <a:avLst/>
          </a:prstGeom>
          <a:solidFill>
            <a:srgbClr val="A52A2A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63347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52A2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案情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4360" y="306324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被疑似某美国快时尚大牌发起 TRO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账号 + ¥80 万余额同时冻结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原索赔金额 20 万美元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客户已在面缺席判决风险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82112" y="2468880"/>
            <a:ext cx="2697480" cy="2194560"/>
          </a:xfrm>
          <a:prstGeom prst="rect">
            <a:avLst/>
          </a:prstGeom>
          <a:solidFill>
            <a:srgbClr val="FBF8F0"/>
          </a:solidFill>
          <a:ln w="6350">
            <a:solidFill>
              <a:srgbClr val="D6CFB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82112" y="2468880"/>
            <a:ext cx="54864" cy="2194560"/>
          </a:xfrm>
          <a:prstGeom prst="rect">
            <a:avLst/>
          </a:prstGeom>
          <a:solidFill>
            <a:srgbClr val="0B3D4F"/>
          </a:solidFill>
          <a:ln/>
        </p:spPr>
      </p:sp>
      <p:sp>
        <p:nvSpPr>
          <p:cNvPr id="14" name="Text 12"/>
          <p:cNvSpPr/>
          <p:nvPr/>
        </p:nvSpPr>
        <p:spPr>
          <a:xfrm>
            <a:off x="3410712" y="263347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4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策略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10712" y="306324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联合合作律所快速应诉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证据链证明产品为通用款非品牌款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并行：和解谈判 + 资金解冻申请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Amazon 端 + 法院端双轨推进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98464" y="2468880"/>
            <a:ext cx="2697480" cy="2194560"/>
          </a:xfrm>
          <a:prstGeom prst="rect">
            <a:avLst/>
          </a:prstGeom>
          <a:solidFill>
            <a:srgbClr val="FBF8F0"/>
          </a:solidFill>
          <a:ln w="6350">
            <a:solidFill>
              <a:srgbClr val="D6CFB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98464" y="2468880"/>
            <a:ext cx="54864" cy="2194560"/>
          </a:xfrm>
          <a:prstGeom prst="rect">
            <a:avLst/>
          </a:prstGeom>
          <a:solidFill>
            <a:srgbClr val="E8B86A"/>
          </a:solidFill>
          <a:ln/>
        </p:spPr>
      </p:sp>
      <p:sp>
        <p:nvSpPr>
          <p:cNvPr id="18" name="Text 16"/>
          <p:cNvSpPr/>
          <p:nvPr/>
        </p:nvSpPr>
        <p:spPr>
          <a:xfrm>
            <a:off x="6227064" y="263347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B86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结果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27064" y="306324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资金 ¥80 万全额解冻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和解金从 20 万降到 2 万 USD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账号保留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总周期 54 天 · 客户分两期支付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6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16 / 21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0" y="4754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E6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水之明亚马逊申诉服务  ·  V2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141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水 之 明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0" y="228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E6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PROOF  ·  案例 03  ·  最讲技巧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548640"/>
            <a:ext cx="8412480" cy="0"/>
          </a:xfrm>
          <a:prstGeom prst="line">
            <a:avLst/>
          </a:prstGeom>
          <a:noFill/>
          <a:ln w="6350">
            <a:solidFill>
              <a:srgbClr val="D6CF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A52A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案 例 0 3  ·  最 讲 技 巧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4 关联账号 · 先放弃 1 个 · 救回 3 个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19659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E6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某工具卖家 · 三级 · 2025.07 · 用时 27 天 · 节奏控制是关键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468880"/>
            <a:ext cx="2697480" cy="2194560"/>
          </a:xfrm>
          <a:prstGeom prst="rect">
            <a:avLst/>
          </a:prstGeom>
          <a:solidFill>
            <a:srgbClr val="FBF8F0"/>
          </a:solidFill>
          <a:ln w="6350">
            <a:solidFill>
              <a:srgbClr val="D6CFB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468880"/>
            <a:ext cx="54864" cy="2194560"/>
          </a:xfrm>
          <a:prstGeom prst="rect">
            <a:avLst/>
          </a:prstGeom>
          <a:solidFill>
            <a:srgbClr val="A52A2A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63347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52A2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案情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4360" y="306324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运营 4 个关联账号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主账号违规导致 4 个全部连坐封店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客户最初想「全部一起救」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我们诊断后判定 1 个无救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82112" y="2468880"/>
            <a:ext cx="2697480" cy="2194560"/>
          </a:xfrm>
          <a:prstGeom prst="rect">
            <a:avLst/>
          </a:prstGeom>
          <a:solidFill>
            <a:srgbClr val="FBF8F0"/>
          </a:solidFill>
          <a:ln w="6350">
            <a:solidFill>
              <a:srgbClr val="D6CFB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82112" y="2468880"/>
            <a:ext cx="54864" cy="2194560"/>
          </a:xfrm>
          <a:prstGeom prst="rect">
            <a:avLst/>
          </a:prstGeom>
          <a:solidFill>
            <a:srgbClr val="0B3D4F"/>
          </a:solidFill>
          <a:ln/>
        </p:spPr>
      </p:sp>
      <p:sp>
        <p:nvSpPr>
          <p:cNvPr id="14" name="Text 12"/>
          <p:cNvSpPr/>
          <p:nvPr/>
        </p:nvSpPr>
        <p:spPr>
          <a:xfrm>
            <a:off x="3410712" y="263347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4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策略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10712" y="306324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诚实告知客户：放弃主账号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其余 3 个按运营独立性差异分批申诉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每轮提交间隔 10 天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避免 Amazon 算法标记「批量操作」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98464" y="2468880"/>
            <a:ext cx="2697480" cy="2194560"/>
          </a:xfrm>
          <a:prstGeom prst="rect">
            <a:avLst/>
          </a:prstGeom>
          <a:solidFill>
            <a:srgbClr val="FBF8F0"/>
          </a:solidFill>
          <a:ln w="6350">
            <a:solidFill>
              <a:srgbClr val="D6CFB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98464" y="2468880"/>
            <a:ext cx="54864" cy="2194560"/>
          </a:xfrm>
          <a:prstGeom prst="rect">
            <a:avLst/>
          </a:prstGeom>
          <a:solidFill>
            <a:srgbClr val="E8B86A"/>
          </a:solidFill>
          <a:ln/>
        </p:spPr>
      </p:sp>
      <p:sp>
        <p:nvSpPr>
          <p:cNvPr id="18" name="Text 16"/>
          <p:cNvSpPr/>
          <p:nvPr/>
        </p:nvSpPr>
        <p:spPr>
          <a:xfrm>
            <a:off x="6227064" y="263347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B86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结果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27064" y="306324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3/3 子账号全部恢复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主账号按预案放弃 · 资金已申请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客户保留矩阵核心运营能力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总周期 27 天 · 后续签合规架构顾问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6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17 / 21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0" y="4754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E6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水之明亚马逊申诉服务  ·  V2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141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水 之 明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0" y="228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E6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PART VI  ·  DECISION TOOL  ·  决策工具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548640"/>
            <a:ext cx="8412480" cy="0"/>
          </a:xfrm>
          <a:prstGeom prst="line">
            <a:avLst/>
          </a:prstGeom>
          <a:noFill/>
          <a:ln w="6350">
            <a:solidFill>
              <a:srgbClr val="D6CF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68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A52A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PART VI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41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评估任何申诉服务商的 6 个问题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A5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（拿这 6 个问题去问任何一家——包括我们——能立刻分出真假。）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194560"/>
          <a:ext cx="8412480" cy="246888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36576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6F2E9"/>
                          </a:solidFill>
                          <a:latin typeface="Songti SC" pitchFamily="34" charset="0"/>
                          <a:ea typeface="Songti SC" pitchFamily="34" charset="-122"/>
                          <a:cs typeface="Songti SC" pitchFamily="34" charset="-120"/>
                        </a:rPr>
                        <a:t>问 题</a:t>
                      </a:r>
                      <a:endParaRPr lang="en-US" sz="1100" dirty="0">
                        <a:latin typeface="Songti SC" charset="0"/>
                        <a:ea typeface="Songti SC" charset="0"/>
                        <a:cs typeface="Songti SC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6F2E9"/>
                          </a:solidFill>
                          <a:latin typeface="Songti SC" pitchFamily="34" charset="0"/>
                          <a:ea typeface="Songti SC" pitchFamily="34" charset="-122"/>
                          <a:cs typeface="Songti SC" pitchFamily="34" charset="-120"/>
                        </a:rPr>
                        <a:t>行业平均答案</a:t>
                      </a:r>
                      <a:endParaRPr lang="en-US" sz="1100" dirty="0">
                        <a:latin typeface="Songti SC" charset="0"/>
                        <a:ea typeface="Songti SC" charset="0"/>
                        <a:cs typeface="Songti SC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6F2E9"/>
                          </a:solidFill>
                          <a:latin typeface="Songti SC" pitchFamily="34" charset="0"/>
                          <a:ea typeface="Songti SC" pitchFamily="34" charset="-122"/>
                          <a:cs typeface="Songti SC" pitchFamily="34" charset="-120"/>
                        </a:rPr>
                        <a:t>水之明的答案</a:t>
                      </a:r>
                      <a:endParaRPr lang="en-US" sz="1100" dirty="0">
                        <a:latin typeface="Songti SC" charset="0"/>
                        <a:ea typeface="Songti SC" charset="0"/>
                        <a:cs typeface="Songti SC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414"/>
                          </a:solidFill>
                          <a:latin typeface="Songti SC" pitchFamily="34" charset="0"/>
                          <a:ea typeface="Songti SC" pitchFamily="34" charset="-122"/>
                          <a:cs typeface="Songti SC" pitchFamily="34" charset="-120"/>
                        </a:rPr>
                        <a:t>Q1.  你公示价格吗？</a:t>
                      </a:r>
                      <a:endParaRPr lang="en-US" sz="1100" dirty="0">
                        <a:latin typeface="Songti SC" charset="0"/>
                        <a:ea typeface="Songti SC" charset="0"/>
                        <a:cs typeface="Songti SC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52A2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「先聊一下」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3D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三档价格 + 6 个影响因素全部官网公示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414"/>
                          </a:solidFill>
                          <a:latin typeface="Songti SC" pitchFamily="34" charset="0"/>
                          <a:ea typeface="Songti SC" pitchFamily="34" charset="-122"/>
                          <a:cs typeface="Songti SC" pitchFamily="34" charset="-120"/>
                        </a:rPr>
                        <a:t>Q2.  合同主体在哪？</a:t>
                      </a:r>
                      <a:endParaRPr lang="en-US" sz="1100" dirty="0">
                        <a:latin typeface="Songti SC" charset="0"/>
                        <a:ea typeface="Songti SC" charset="0"/>
                        <a:cs typeface="Songti SC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52A2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港资 / 个人户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3D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上海公司主体，工商可查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414"/>
                          </a:solidFill>
                          <a:latin typeface="Songti SC" pitchFamily="34" charset="0"/>
                          <a:ea typeface="Songti SC" pitchFamily="34" charset="-122"/>
                          <a:cs typeface="Songti SC" pitchFamily="34" charset="-120"/>
                        </a:rPr>
                        <a:t>Q3.  POA 用模板吗？</a:t>
                      </a:r>
                      <a:endParaRPr lang="en-US" sz="1100" dirty="0">
                        <a:latin typeface="Songti SC" charset="0"/>
                        <a:ea typeface="Songti SC" charset="0"/>
                        <a:cs typeface="Songti SC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52A2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用，但不告诉你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3D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100% 原创，被发现同模板全额退款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414"/>
                          </a:solidFill>
                          <a:latin typeface="Songti SC" pitchFamily="34" charset="0"/>
                          <a:ea typeface="Songti SC" pitchFamily="34" charset="-122"/>
                          <a:cs typeface="Songti SC" pitchFamily="34" charset="-120"/>
                        </a:rPr>
                        <a:t>Q4.  我能看见进度吗？</a:t>
                      </a:r>
                      <a:endParaRPr lang="en-US" sz="1100" dirty="0">
                        <a:latin typeface="Songti SC" charset="0"/>
                        <a:ea typeface="Songti SC" charset="0"/>
                        <a:cs typeface="Songti SC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52A2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微信「在跟进」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3D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独立看板，POA 版本 + Amazon 回复留痕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414"/>
                          </a:solidFill>
                          <a:latin typeface="Songti SC" pitchFamily="34" charset="0"/>
                          <a:ea typeface="Songti SC" pitchFamily="34" charset="-122"/>
                          <a:cs typeface="Songti SC" pitchFamily="34" charset="-120"/>
                        </a:rPr>
                        <a:t>Q5.  不成功怎么办？</a:t>
                      </a:r>
                      <a:endParaRPr lang="en-US" sz="1100" dirty="0">
                        <a:latin typeface="Songti SC" charset="0"/>
                        <a:ea typeface="Songti SC" charset="0"/>
                        <a:cs typeface="Songti SC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52A2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「再帮你试一次」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3D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合同明写：触发条件 + 退款比例 + 5 工作日到账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414"/>
                          </a:solidFill>
                          <a:latin typeface="Songti SC" pitchFamily="34" charset="0"/>
                          <a:ea typeface="Songti SC" pitchFamily="34" charset="-122"/>
                          <a:cs typeface="Songti SC" pitchFamily="34" charset="-120"/>
                        </a:rPr>
                        <a:t>Q6.  你不接什么单？</a:t>
                      </a:r>
                      <a:endParaRPr lang="en-US" sz="1100" dirty="0">
                        <a:latin typeface="Songti SC" charset="0"/>
                        <a:ea typeface="Songti SC" charset="0"/>
                        <a:cs typeface="Songti SC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52A2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「都能做」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3D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明确不接代过审 / 港澳台 / 海外卖家 / 灰色操作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BDB3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6576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6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18 / 21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400800" y="4754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E6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水之明亚马逊申诉服务  ·  V2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6F2E9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水 之 明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0" y="228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888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PART VII  ·  FIRST STEP  ·  行动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548640"/>
            <a:ext cx="8412480" cy="0"/>
          </a:xfrm>
          <a:prstGeom prst="line">
            <a:avLst/>
          </a:prstGeom>
          <a:noFill/>
          <a:ln w="6350">
            <a:solidFill>
              <a:srgbClr val="5555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68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E8B86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PART VII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6F2E9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第一步只有三件事。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8412480" cy="777240"/>
          </a:xfrm>
          <a:prstGeom prst="rect">
            <a:avLst/>
          </a:prstGeom>
          <a:solidFill>
            <a:srgbClr val="1F1F1F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194560"/>
            <a:ext cx="54864" cy="777240"/>
          </a:xfrm>
          <a:prstGeom prst="rect">
            <a:avLst/>
          </a:prstGeom>
          <a:solidFill>
            <a:srgbClr val="E8B86A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35915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B86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01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463040" y="230428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F2E9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把你的封号邮件发过来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26517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邮箱 3657797258@QQ.com  ·  或电话 13916498860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136392"/>
            <a:ext cx="8412480" cy="777240"/>
          </a:xfrm>
          <a:prstGeom prst="rect">
            <a:avLst/>
          </a:prstGeom>
          <a:solidFill>
            <a:srgbClr val="1F1F1F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136392"/>
            <a:ext cx="54864" cy="777240"/>
          </a:xfrm>
          <a:prstGeom prst="rect">
            <a:avLst/>
          </a:prstGeom>
          <a:solidFill>
            <a:srgbClr val="E8B86A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30098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B86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463040" y="32461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F2E9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2 个工作小时内拿到诊断报告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63040" y="35935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判断真死因 + 落档 + 概率评估 + 报价单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4078224"/>
            <a:ext cx="8412480" cy="777240"/>
          </a:xfrm>
          <a:prstGeom prst="rect">
            <a:avLst/>
          </a:prstGeom>
          <a:solidFill>
            <a:srgbClr val="1F1F1F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4078224"/>
            <a:ext cx="54864" cy="777240"/>
          </a:xfrm>
          <a:prstGeom prst="rect">
            <a:avLst/>
          </a:prstGeom>
          <a:solidFill>
            <a:srgbClr val="E8B86A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424281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B86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463040" y="418795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F2E9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决定要不要继续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63040" y="453542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完全免费 · 不签微信 · 不绑定 · 不催促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46177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B86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诊断免费。我们用一份书面材料证明诚意。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7777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19 / 21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0" y="4754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77777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水之明亚马逊申诉服务  ·  V2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141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水 之 明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0" y="228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E6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PART VII  ·  HONEST  ·  不勉强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548640"/>
            <a:ext cx="8412480" cy="0"/>
          </a:xfrm>
          <a:prstGeom prst="line">
            <a:avLst/>
          </a:prstGeom>
          <a:noFill/>
          <a:ln w="6350">
            <a:solidFill>
              <a:srgbClr val="D6CF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141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我们不适合所有人。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3D4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这是一种诚意，不是傲慢。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A5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如果你属于以下任何一类，请直接告诉我们——我们会推荐合适的同行（不收佣金）：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743200"/>
            <a:ext cx="8412480" cy="457200"/>
          </a:xfrm>
          <a:prstGeom prst="rect">
            <a:avLst/>
          </a:prstGeom>
          <a:solidFill>
            <a:srgbClr val="FBF5F4"/>
          </a:solidFill>
          <a:ln w="6350">
            <a:solidFill>
              <a:srgbClr val="A52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7432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52A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✕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7432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店铺主体不是中国大陆营业执照公司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457200"/>
          </a:xfrm>
          <a:prstGeom prst="rect">
            <a:avLst/>
          </a:prstGeom>
          <a:solidFill>
            <a:srgbClr val="FBF5F4"/>
          </a:solidFill>
          <a:ln w="6350">
            <a:solidFill>
              <a:srgbClr val="A52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2918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52A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✕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3291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店铺在亚马逊中国站或其他电商平台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840480"/>
            <a:ext cx="8412480" cy="457200"/>
          </a:xfrm>
          <a:prstGeom prst="rect">
            <a:avLst/>
          </a:prstGeom>
          <a:solidFill>
            <a:srgbClr val="FBF5F4"/>
          </a:solidFill>
          <a:ln w="6350">
            <a:solidFill>
              <a:srgbClr val="A5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8404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52A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✕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38404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希望走「特殊渠道」（代过审 / 伪造 / 灰色）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4389120"/>
            <a:ext cx="8412480" cy="457200"/>
          </a:xfrm>
          <a:prstGeom prst="rect">
            <a:avLst/>
          </a:prstGeom>
          <a:solidFill>
            <a:srgbClr val="FBF5F4"/>
          </a:solidFill>
          <a:ln w="6350">
            <a:solidFill>
              <a:srgbClr val="A5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3891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52A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✕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4389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已被永久拉黑且无任何有效证据链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6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20 / 21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0" y="4754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E6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水之明亚马逊申诉服务  ·  V2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0" y="-457200"/>
            <a:ext cx="5486400" cy="640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0" b="1" dirty="0">
                <a:solidFill>
                  <a:srgbClr val="1A5C72">
                    <a:alpha val="15000"/>
                  </a:srgbClr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明</a:t>
            </a:r>
            <a:endParaRPr lang="en-US" sz="420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6F2E9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水 之 明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228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888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END  ·  CONTACT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548640"/>
            <a:ext cx="8412480" cy="0"/>
          </a:xfrm>
          <a:prstGeom prst="line">
            <a:avLst/>
          </a:prstGeom>
          <a:noFill/>
          <a:ln w="6350">
            <a:solidFill>
              <a:srgbClr val="44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600" kern="0" dirty="0">
                <a:solidFill>
                  <a:srgbClr val="E8B86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水 落 石 出  ·  明 察 秋 毫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6F2E9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店铺的第二次机会，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6F2E9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配得上一次认真。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5760" y="3108960"/>
            <a:ext cx="271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888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EMAIL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3429000"/>
            <a:ext cx="271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2E9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3657797258@QQ.com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124200" y="3200400"/>
            <a:ext cx="0" cy="640080"/>
          </a:xfrm>
          <a:prstGeom prst="line">
            <a:avLst/>
          </a:prstGeom>
          <a:noFill/>
          <a:ln w="6350">
            <a:solidFill>
              <a:srgbClr val="44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69920" y="3108960"/>
            <a:ext cx="271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888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PHONE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169920" y="3429000"/>
            <a:ext cx="271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2E9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13916498860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28360" y="3200400"/>
            <a:ext cx="0" cy="640080"/>
          </a:xfrm>
          <a:prstGeom prst="line">
            <a:avLst/>
          </a:prstGeom>
          <a:noFill/>
          <a:ln w="6350">
            <a:solidFill>
              <a:srgbClr val="44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74080" y="3108960"/>
            <a:ext cx="271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888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HOURS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74080" y="3429000"/>
            <a:ext cx="271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2E9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周一至周五  09:00 – 18:00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65760" y="4114800"/>
            <a:ext cx="8412480" cy="502920"/>
          </a:xfrm>
          <a:prstGeom prst="rect">
            <a:avLst/>
          </a:prstGeom>
          <a:solidFill>
            <a:srgbClr val="1F1F1F"/>
          </a:solidFill>
          <a:ln w="12700">
            <a:solidFill>
              <a:srgbClr val="E8B8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1148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B86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免费诊断 · 把封号邮件发到上面邮箱 · 2 个工作小时内回复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4736592"/>
            <a:ext cx="841248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81888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77777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上 海 水 之 明 科 技 有 限 公 司  ·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上海水之明科技有限公司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水之明 · 销售介绍 V2</dc:title>
  <dc:subject>PptxGenJS Presentation</dc:subject>
  <dc:creator>上海水之明科技有限公司</dc:creator>
  <cp:lastModifiedBy>上海水之明科技有限公司</cp:lastModifiedBy>
  <cp:revision>1</cp:revision>
  <dcterms:created xsi:type="dcterms:W3CDTF">2026-04-26T04:41:42Z</dcterms:created>
  <dcterms:modified xsi:type="dcterms:W3CDTF">2026-04-26T04:41:42Z</dcterms:modified>
</cp:coreProperties>
</file>