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0" y="-457200"/>
            <a:ext cx="73152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0" b="1" dirty="0">
                <a:solidFill>
                  <a:srgbClr val="1A5C72">
                    <a:alpha val="20000"/>
                  </a:srgbClr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水之明</a:t>
            </a:r>
            <a:endParaRPr lang="en-US" sz="38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上 海 水 之 明 科 技 有 限 公 司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0" y="365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VOL. I  · 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822960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水落石出  ·  明察秋毫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亚马逊申诉服务</a:t>
            </a:r>
            <a:endParaRPr lang="en-US" sz="6400" dirty="0"/>
          </a:p>
          <a:p>
            <a:pPr indent="0" marL="0">
              <a:buNone/>
            </a:pPr>
            <a:r>
              <a:rPr lang="en-US" sz="2200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境内合规  ·  透明定价  ·  原创 POA</a:t>
            </a:r>
            <a:endParaRPr lang="en-US" sz="6400" dirty="0"/>
          </a:p>
        </p:txBody>
      </p:sp>
      <p:sp>
        <p:nvSpPr>
          <p:cNvPr id="8" name="Shape 6"/>
          <p:cNvSpPr/>
          <p:nvPr/>
        </p:nvSpPr>
        <p:spPr>
          <a:xfrm>
            <a:off x="457200" y="3931920"/>
            <a:ext cx="822960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境 内 主 体 签 约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4160520"/>
            <a:ext cx="0" cy="27432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对 公 账 户 收 款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4160520"/>
            <a:ext cx="0" cy="27432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增 值 税  6%  发 票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675120" y="4160520"/>
            <a:ext cx="0" cy="27432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上 海 法 院 管 辖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销  售  介  绍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2026.04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零  ·  PAIN POINTS  ·  行业现状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你是不是也经历过这些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申诉行业的不透明，不是难度造成的，是选择造成的。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4023360" cy="114300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03120"/>
            <a:ext cx="54864" cy="114300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2128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「加个微信先聊聊」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27614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对方始终不报价，让你把所有信息发过去；等来一个「按难度面议」。机密资料交出去，结论却是模糊的。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2103120"/>
            <a:ext cx="4023360" cy="114300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2103120"/>
            <a:ext cx="54864" cy="114300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22128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0060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模板 POA 一发，被拒后失联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00600" y="27614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便宜的服务商交付快，但发出去的 POA 像复制粘贴的。第一次被拒后话术就模糊起来，你不知道接下来怎么办。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429000"/>
            <a:ext cx="4023360" cy="114300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429000"/>
            <a:ext cx="54864" cy="114300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5387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收款是个人账户  /  港资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0873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几万块转过去，发票开不出来，财务入不了账。服务不满意想维权，对方在另一个司法辖区，你只能认栽。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3429000"/>
            <a:ext cx="4023360" cy="114300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0" y="3429000"/>
            <a:ext cx="54864" cy="114300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35387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006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「不成功退款」是扯皮陷阱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800600" y="40873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签合同时说得漂亮，到时间对方开始纠缠「这算不算不成功」。退款条款没有明确触发条件，你扯不赢。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 / 21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壹  ·  POSITIONING  ·  定位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我们只做一件事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中国大陆卖家  ·  亚马逊海外站  ·  申诉服务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2194560"/>
            <a:ext cx="8412480" cy="914400"/>
          </a:xfrm>
          <a:prstGeom prst="rect">
            <a:avLst/>
          </a:prstGeom>
          <a:solidFill>
            <a:srgbClr val="FBF8F0"/>
          </a:solidFill>
          <a:ln w="25400">
            <a:solidFill>
              <a:srgbClr val="0B3D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94560"/>
            <a:ext cx="73152" cy="9144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3172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把客户画像收窄到一条单线，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是我们「境内合规」能立住的根本——合同、收付款、发票、司法管辖全部在境内闭环。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65760" y="3383280"/>
            <a:ext cx="2011680" cy="10972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34930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DIMENSION 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30352" y="3703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大陆主体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" y="40416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中国大陆营业执照公司，能签合同、收人民币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96312" y="3383280"/>
            <a:ext cx="2011680" cy="10972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60904" y="34930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DIMENSION 02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660904" y="3703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海外站点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60904" y="40416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美国 / 欧洲 / 日本 / 澳洲 / 中东 等海外站点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26864" y="3383280"/>
            <a:ext cx="2011680" cy="10972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1456" y="34930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DIMENSION 03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91456" y="3703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大陆运营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791456" y="40416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中文母语沟通，大陆工作时间，微信邮件响应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57416" y="3383280"/>
            <a:ext cx="2011680" cy="10972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22008" y="34930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DIMENSION 04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922008" y="3703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亚马逊专精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922008" y="40416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只做亚马逊海外站，不做淘宝京东 Shopee TikTok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 / 21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贰  ·  FOUR PROMISES  ·  四项承诺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水之明的四项承诺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我们想做的是行业里第一家把所有东西都摊在桌上的那家。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94560"/>
            <a:ext cx="2011680" cy="73152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23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BDB39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壹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548640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价格上墙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520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三档价格区间公示在官网。免费诊断后给书面报价单，签约前 7 天有效，期间不涨价。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96312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96312" y="2194560"/>
            <a:ext cx="2011680" cy="73152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4" name="Text 12"/>
          <p:cNvSpPr/>
          <p:nvPr/>
        </p:nvSpPr>
        <p:spPr>
          <a:xfrm>
            <a:off x="2679192" y="2423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BDB39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贰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2679192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POA 原创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679192" y="3520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每一份 POA 基于你店铺真实情况撰写，英文原稿与你确认后才提交。不用模板、不洗稿。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26864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26864" y="2194560"/>
            <a:ext cx="2011680" cy="73152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2423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BDB39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叁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4809744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看板留痕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809744" y="3520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每个案件独立看板：POA 版本、Amazon 回复原文、下一步时间，全部留痕。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57416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7416" y="2194560"/>
            <a:ext cx="2011680" cy="73152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4" name="Text 22"/>
          <p:cNvSpPr/>
          <p:nvPr/>
        </p:nvSpPr>
        <p:spPr>
          <a:xfrm>
            <a:off x="6940296" y="2423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BDB39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肆</a:t>
            </a:r>
            <a:endParaRPr lang="en-US" sz="5600" dirty="0"/>
          </a:p>
        </p:txBody>
      </p:sp>
      <p:sp>
        <p:nvSpPr>
          <p:cNvPr id="25" name="Text 23"/>
          <p:cNvSpPr/>
          <p:nvPr/>
        </p:nvSpPr>
        <p:spPr>
          <a:xfrm>
            <a:off x="6940296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退款明写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40296" y="3520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「不成功」的触发条件、退款比例、到账时间全部写进合同。到期自动触发，5 个工作日对公退回。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 / 21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叁  ·  CORE SERVICES  ·  四大服务方向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四大业务方向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覆盖亚马逊海外站 30+ 个常见申诉场景。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40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账号申诉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48640" y="2880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ACCOUNT RECOVERY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461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销量激增 · ODR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操纵评论 / 刷单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关联封店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72 小时审核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二审 · KYC · 视频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永久停用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96312" y="210312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79192" y="2240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679192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侵权申诉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679192" y="2880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IP INFRINGEMENT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679192" y="315468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2461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商标侵权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版权 / DMCA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专利侵权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恶意投诉反制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大牌侵权和解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品牌备案前置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26864" y="210312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9744" y="2240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09744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资金申诉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809744" y="2880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FUND RECOVERY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809744" y="315468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9744" y="32461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冻结资金取款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纯资金申诉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绩效扣费争议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FBA 库存补偿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闭店清退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和解分账谈判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57416" y="210312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0296" y="2240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940296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合规服务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940296" y="2880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COMPLIANCE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940296" y="315468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0296" y="32461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账号体检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多账号架构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站点政策解读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POA 培训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客服流程审查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封号应急预案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 / 21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肆  ·  PRICING  ·  TIER 一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一级 · 简单申诉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1–3 天交付。绩效类、销量激增、ODR 等高频低难度场景。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8412480" cy="5029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157984"/>
            <a:ext cx="384048" cy="384048"/>
          </a:xfrm>
          <a:prstGeom prst="rect">
            <a:avLst/>
          </a:prstGeom>
          <a:solidFill>
            <a:srgbClr val="F6F2E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壹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21214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一 级 · 简单申诉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0" y="21214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C7C2B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TIER 0一  ·  1–3 DAYS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97480"/>
          <a:ext cx="8412480" cy="187452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21031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申诉类型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行业价格区间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水之明报价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ODR 申诉  ·  订单缺陷率超标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¥500 — 3,000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¥1,500 — 2,500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销量激增申诉（首次）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¥500 — 3,000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¥1,500 — 2,500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操纵评论申诉（首次）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¥800 — 3,000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¥2,000 — 3,500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绩效类  /  有效追踪率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¥1,000 — 3,000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¥1,500 — 2,500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滥用变体  /  包装法违规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¥1,500 — 4,000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¥2,500 — 4,000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 / 21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肆  ·  PRICING  ·  TIER 二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二级 · 中等难度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3–7 天交付。侵权类、关联类、72 小时审核等中等复杂场景。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8412480" cy="5029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157984"/>
            <a:ext cx="384048" cy="384048"/>
          </a:xfrm>
          <a:prstGeom prst="rect">
            <a:avLst/>
          </a:prstGeom>
          <a:solidFill>
            <a:srgbClr val="F6F2E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21214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二 级 · 中等难度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0" y="21214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C7C2B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TIER 0二  ·  3–7 DAYS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97480"/>
          <a:ext cx="8412480" cy="187452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21031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申诉类型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行业价格区间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水之明报价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商标侵权申诉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¥2,000 — 6,000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¥3,500 — 6,000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版权  /  专利侵权申诉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¥2,000 — 6,000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¥3,500 — 6,000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72 小时店铺审核（含加急）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¥3,000 — 8,000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¥4,500 — 7,000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关联申诉（初次）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¥3,000 — 10,000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¥5,000 — 8,000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禁限售  /  受限商品申诉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¥2,000 — 5,000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¥3,500 — 5,500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 / 21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肆  ·  PRICING  ·  TIER 三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三级 · 疑难申诉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7–30 天交付。二审、KYC、视频验证等高难度长周期场景。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8412480" cy="5029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157984"/>
            <a:ext cx="384048" cy="384048"/>
          </a:xfrm>
          <a:prstGeom prst="rect">
            <a:avLst/>
          </a:prstGeom>
          <a:solidFill>
            <a:srgbClr val="F6F2E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叁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21214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三 级 · 疑难申诉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0" y="21214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C7C2B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TIER 0三  ·  7–30 DAYS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97480"/>
          <a:ext cx="8412480" cy="187452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21031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申诉类型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行业价格区间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水之明报价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二审（法人配合）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¥5,000 — 15,000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¥8,000 — 12,000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KYC 审核（法人配合）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¥5,000 — 12,000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¥7,000 — 10,000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视频验证（法人配合）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¥8,000 — 15,000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¥10,000 — 15,000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视频验证（法人无法配合）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¥20,000 +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A52A2A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不接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关联申诉（二次  /  复杂）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¥8,000 — 20,000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¥10,000 — 18,000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永久停用申诉  ·  需评估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¥10,000 — 30,000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面谈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 / 21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肆  ·  PRICING  ·  FUND TIER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A52A2A">
                    <a:alpha val="30000"/>
                  </a:srgbClr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资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资金取款类  ·  阶梯分成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2B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  挽回金额百分比 + 基础费  计费。基础费覆盖前期工时，挽回部分按比例分成。账号未恢复则基础费退还 70%。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468880"/>
            <a:ext cx="2743200" cy="1920240"/>
          </a:xfrm>
          <a:prstGeom prst="rect">
            <a:avLst/>
          </a:prstGeom>
          <a:solidFill>
            <a:srgbClr val="1F1F1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468880"/>
            <a:ext cx="2743200" cy="54864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6517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09A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9260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账号可恢复  +  资金取款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3520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10%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9436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C2B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基础费 ¥3,000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2468880"/>
            <a:ext cx="2743200" cy="1920240"/>
          </a:xfrm>
          <a:prstGeom prst="rect">
            <a:avLst/>
          </a:prstGeom>
          <a:solidFill>
            <a:srgbClr val="1F1F1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2468880"/>
            <a:ext cx="2743200" cy="54864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26517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09A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29260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账号不可恢复  ·  纯资金申诉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3520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15%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342900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C2B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基础费 ¥5,000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35040" y="2468880"/>
            <a:ext cx="2743200" cy="1920240"/>
          </a:xfrm>
          <a:prstGeom prst="rect">
            <a:avLst/>
          </a:prstGeom>
          <a:solidFill>
            <a:srgbClr val="1F1F1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35040" y="2468880"/>
            <a:ext cx="2743200" cy="54864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63640" y="26517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09A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29260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大牌侵权和解  +  资金解冻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63640" y="3520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20%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626364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C2B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律师费另计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65760" y="4617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退款条款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554480" y="46177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 零资金挽回  →  零分成  ·  账号未恢复  →  基础费退 70%  ·  到账 5 个工作日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777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 / 21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7777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伍  ·  PRICE FACTORS  ·  报价因素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影响报价的 6 个因素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免费诊断阶段会逐项评估，报价单写清楚你的案子落在区间的哪个位置。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2697480" cy="12344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14600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BDB3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是否首次申诉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5603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二次、三次提交过 POA 的案子，难度指数级上升。需先分析之前的申诉邮件再设计策略。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82112" y="2057400"/>
            <a:ext cx="2697480" cy="12344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30952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BDB3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364992" y="21945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证据完备度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64992" y="25603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采购发票、物流凭证、品牌授权、独立运营证据越齐全，整理与撰写工时越短。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98464" y="2057400"/>
            <a:ext cx="2697480" cy="12344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47304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BDB3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181344" y="21945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站点差异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81344" y="25603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美国 / 欧洲 / 日本各有政策特点。欧洲 KYC、日本 JCT、美国 ODR 难度不同。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3410712"/>
            <a:ext cx="2697480" cy="12344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14600" y="35021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BDB3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48640" y="354787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紧急程度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39136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72 小时回复窗口的紧急案件有加急成本；非紧急案件排正常队列，报价更优。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182112" y="3410712"/>
            <a:ext cx="2697480" cy="12344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30952" y="35021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BDB3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3364992" y="354787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是否涉及资金冻结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64992" y="39136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封号 vs 封号 + 资金冻结，后者需持续跟进 60–90 天，两阶段流程，计费方式不同。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98464" y="3410712"/>
            <a:ext cx="2697480" cy="12344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47304" y="35021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BDB3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181344" y="354787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是否需要真人配合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81344" y="39136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视频验证、电话核实、线下面谈需法人参与；提供完整辅导与模拟，工时显著上升。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21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陆  ·  REFUND POLICY  ·  退款规则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「不成功」的明确定义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条款写进合同。到期自动触发，5 个工作日内对公原路退回。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8412480" cy="502920"/>
          </a:xfrm>
          <a:prstGeom prst="rect">
            <a:avLst/>
          </a:prstGeom>
          <a:solidFill>
            <a:srgbClr val="ECE7D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触发条件:  </a:t>
            </a:r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 POA 首次提交之日起 30 个自然日内，账号 / 产品 / 资金状态未恢复，且非因客户方原因导致。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743200"/>
          <a:ext cx="8412480" cy="1920240"/>
        </p:xfrm>
        <a:graphic>
          <a:graphicData uri="http://schemas.openxmlformats.org/drawingml/2006/table">
            <a:tbl>
              <a:tblPr/>
              <a:tblGrid>
                <a:gridCol w="1828800"/>
                <a:gridCol w="1280160"/>
                <a:gridCol w="1280160"/>
                <a:gridCol w="4023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申诉档次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触发时长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退款比例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说明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一级申诉</a:t>
                      </a:r>
                      <a:endParaRPr lang="en-US" sz="12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30 天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100%</a:t>
                      </a:r>
                      <a:endParaRPr lang="en-US" sz="14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全额退款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二级申诉</a:t>
                      </a:r>
                      <a:endParaRPr lang="en-US" sz="12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30 天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70%</a:t>
                      </a:r>
                      <a:endParaRPr lang="en-US" sz="14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扣除证据处理成本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三级 / 疑难</a:t>
                      </a:r>
                      <a:endParaRPr lang="en-US" sz="12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45 天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50%</a:t>
                      </a:r>
                      <a:endParaRPr lang="en-US" sz="14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扣除前期工时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资金取款类</a:t>
                      </a:r>
                      <a:endParaRPr lang="en-US" sz="12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—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70%</a:t>
                      </a:r>
                      <a:endParaRPr lang="en-US" sz="14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基础费退 70%；零资金挽回则零分成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到账时间</a:t>
                      </a:r>
                      <a:endParaRPr lang="en-US" sz="12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5 工作日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—</a:t>
                      </a:r>
                      <a:endParaRPr lang="en-US" sz="14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触发确认后对公原路退回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21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柒  ·  RED LINE  ·  服务边界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这些单子我们不接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边界清晰是对客户的尊重，也是对我们自己的保护。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4114800" cy="2606040"/>
          </a:xfrm>
          <a:prstGeom prst="rect">
            <a:avLst/>
          </a:prstGeom>
          <a:solidFill>
            <a:srgbClr val="FBF5F4"/>
          </a:solidFill>
          <a:ln w="15240">
            <a:solidFill>
              <a:srgbClr val="A52A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03120"/>
            <a:ext cx="4114800" cy="41148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214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客户类型 · CLIENT TYPE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港澳台主体卖家  ·  即使有大陆关联也不接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海外华人卖家  ·  无大陆主体的华人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海外本土卖家  ·  非中文母语客户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亚马逊中国站  /  其他电商平台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2103120"/>
            <a:ext cx="4114800" cy="2606040"/>
          </a:xfrm>
          <a:prstGeom prst="rect">
            <a:avLst/>
          </a:prstGeom>
          <a:solidFill>
            <a:srgbClr val="FBF5F4"/>
          </a:solidFill>
          <a:ln w="15240">
            <a:solidFill>
              <a:srgbClr val="A5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103120"/>
            <a:ext cx="4114800" cy="41148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21214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业务类型 · BUSINESS TYPE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265176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「特殊渠道」取款  ·  代过审  ·  伪造材料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法人无法配合的视频验证  /  KYC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买卖账号  ·  灰色操作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已永久拉黑且无证据链的极端案例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21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捌  ·  METHODOLOGY  ·  方法论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四步工作法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申诉不是玄学，是可复现的工艺。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057400"/>
            <a:ext cx="2011680" cy="4572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12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诊断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DIAGNOSIS  ·  2 HOURS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邮件原文 + 店铺信息 → 2 工时书面诊断报告。判断真死因、定档、估概率、出报价。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382012" y="2971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496312" y="205740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96312" y="2057400"/>
            <a:ext cx="2011680" cy="4572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7" name="Text 15"/>
          <p:cNvSpPr/>
          <p:nvPr/>
        </p:nvSpPr>
        <p:spPr>
          <a:xfrm>
            <a:off x="2679192" y="2112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79192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策略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2679192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STRATEGY  ·  1–3 DAYS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679192" y="342900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选叙事主线、定证据露出、措辞校准、反向预判 Amazon 追问。策略大纲你确认后才进撰写。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12564" y="2971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626864" y="205740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6864" y="2057400"/>
            <a:ext cx="2011680" cy="4572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5" name="Text 23"/>
          <p:cNvSpPr/>
          <p:nvPr/>
        </p:nvSpPr>
        <p:spPr>
          <a:xfrm>
            <a:off x="4809744" y="2112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809744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撰写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809744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DRAFTING  ·  2–5 DAYS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809744" y="342900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9744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中英双稿同步、版本化管理、你确认前绝不提交。提交后 24 小时内同步 Amazon 回复到看板。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643116" y="2971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757416" y="205740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57416" y="2057400"/>
            <a:ext cx="2011680" cy="4572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33" name="Text 31"/>
          <p:cNvSpPr/>
          <p:nvPr/>
        </p:nvSpPr>
        <p:spPr>
          <a:xfrm>
            <a:off x="6940296" y="2112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940296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跟进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6940296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FOLLOW-UP  ·  3–30 DAYS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940296" y="342900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0296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48 小时主动推进、根据回复迭代策略、预判终局、结案归档报告。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21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玖  ·  POA QUALITY  ·  撰写方式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模板派 POA  vs  原创 POA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行业里最大的差距不在价格，而在 POA 的撰写方式。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8412480" cy="260604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维度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模板派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水之明  ·  原创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撰稿方式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复制同类模板、改店铺名和 ASIN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基于你店铺实情重新撰写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产出周期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 小时内交付（快是因为复制）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2–5 天（要调研、要打磨）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首次通过率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靠运气，模板被识别后连坐被拒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65–80%（基于 24-26 年内部数据）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二次申诉难度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模板被拒后几乎无解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原创稿被拒仍可基于同叙事迭代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客户参与度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基本不要求你提供材料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需逐段确认事实，像写一篇认真文章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长期风险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账号被标记，后续封号风险高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真实故事在 Amazon 档案留下清白记录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单价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¥500 – ¥1,500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¥1,500 – ¥15,000（按难度分档）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21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拾  ·  CASE DASHBOARD  ·  案件看板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所有人看得见同一份事实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同行用微信聊，我们用看板留痕。不进看板的承诺都不算数。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4937760" cy="260604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240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CASE BOARD  ·  WZM-2026-0412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关联申诉 (初次) · 二级 · ¥6,500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4572000" cy="0"/>
          </a:xfrm>
          <a:prstGeom prst="line">
            <a:avLst/>
          </a:prstGeom>
          <a:noFill/>
          <a:ln w="635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诊断报告交付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2044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2026-04-12 10:14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21868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●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218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合同签署 · 上海法院管辖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20440" y="3218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2026-04-12 16:22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35112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策略大纲 → 待你确认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20440" y="3511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2026-04-13 18:00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38039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8039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POA V1 草稿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0440" y="38039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预计 04-16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0965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096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Amazon 首轮回复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20440" y="4096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预计 04-21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4389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结案归档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520440" y="4389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预计 05-12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0" y="2103120"/>
            <a:ext cx="3291840" cy="8229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0" y="2103120"/>
            <a:ext cx="54864" cy="82296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31" name="Text 29"/>
          <p:cNvSpPr/>
          <p:nvPr/>
        </p:nvSpPr>
        <p:spPr>
          <a:xfrm>
            <a:off x="5623560" y="22402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B3D4F"/>
                </a:solidFill>
              </a:rPr>
              <a:t>✉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035040" y="2194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短信 + 邮件提醒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035040" y="2468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POA 待确认 · Amazon 有回复 · 申诉结果出炉，不会让你错过决策点。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0" y="2971800"/>
            <a:ext cx="3291840" cy="8229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0" y="2971800"/>
            <a:ext cx="54864" cy="82296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36" name="Text 34"/>
          <p:cNvSpPr/>
          <p:nvPr/>
        </p:nvSpPr>
        <p:spPr>
          <a:xfrm>
            <a:off x="5623560" y="31089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B3D4F"/>
                </a:solidFill>
              </a:rPr>
              <a:t>✎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03504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版本历史 + 批注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035040" y="3337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每次 POA 修改留存历史版本，逐行对比哪里改了、为什么改。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0" y="3840480"/>
            <a:ext cx="3291840" cy="8229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0" y="3840480"/>
            <a:ext cx="54864" cy="82296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41" name="Text 39"/>
          <p:cNvSpPr/>
          <p:nvPr/>
        </p:nvSpPr>
        <p:spPr>
          <a:xfrm>
            <a:off x="5623560" y="39776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B3D4F"/>
                </a:solidFill>
              </a:rPr>
              <a:t>⏱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035040" y="3931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SLA 时间承诺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035040" y="4206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每节点有预计时间，超时触发预警。到期不解封自动走退款流程。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21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拾壹  ·  BY THE NUMBERS  ·  团队数据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团队数据概览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数据统计自团队主理人从业期间累计案件（含水之明成立前个人业务）。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9456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5603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600+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57200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累计案件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覆盖美 / 欧 / 日 / 澳 / 中东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96312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96312" y="219456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4" name="Text 12"/>
          <p:cNvSpPr/>
          <p:nvPr/>
        </p:nvSpPr>
        <p:spPr>
          <a:xfrm>
            <a:off x="2587752" y="25603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78%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587752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综合成功率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87752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签约后口径，非「总咨询量」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26864" y="219456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9" name="Text 17"/>
          <p:cNvSpPr/>
          <p:nvPr/>
        </p:nvSpPr>
        <p:spPr>
          <a:xfrm>
            <a:off x="4718304" y="25603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¥1.2亿+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4718304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累计挽回资金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18304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含资金解冻 + 绩效追回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57416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7416" y="219456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4" name="Text 22"/>
          <p:cNvSpPr/>
          <p:nvPr/>
        </p:nvSpPr>
        <p:spPr>
          <a:xfrm>
            <a:off x="6848856" y="25603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4.9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6848856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客户评价均分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48856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分制 · n=120 真实评价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21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拾贰  ·  CASES  ·  ACCOUNT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成功案例  ·  账号申诉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选取 3 个不同维度的真实案子，展示我们的处理思路。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2697480" cy="26060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86000"/>
            <a:ext cx="1371600" cy="2286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一级 · 销量激增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新店首月爆单触发审查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 3C 配件卖家 · 2026.02 · 2 天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520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案情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48640" y="3703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客户首月推广投入大，单日销量从 20 单飙升到 400 单，触发 Sales Velocity 冻结，自己提交模板 POA 被拒。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343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48 小时内账号恢复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82112" y="2103120"/>
            <a:ext cx="2697480" cy="26060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64992" y="2286000"/>
            <a:ext cx="1371600" cy="2286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9" name="Text 17"/>
          <p:cNvSpPr/>
          <p:nvPr/>
        </p:nvSpPr>
        <p:spPr>
          <a:xfrm>
            <a:off x="3364992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二级 · 关联申诉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64992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搬家导致 IP 重合关联封店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64992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某家居卖家 · 2025.11 · 11 天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364992" y="347472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64992" y="3520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案情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364992" y="3703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新办公楼宽带 IP 段与前租户重合触发关联封店。客户此前找过模板派首次申诉被拒，我们接手二审。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64992" y="429768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4992" y="4343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二次申诉一次通过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98464" y="2103120"/>
            <a:ext cx="2697480" cy="26060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286000"/>
            <a:ext cx="1371600" cy="22860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29" name="Text 27"/>
          <p:cNvSpPr/>
          <p:nvPr/>
        </p:nvSpPr>
        <p:spPr>
          <a:xfrm>
            <a:off x="6181344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三级 · 二次关联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81344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多账号矩阵端掉  ·  分批救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81344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某工具卖家 · 2025.07 · 27 天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81344" y="347472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81344" y="3520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案情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81344" y="3703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客户运营 4 个关联账号因主账号违规被连坐封店。评估后 1 个无救，3 个可分批救。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81344" y="429768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4343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3/3 子账号恢复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21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拾贰  ·  CASES  ·  FUND &amp; IP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成功案例  ·  资金 + 侵权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资金类按挽回比例分成，侵权类按单计费 + 律师费。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2697480" cy="26060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86000"/>
            <a:ext cx="1371600" cy="228600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资金 · 阶梯分成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账号放弃  ·  纯资金放款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某电子卖家 · 2025.08 · 83 天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520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案情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48640" y="3703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账号因二审未过永久关闭，冻结资金 ¥45 万。客户初期自提资金申诉被拒。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343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¥41 万到账 · 分成 15%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82112" y="2103120"/>
            <a:ext cx="2697480" cy="26060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64992" y="2286000"/>
            <a:ext cx="1371600" cy="228600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19" name="Text 17"/>
          <p:cNvSpPr/>
          <p:nvPr/>
        </p:nvSpPr>
        <p:spPr>
          <a:xfrm>
            <a:off x="3364992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三级 · 大牌和解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64992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大牌 TRO 诉讼  ·  资金解冻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64992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某服饰卖家 · 2025.06 · 54 天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364992" y="347472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64992" y="3520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案情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364992" y="3703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被疑似某美国快时尚大牌发起 TRO，账号与 ¥80 万余额同时冻结。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64992" y="429768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4992" y="4343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资金全额解冻 · 和解金 2 万 USD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98464" y="2103120"/>
            <a:ext cx="2697480" cy="26060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286000"/>
            <a:ext cx="1371600" cy="2286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9" name="Text 27"/>
          <p:cNvSpPr/>
          <p:nvPr/>
        </p:nvSpPr>
        <p:spPr>
          <a:xfrm>
            <a:off x="6181344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二级 · 商标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81344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被抢注者批量投诉商标侵权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81344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某宠物用品卖家 · 2025.12 · 8 天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81344" y="347472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81344" y="3520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案情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81344" y="3703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客户独立品牌运营 3 年，被 2024 年才注册的商标持有人批量投诉，对方未实际使用该品牌售卖。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81344" y="429768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4343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Listing 恢复 · 6 月后反拿下商标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21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拾叁  ·  VS INDUSTRY  ·  同行对比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和其他申诉服务商的差别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把同行最不愿意公示的 8 个维度全部摆出来。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8412480" cy="260604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347472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维度</a:t>
                      </a:r>
                      <a:endParaRPr lang="en-US" sz="105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大多数同行</a:t>
                      </a:r>
                      <a:endParaRPr lang="en-US" sz="105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水之明</a:t>
                      </a:r>
                      <a:endParaRPr lang="en-US" sz="105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报价方式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加微信咨询，看人下菜碟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官网公示价格区间 + 书面报价单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签约主体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港资公司 / 个人账户居多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上海公司对公账户，工商可查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发票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不开 / 代开 / 只开普票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6% 增值税专票 / 普票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POA 质量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模板库套用，改店铺名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原创撰写，提交前确认英文稿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进度查询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微信聊一句「在跟进」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独立看板，POA + Amazon 回复留痕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退款触发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口头承诺，出事扯皮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合同明写条件、比例、到账时间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纠纷管辖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境外 / 仲裁 / 不明确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上海人民法院  ·  诉讼便捷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服务边界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什么都接，含灰色操作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明确不接代过审 / 伪造 / 特殊渠道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21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拾肆  ·  CLIENT FIT  ·  客户画像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我们服务谁  ·  不服务谁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边界讲清楚，对你和我们都省时间。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4114800" cy="2606040"/>
          </a:xfrm>
          <a:prstGeom prst="rect">
            <a:avLst/>
          </a:prstGeom>
          <a:solidFill>
            <a:srgbClr val="FBF8F0"/>
          </a:solidFill>
          <a:ln w="15240">
            <a:solidFill>
              <a:srgbClr val="0B3D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03120"/>
            <a:ext cx="4114800" cy="41148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214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我们服务  ·  OUR CLIENTS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✓  中国大陆营业执照公司主体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✓  店铺在亚马逊海外站  ·  美 / 欧 / 日 / 澳 / 中东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✓  运营团队在大陆  ·  中文母语沟通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✓  中小型到品牌型卖家皆可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✓  多账号矩阵  /  品牌代运营机构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2103120"/>
            <a:ext cx="4114800" cy="2606040"/>
          </a:xfrm>
          <a:prstGeom prst="rect">
            <a:avLst/>
          </a:prstGeom>
          <a:solidFill>
            <a:srgbClr val="FBF5F4"/>
          </a:solidFill>
          <a:ln w="15240">
            <a:solidFill>
              <a:srgbClr val="A5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103120"/>
            <a:ext cx="4114800" cy="41148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21214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我们不服务  ·  NOT OUR CLIENTS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265176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港澳台主体卖家  ·  即使有大陆关联也不接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海外华人卖家  ·  无大陆主体的华人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海外本土卖家  ·  非中文母语客户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亚马逊中国站  /  其他电商平台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希望走「特殊渠道」的客户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已永久拉黑且无证据链的极端案例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21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0" y="-457200"/>
            <a:ext cx="54864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0" b="1" dirty="0">
                <a:solidFill>
                  <a:srgbClr val="1A5C72">
                    <a:alpha val="15000"/>
                  </a:srgbClr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明</a:t>
            </a:r>
            <a:endParaRPr lang="en-US" sz="42000" dirty="0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0" y="228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END  ·  CONTACT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5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免费诊断  ·  FREE DIAGNOSIS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371600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把你的封号邮件发给我们，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2 小时内给一份书面诊断。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2B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不加微信  ·  不拉群  ·  不套话。给你明确结论：哪种封号、哪一档价位、成功概率多少、要不要签约。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383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邮箱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3657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service@shuizhiming.com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377440" y="3474720"/>
            <a:ext cx="0" cy="64008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3383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电话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468880" y="3657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400 - XXX - XXXX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80560" y="3474720"/>
            <a:ext cx="0" cy="64008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3383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工作时间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3657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周一至周五  09:00 – 18:00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0" y="3474720"/>
            <a:ext cx="0" cy="64008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3383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公司地址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675120" y="3657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上海市 XX 区 XX 路 XX 号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4572000"/>
            <a:ext cx="841248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8888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上 海 水 之 明 科 技 有 限 公 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0" y="4709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水落石出  ·  明察秋毫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上海水之明科技有限公司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水之明亚马逊申诉服务 · 销售介绍</dc:title>
  <dc:subject>PptxGenJS Presentation</dc:subject>
  <dc:creator>上海水之明科技有限公司</dc:creator>
  <cp:lastModifiedBy>上海水之明科技有限公司</cp:lastModifiedBy>
  <cp:revision>1</cp:revision>
  <dcterms:created xsi:type="dcterms:W3CDTF">2026-04-25T11:09:16Z</dcterms:created>
  <dcterms:modified xsi:type="dcterms:W3CDTF">2026-04-25T11:09:16Z</dcterms:modified>
</cp:coreProperties>
</file>